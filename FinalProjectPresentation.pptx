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comments/comment2.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1"/>
  </p:notesMasterIdLst>
  <p:sldIdLst>
    <p:sldId id="256" r:id="rId2"/>
    <p:sldId id="257" r:id="rId3"/>
    <p:sldId id="258" r:id="rId4"/>
    <p:sldId id="259" r:id="rId5"/>
    <p:sldId id="277" r:id="rId6"/>
    <p:sldId id="278" r:id="rId7"/>
    <p:sldId id="279" r:id="rId8"/>
    <p:sldId id="260" r:id="rId9"/>
    <p:sldId id="281" r:id="rId10"/>
    <p:sldId id="280" r:id="rId11"/>
    <p:sldId id="262" r:id="rId12"/>
    <p:sldId id="282" r:id="rId13"/>
    <p:sldId id="283" r:id="rId14"/>
    <p:sldId id="261" r:id="rId15"/>
    <p:sldId id="263" r:id="rId16"/>
    <p:sldId id="284" r:id="rId17"/>
    <p:sldId id="264" r:id="rId18"/>
    <p:sldId id="265" r:id="rId19"/>
    <p:sldId id="266" r:id="rId20"/>
    <p:sldId id="285" r:id="rId21"/>
    <p:sldId id="267" r:id="rId22"/>
    <p:sldId id="268" r:id="rId23"/>
    <p:sldId id="291" r:id="rId24"/>
    <p:sldId id="292" r:id="rId25"/>
    <p:sldId id="293" r:id="rId26"/>
    <p:sldId id="294" r:id="rId27"/>
    <p:sldId id="269" r:id="rId28"/>
    <p:sldId id="270" r:id="rId29"/>
    <p:sldId id="271" r:id="rId30"/>
    <p:sldId id="272" r:id="rId31"/>
    <p:sldId id="273" r:id="rId32"/>
    <p:sldId id="274" r:id="rId33"/>
    <p:sldId id="275" r:id="rId34"/>
    <p:sldId id="276" r:id="rId35"/>
    <p:sldId id="286" r:id="rId36"/>
    <p:sldId id="288" r:id="rId37"/>
    <p:sldId id="287" r:id="rId38"/>
    <p:sldId id="289" r:id="rId39"/>
    <p:sldId id="29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FC26B7-5547-024A-A305-4FAADCDB27FA}">
          <p14:sldIdLst>
            <p14:sldId id="256"/>
            <p14:sldId id="257"/>
            <p14:sldId id="258"/>
            <p14:sldId id="259"/>
            <p14:sldId id="277"/>
            <p14:sldId id="278"/>
            <p14:sldId id="279"/>
            <p14:sldId id="260"/>
            <p14:sldId id="281"/>
            <p14:sldId id="280"/>
            <p14:sldId id="262"/>
            <p14:sldId id="282"/>
            <p14:sldId id="283"/>
            <p14:sldId id="261"/>
            <p14:sldId id="263"/>
            <p14:sldId id="284"/>
            <p14:sldId id="264"/>
            <p14:sldId id="265"/>
            <p14:sldId id="266"/>
            <p14:sldId id="285"/>
            <p14:sldId id="267"/>
            <p14:sldId id="268"/>
            <p14:sldId id="291"/>
            <p14:sldId id="292"/>
            <p14:sldId id="293"/>
            <p14:sldId id="294"/>
            <p14:sldId id="269"/>
            <p14:sldId id="270"/>
            <p14:sldId id="271"/>
          </p14:sldIdLst>
        </p14:section>
        <p14:section name="Images" id="{25D6D762-8D90-6B4D-B0AA-B6F8A0E0C3D5}">
          <p14:sldIdLst>
            <p14:sldId id="272"/>
            <p14:sldId id="273"/>
            <p14:sldId id="274"/>
            <p14:sldId id="275"/>
            <p14:sldId id="276"/>
            <p14:sldId id="286"/>
            <p14:sldId id="288"/>
            <p14:sldId id="287"/>
            <p14:sldId id="289"/>
            <p14:sldId id="29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ckson Quak" initials="NQ" lastIdx="1" clrIdx="0">
    <p:extLst>
      <p:ext uri="{19B8F6BF-5375-455C-9EA6-DF929625EA0E}">
        <p15:presenceInfo xmlns:p15="http://schemas.microsoft.com/office/powerpoint/2012/main" userId="S::nickson@stanford.edu::3e9ff2e4-d8a4-45af-89c4-ea8ce1ff2d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87302"/>
  </p:normalViewPr>
  <p:slideViewPr>
    <p:cSldViewPr snapToGrid="0" snapToObjects="1">
      <p:cViewPr varScale="1">
        <p:scale>
          <a:sx n="104" d="100"/>
          <a:sy n="104" d="100"/>
        </p:scale>
        <p:origin x="124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1-24T00:47:56.303" idx="1">
    <p:pos x="10" y="10"/>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11-24T00:47:56.303"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EB13AD-76D9-E841-B2B2-FEA86016B4FA}" type="datetimeFigureOut">
              <a:rPr lang="en-US" smtClean="0"/>
              <a:t>11/29/25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AC1F0-0840-9B4E-B1DB-BC264B863931}" type="slidenum">
              <a:rPr lang="en-US" smtClean="0"/>
              <a:t>‹#›</a:t>
            </a:fld>
            <a:endParaRPr lang="en-US"/>
          </a:p>
        </p:txBody>
      </p:sp>
    </p:spTree>
    <p:extLst>
      <p:ext uri="{BB962C8B-B14F-4D97-AF65-F5344CB8AC3E}">
        <p14:creationId xmlns:p14="http://schemas.microsoft.com/office/powerpoint/2010/main" val="345909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Amanda. Today, I will be presenting my project on Detecting Adverse Drug Reactions in Text as part of the JHU course, Natural Language Processing.</a:t>
            </a:r>
          </a:p>
        </p:txBody>
      </p:sp>
      <p:sp>
        <p:nvSpPr>
          <p:cNvPr id="4" name="Slide Number Placeholder 3"/>
          <p:cNvSpPr>
            <a:spLocks noGrp="1"/>
          </p:cNvSpPr>
          <p:nvPr>
            <p:ph type="sldNum" sz="quarter" idx="5"/>
          </p:nvPr>
        </p:nvSpPr>
        <p:spPr/>
        <p:txBody>
          <a:bodyPr/>
          <a:lstStyle/>
          <a:p>
            <a:fld id="{46BAC1F0-0840-9B4E-B1DB-BC264B863931}" type="slidenum">
              <a:rPr lang="en-US" smtClean="0"/>
              <a:t>1</a:t>
            </a:fld>
            <a:endParaRPr lang="en-US"/>
          </a:p>
        </p:txBody>
      </p:sp>
    </p:spTree>
    <p:extLst>
      <p:ext uri="{BB962C8B-B14F-4D97-AF65-F5344CB8AC3E}">
        <p14:creationId xmlns:p14="http://schemas.microsoft.com/office/powerpoint/2010/main" val="3901415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be briefly introducing the background and project aim before sharing more details on the methodology implemented. I will then discuss results that were found and what some possible future improvement work can revolve around.</a:t>
            </a:r>
          </a:p>
        </p:txBody>
      </p:sp>
      <p:sp>
        <p:nvSpPr>
          <p:cNvPr id="4" name="Slide Number Placeholder 3"/>
          <p:cNvSpPr>
            <a:spLocks noGrp="1"/>
          </p:cNvSpPr>
          <p:nvPr>
            <p:ph type="sldNum" sz="quarter" idx="5"/>
          </p:nvPr>
        </p:nvSpPr>
        <p:spPr/>
        <p:txBody>
          <a:bodyPr/>
          <a:lstStyle/>
          <a:p>
            <a:fld id="{46BAC1F0-0840-9B4E-B1DB-BC264B863931}" type="slidenum">
              <a:rPr lang="en-US" smtClean="0"/>
              <a:t>2</a:t>
            </a:fld>
            <a:endParaRPr lang="en-US"/>
          </a:p>
        </p:txBody>
      </p:sp>
    </p:spTree>
    <p:extLst>
      <p:ext uri="{BB962C8B-B14F-4D97-AF65-F5344CB8AC3E}">
        <p14:creationId xmlns:p14="http://schemas.microsoft.com/office/powerpoint/2010/main" val="271253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illustrate the motivations behind detecting Adverse Drug Reactions, or ADR for short, in text. The majority of recommendations made for ADRs to patients are derived from either independent reports or electronic health records submitted by clinicians or pharmaceutical companies. Due to the nature of the sources, the occurrence of ADRs are believed to be under reported. In addition, there is no single documentation structure to reporting ADRs, which makes it difficult to maintain a knowledge repository of ADRs tagged to specific drugs. As a result, the development and research of ADRs is inefficient and difficult. This is where my project comes in, where I’m interested in building a system using NLP techniques to automatically detect drug and ADR associations in text. Doing so can improve the process of information extraction, helping to expedite medical intervention and treatment of ADRs in patients.</a:t>
            </a:r>
          </a:p>
        </p:txBody>
      </p:sp>
      <p:sp>
        <p:nvSpPr>
          <p:cNvPr id="4" name="Slide Number Placeholder 3"/>
          <p:cNvSpPr>
            <a:spLocks noGrp="1"/>
          </p:cNvSpPr>
          <p:nvPr>
            <p:ph type="sldNum" sz="quarter" idx="5"/>
          </p:nvPr>
        </p:nvSpPr>
        <p:spPr/>
        <p:txBody>
          <a:bodyPr/>
          <a:lstStyle/>
          <a:p>
            <a:fld id="{46BAC1F0-0840-9B4E-B1DB-BC264B863931}" type="slidenum">
              <a:rPr lang="en-US" smtClean="0"/>
              <a:t>3</a:t>
            </a:fld>
            <a:endParaRPr lang="en-US"/>
          </a:p>
        </p:txBody>
      </p:sp>
    </p:spTree>
    <p:extLst>
      <p:ext uri="{BB962C8B-B14F-4D97-AF65-F5344CB8AC3E}">
        <p14:creationId xmlns:p14="http://schemas.microsoft.com/office/powerpoint/2010/main" val="890365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behind implementing a system to detect drug and ADR pairs can be categorized into two phases. The first phase consists of implementing a bi-directional Long Short-Term Memory model, or LSTM model for short, to make base predictions. As shown on the diagram on the right, the training, validation and testing datasets were obtained from the </a:t>
            </a:r>
            <a:r>
              <a:rPr lang="en-US" dirty="0" err="1"/>
              <a:t>HuggingFace</a:t>
            </a:r>
            <a:r>
              <a:rPr lang="en-US" dirty="0"/>
              <a:t> database, extracted using a 75, 15, 15 shuffled split. These datasets were used to train the LSTM model to make base predictions. Then, we evaluate the predictions to obtain a base performance.</a:t>
            </a:r>
          </a:p>
        </p:txBody>
      </p:sp>
      <p:sp>
        <p:nvSpPr>
          <p:cNvPr id="4" name="Slide Number Placeholder 3"/>
          <p:cNvSpPr>
            <a:spLocks noGrp="1"/>
          </p:cNvSpPr>
          <p:nvPr>
            <p:ph type="sldNum" sz="quarter" idx="5"/>
          </p:nvPr>
        </p:nvSpPr>
        <p:spPr/>
        <p:txBody>
          <a:bodyPr/>
          <a:lstStyle/>
          <a:p>
            <a:fld id="{46BAC1F0-0840-9B4E-B1DB-BC264B863931}" type="slidenum">
              <a:rPr lang="en-US" smtClean="0"/>
              <a:t>4</a:t>
            </a:fld>
            <a:endParaRPr lang="en-US"/>
          </a:p>
        </p:txBody>
      </p:sp>
    </p:spTree>
    <p:extLst>
      <p:ext uri="{BB962C8B-B14F-4D97-AF65-F5344CB8AC3E}">
        <p14:creationId xmlns:p14="http://schemas.microsoft.com/office/powerpoint/2010/main" val="1093020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second phase consists of improvement works on the base predictions using NLP techniques. The first improvement I attempted was incorporating cosine similarity scores to decrease false positives in the LSTM predictions. To do so, I made use of the </a:t>
            </a:r>
            <a:r>
              <a:rPr lang="en-US" dirty="0" err="1"/>
              <a:t>HuggingFace</a:t>
            </a:r>
            <a:r>
              <a:rPr lang="en-US" dirty="0"/>
              <a:t> training data to train a word2vec model. The word2vec model is then used to generate cosine similarity scores of drug and ADR pairs predicted by the LSTM model. This first  improvement was then evaluated for its performance using the </a:t>
            </a:r>
            <a:r>
              <a:rPr lang="en-US" dirty="0" err="1"/>
              <a:t>HuggingFace</a:t>
            </a:r>
            <a:r>
              <a:rPr lang="en-US" dirty="0"/>
              <a:t> testing dataset.</a:t>
            </a:r>
          </a:p>
        </p:txBody>
      </p:sp>
      <p:sp>
        <p:nvSpPr>
          <p:cNvPr id="4" name="Slide Number Placeholder 3"/>
          <p:cNvSpPr>
            <a:spLocks noGrp="1"/>
          </p:cNvSpPr>
          <p:nvPr>
            <p:ph type="sldNum" sz="quarter" idx="5"/>
          </p:nvPr>
        </p:nvSpPr>
        <p:spPr/>
        <p:txBody>
          <a:bodyPr/>
          <a:lstStyle/>
          <a:p>
            <a:fld id="{46BAC1F0-0840-9B4E-B1DB-BC264B863931}" type="slidenum">
              <a:rPr lang="en-US" smtClean="0"/>
              <a:t>5</a:t>
            </a:fld>
            <a:endParaRPr lang="en-US"/>
          </a:p>
        </p:txBody>
      </p:sp>
    </p:spTree>
    <p:extLst>
      <p:ext uri="{BB962C8B-B14F-4D97-AF65-F5344CB8AC3E}">
        <p14:creationId xmlns:p14="http://schemas.microsoft.com/office/powerpoint/2010/main" val="1808514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improvement I attempted is to incorporate dependency parsing to improve the number of true drug and ADR predictions that the LSTM model might have missed. The dependency parsing makes use of specific regex patterns to identify potential drug and ADR pairs, then uses a database of drug and ADR terms extracted from additional public databases to make final drug and ADR predictions. Thie second improvement is then evaluated for its performance using the </a:t>
            </a:r>
            <a:r>
              <a:rPr lang="en-US" dirty="0" err="1"/>
              <a:t>HuggingFace</a:t>
            </a:r>
            <a:r>
              <a:rPr lang="en-US" dirty="0"/>
              <a:t> testing dataset.</a:t>
            </a:r>
          </a:p>
        </p:txBody>
      </p:sp>
      <p:sp>
        <p:nvSpPr>
          <p:cNvPr id="4" name="Slide Number Placeholder 3"/>
          <p:cNvSpPr>
            <a:spLocks noGrp="1"/>
          </p:cNvSpPr>
          <p:nvPr>
            <p:ph type="sldNum" sz="quarter" idx="5"/>
          </p:nvPr>
        </p:nvSpPr>
        <p:spPr/>
        <p:txBody>
          <a:bodyPr/>
          <a:lstStyle/>
          <a:p>
            <a:fld id="{46BAC1F0-0840-9B4E-B1DB-BC264B863931}" type="slidenum">
              <a:rPr lang="en-US" smtClean="0"/>
              <a:t>6</a:t>
            </a:fld>
            <a:endParaRPr lang="en-US"/>
          </a:p>
        </p:txBody>
      </p:sp>
    </p:spTree>
    <p:extLst>
      <p:ext uri="{BB962C8B-B14F-4D97-AF65-F5344CB8AC3E}">
        <p14:creationId xmlns:p14="http://schemas.microsoft.com/office/powerpoint/2010/main" val="198656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we test out whether incorporating both cosine similarity and dependency parsing with the LSTM model to make predictions would help in performance, using the same </a:t>
            </a:r>
            <a:r>
              <a:rPr lang="en-US" dirty="0" err="1"/>
              <a:t>HuggingFace</a:t>
            </a:r>
            <a:r>
              <a:rPr lang="en-US" dirty="0"/>
              <a:t> testing data for evaluation.</a:t>
            </a:r>
          </a:p>
        </p:txBody>
      </p:sp>
      <p:sp>
        <p:nvSpPr>
          <p:cNvPr id="4" name="Slide Number Placeholder 3"/>
          <p:cNvSpPr>
            <a:spLocks noGrp="1"/>
          </p:cNvSpPr>
          <p:nvPr>
            <p:ph type="sldNum" sz="quarter" idx="5"/>
          </p:nvPr>
        </p:nvSpPr>
        <p:spPr/>
        <p:txBody>
          <a:bodyPr/>
          <a:lstStyle/>
          <a:p>
            <a:fld id="{46BAC1F0-0840-9B4E-B1DB-BC264B863931}" type="slidenum">
              <a:rPr lang="en-US" smtClean="0"/>
              <a:t>7</a:t>
            </a:fld>
            <a:endParaRPr lang="en-US"/>
          </a:p>
        </p:txBody>
      </p:sp>
    </p:spTree>
    <p:extLst>
      <p:ext uri="{BB962C8B-B14F-4D97-AF65-F5344CB8AC3E}">
        <p14:creationId xmlns:p14="http://schemas.microsoft.com/office/powerpoint/2010/main" val="313981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model was implemented using the FLAIR python module. To train, validate and test a LSTM model using FLAIR, the </a:t>
            </a:r>
            <a:r>
              <a:rPr lang="en-US" dirty="0" err="1"/>
              <a:t>HuggingFace</a:t>
            </a:r>
            <a:r>
              <a:rPr lang="en-US" dirty="0"/>
              <a:t> datasets had to be preprocessed to be compatible for FLAIR training. To do so, turned the information available in the </a:t>
            </a:r>
            <a:r>
              <a:rPr lang="en-US" dirty="0" err="1"/>
              <a:t>HuggingFace</a:t>
            </a:r>
            <a:r>
              <a:rPr lang="en-US" dirty="0"/>
              <a:t> datasets into sequence tagged data, where each sentence was tokenized then sequence tagged with IOB tags. There are 5 IOB tags in the sequence tagged datasets. B-Drug and B-ADR tags indicate words that represented the beginning of a drug or ADR entity span.</a:t>
            </a:r>
          </a:p>
        </p:txBody>
      </p:sp>
      <p:sp>
        <p:nvSpPr>
          <p:cNvPr id="4" name="Slide Number Placeholder 3"/>
          <p:cNvSpPr>
            <a:spLocks noGrp="1"/>
          </p:cNvSpPr>
          <p:nvPr>
            <p:ph type="sldNum" sz="quarter" idx="5"/>
          </p:nvPr>
        </p:nvSpPr>
        <p:spPr/>
        <p:txBody>
          <a:bodyPr/>
          <a:lstStyle/>
          <a:p>
            <a:fld id="{46BAC1F0-0840-9B4E-B1DB-BC264B863931}" type="slidenum">
              <a:rPr lang="en-US" smtClean="0"/>
              <a:t>8</a:t>
            </a:fld>
            <a:endParaRPr lang="en-US"/>
          </a:p>
        </p:txBody>
      </p:sp>
    </p:spTree>
    <p:extLst>
      <p:ext uri="{BB962C8B-B14F-4D97-AF65-F5344CB8AC3E}">
        <p14:creationId xmlns:p14="http://schemas.microsoft.com/office/powerpoint/2010/main" val="3208090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I-DRUG and I-ADR represented the inter-span of a drug or ADR entity. </a:t>
            </a:r>
          </a:p>
        </p:txBody>
      </p:sp>
      <p:sp>
        <p:nvSpPr>
          <p:cNvPr id="4" name="Slide Number Placeholder 3"/>
          <p:cNvSpPr>
            <a:spLocks noGrp="1"/>
          </p:cNvSpPr>
          <p:nvPr>
            <p:ph type="sldNum" sz="quarter" idx="5"/>
          </p:nvPr>
        </p:nvSpPr>
        <p:spPr/>
        <p:txBody>
          <a:bodyPr/>
          <a:lstStyle/>
          <a:p>
            <a:fld id="{46BAC1F0-0840-9B4E-B1DB-BC264B863931}" type="slidenum">
              <a:rPr lang="en-US" smtClean="0"/>
              <a:t>9</a:t>
            </a:fld>
            <a:endParaRPr lang="en-US"/>
          </a:p>
        </p:txBody>
      </p:sp>
    </p:spTree>
    <p:extLst>
      <p:ext uri="{BB962C8B-B14F-4D97-AF65-F5344CB8AC3E}">
        <p14:creationId xmlns:p14="http://schemas.microsoft.com/office/powerpoint/2010/main" val="2377255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 tag represented other words that were part of a drug or ADR entity. </a:t>
            </a:r>
          </a:p>
          <a:p>
            <a:endParaRPr lang="en-US" dirty="0"/>
          </a:p>
          <a:p>
            <a:r>
              <a:rPr lang="en-US" dirty="0"/>
              <a:t>The LSTM model was trained using a batch size of 3 over 10 epochs with a learning rate of 0.01. The training parameters were chosen due to hardware limitations.</a:t>
            </a:r>
          </a:p>
        </p:txBody>
      </p:sp>
      <p:sp>
        <p:nvSpPr>
          <p:cNvPr id="4" name="Slide Number Placeholder 3"/>
          <p:cNvSpPr>
            <a:spLocks noGrp="1"/>
          </p:cNvSpPr>
          <p:nvPr>
            <p:ph type="sldNum" sz="quarter" idx="5"/>
          </p:nvPr>
        </p:nvSpPr>
        <p:spPr/>
        <p:txBody>
          <a:bodyPr/>
          <a:lstStyle/>
          <a:p>
            <a:fld id="{46BAC1F0-0840-9B4E-B1DB-BC264B863931}" type="slidenum">
              <a:rPr lang="en-US" smtClean="0"/>
              <a:t>10</a:t>
            </a:fld>
            <a:endParaRPr lang="en-US"/>
          </a:p>
        </p:txBody>
      </p:sp>
    </p:spTree>
    <p:extLst>
      <p:ext uri="{BB962C8B-B14F-4D97-AF65-F5344CB8AC3E}">
        <p14:creationId xmlns:p14="http://schemas.microsoft.com/office/powerpoint/2010/main" val="2213414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typical evaluation metrics such as precision, recall and f1 score to measure the prediction performance of the LSTM model. The table here shows the results obtained for drug predictions, ADR predictions, and overall drug/ADR predictions. With an average of 70 to 80%, the LSTM model had reasonable baseline performance given the training parameters.</a:t>
            </a:r>
          </a:p>
        </p:txBody>
      </p:sp>
      <p:sp>
        <p:nvSpPr>
          <p:cNvPr id="4" name="Slide Number Placeholder 3"/>
          <p:cNvSpPr>
            <a:spLocks noGrp="1"/>
          </p:cNvSpPr>
          <p:nvPr>
            <p:ph type="sldNum" sz="quarter" idx="5"/>
          </p:nvPr>
        </p:nvSpPr>
        <p:spPr/>
        <p:txBody>
          <a:bodyPr/>
          <a:lstStyle/>
          <a:p>
            <a:fld id="{46BAC1F0-0840-9B4E-B1DB-BC264B863931}" type="slidenum">
              <a:rPr lang="en-US" smtClean="0"/>
              <a:t>11</a:t>
            </a:fld>
            <a:endParaRPr lang="en-US"/>
          </a:p>
        </p:txBody>
      </p:sp>
    </p:spTree>
    <p:extLst>
      <p:ext uri="{BB962C8B-B14F-4D97-AF65-F5344CB8AC3E}">
        <p14:creationId xmlns:p14="http://schemas.microsoft.com/office/powerpoint/2010/main" val="2865036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3 categories, the LSTM model obtained lower scores across the evaluation metrics for ADR predictions. It is evident that the LSTM model struggled more with ADR detection than drug detection in the texts.</a:t>
            </a:r>
          </a:p>
        </p:txBody>
      </p:sp>
      <p:sp>
        <p:nvSpPr>
          <p:cNvPr id="4" name="Slide Number Placeholder 3"/>
          <p:cNvSpPr>
            <a:spLocks noGrp="1"/>
          </p:cNvSpPr>
          <p:nvPr>
            <p:ph type="sldNum" sz="quarter" idx="5"/>
          </p:nvPr>
        </p:nvSpPr>
        <p:spPr/>
        <p:txBody>
          <a:bodyPr/>
          <a:lstStyle/>
          <a:p>
            <a:fld id="{46BAC1F0-0840-9B4E-B1DB-BC264B863931}" type="slidenum">
              <a:rPr lang="en-US" smtClean="0"/>
              <a:t>12</a:t>
            </a:fld>
            <a:endParaRPr lang="en-US"/>
          </a:p>
        </p:txBody>
      </p:sp>
    </p:spTree>
    <p:extLst>
      <p:ext uri="{BB962C8B-B14F-4D97-AF65-F5344CB8AC3E}">
        <p14:creationId xmlns:p14="http://schemas.microsoft.com/office/powerpoint/2010/main" val="1228616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lower overall precision compared to recall also suggested that the model had a poorer performance in keeping false positives low, compared to detecting true positives.</a:t>
            </a:r>
          </a:p>
        </p:txBody>
      </p:sp>
      <p:sp>
        <p:nvSpPr>
          <p:cNvPr id="4" name="Slide Number Placeholder 3"/>
          <p:cNvSpPr>
            <a:spLocks noGrp="1"/>
          </p:cNvSpPr>
          <p:nvPr>
            <p:ph type="sldNum" sz="quarter" idx="5"/>
          </p:nvPr>
        </p:nvSpPr>
        <p:spPr/>
        <p:txBody>
          <a:bodyPr/>
          <a:lstStyle/>
          <a:p>
            <a:fld id="{46BAC1F0-0840-9B4E-B1DB-BC264B863931}" type="slidenum">
              <a:rPr lang="en-US" smtClean="0"/>
              <a:t>13</a:t>
            </a:fld>
            <a:endParaRPr lang="en-US"/>
          </a:p>
        </p:txBody>
      </p:sp>
    </p:spTree>
    <p:extLst>
      <p:ext uri="{BB962C8B-B14F-4D97-AF65-F5344CB8AC3E}">
        <p14:creationId xmlns:p14="http://schemas.microsoft.com/office/powerpoint/2010/main" val="1251379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such, I incorporated cosine similarity scores to see if it could help with improving false positives in the LSTM predictions. Cosine similarity in this case, is a similarity measurement between drug and ADR vectors. The metric can be used to filter out false positives by implementing a fixed threshold to discard LSTM predictions. To determine the appropriate threshold to use, I generated cosine similarity scores for the drug, ADR pairs found in the </a:t>
            </a:r>
            <a:r>
              <a:rPr lang="en-US" dirty="0" err="1"/>
              <a:t>HuggingFace</a:t>
            </a:r>
            <a:r>
              <a:rPr lang="en-US" dirty="0"/>
              <a:t> training data, and looked at the distribution of scores obtained. As seen in this histogram, the majority of drug and ADR pairs in the training data has a cosine similarity score of at least 0.4. With this in mind, we can use the trained LSTM model to make the same drug and ADR predictions, then use a trained word2vec model to generate cosine similarity scores of the LSTM predicted pairs, and discard those below 0.4 as false positives.</a:t>
            </a:r>
          </a:p>
        </p:txBody>
      </p:sp>
      <p:sp>
        <p:nvSpPr>
          <p:cNvPr id="4" name="Slide Number Placeholder 3"/>
          <p:cNvSpPr>
            <a:spLocks noGrp="1"/>
          </p:cNvSpPr>
          <p:nvPr>
            <p:ph type="sldNum" sz="quarter" idx="5"/>
          </p:nvPr>
        </p:nvSpPr>
        <p:spPr/>
        <p:txBody>
          <a:bodyPr/>
          <a:lstStyle/>
          <a:p>
            <a:fld id="{46BAC1F0-0840-9B4E-B1DB-BC264B863931}" type="slidenum">
              <a:rPr lang="en-US" smtClean="0"/>
              <a:t>14</a:t>
            </a:fld>
            <a:endParaRPr lang="en-US"/>
          </a:p>
        </p:txBody>
      </p:sp>
    </p:spTree>
    <p:extLst>
      <p:ext uri="{BB962C8B-B14F-4D97-AF65-F5344CB8AC3E}">
        <p14:creationId xmlns:p14="http://schemas.microsoft.com/office/powerpoint/2010/main" val="2549468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same evaluation metrics to measure the performance of the LSTM and cosine similarity predictions, we compare the performance with the baseline performance. We see an improvement in precision scores for the drug category, but the same score obtained for the ADR category. This suggests that more drugs were correctly detected when incorporating cosine similarity as part of the prediction process, without compromising on ADR detection performance.</a:t>
            </a:r>
          </a:p>
        </p:txBody>
      </p:sp>
      <p:sp>
        <p:nvSpPr>
          <p:cNvPr id="4" name="Slide Number Placeholder 3"/>
          <p:cNvSpPr>
            <a:spLocks noGrp="1"/>
          </p:cNvSpPr>
          <p:nvPr>
            <p:ph type="sldNum" sz="quarter" idx="5"/>
          </p:nvPr>
        </p:nvSpPr>
        <p:spPr/>
        <p:txBody>
          <a:bodyPr/>
          <a:lstStyle/>
          <a:p>
            <a:fld id="{46BAC1F0-0840-9B4E-B1DB-BC264B863931}" type="slidenum">
              <a:rPr lang="en-US" smtClean="0"/>
              <a:t>15</a:t>
            </a:fld>
            <a:endParaRPr lang="en-US"/>
          </a:p>
        </p:txBody>
      </p:sp>
    </p:spTree>
    <p:extLst>
      <p:ext uri="{BB962C8B-B14F-4D97-AF65-F5344CB8AC3E}">
        <p14:creationId xmlns:p14="http://schemas.microsoft.com/office/powerpoint/2010/main" val="1190414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we see a decrease in recall scores across the categories. This is expected, as cosine similarity scores were used to discard LSTM predictions as false positives, but discarded predictions were not replaced with alternative predictions. </a:t>
            </a:r>
          </a:p>
        </p:txBody>
      </p:sp>
      <p:sp>
        <p:nvSpPr>
          <p:cNvPr id="4" name="Slide Number Placeholder 3"/>
          <p:cNvSpPr>
            <a:spLocks noGrp="1"/>
          </p:cNvSpPr>
          <p:nvPr>
            <p:ph type="sldNum" sz="quarter" idx="5"/>
          </p:nvPr>
        </p:nvSpPr>
        <p:spPr/>
        <p:txBody>
          <a:bodyPr/>
          <a:lstStyle/>
          <a:p>
            <a:fld id="{46BAC1F0-0840-9B4E-B1DB-BC264B863931}" type="slidenum">
              <a:rPr lang="en-US" smtClean="0"/>
              <a:t>16</a:t>
            </a:fld>
            <a:endParaRPr lang="en-US"/>
          </a:p>
        </p:txBody>
      </p:sp>
    </p:spTree>
    <p:extLst>
      <p:ext uri="{BB962C8B-B14F-4D97-AF65-F5344CB8AC3E}">
        <p14:creationId xmlns:p14="http://schemas.microsoft.com/office/powerpoint/2010/main" val="2215596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we see that although cosine similarity helped to improve drug detection, it was a marginal improvement. This is likely because the accuracy of cosine similarity scores is highly dependent on the training data used to train the word2vec model. A cosine similarity score can only be calculated for a drug and ADR pair that has appeared in the training data. Since the word2vec model was trained using a small dataset of about 4500 example texts, performance improvement is limited.</a:t>
            </a:r>
          </a:p>
        </p:txBody>
      </p:sp>
      <p:sp>
        <p:nvSpPr>
          <p:cNvPr id="4" name="Slide Number Placeholder 3"/>
          <p:cNvSpPr>
            <a:spLocks noGrp="1"/>
          </p:cNvSpPr>
          <p:nvPr>
            <p:ph type="sldNum" sz="quarter" idx="5"/>
          </p:nvPr>
        </p:nvSpPr>
        <p:spPr/>
        <p:txBody>
          <a:bodyPr/>
          <a:lstStyle/>
          <a:p>
            <a:fld id="{46BAC1F0-0840-9B4E-B1DB-BC264B863931}" type="slidenum">
              <a:rPr lang="en-US" smtClean="0"/>
              <a:t>17</a:t>
            </a:fld>
            <a:endParaRPr lang="en-US"/>
          </a:p>
        </p:txBody>
      </p:sp>
    </p:spTree>
    <p:extLst>
      <p:ext uri="{BB962C8B-B14F-4D97-AF65-F5344CB8AC3E}">
        <p14:creationId xmlns:p14="http://schemas.microsoft.com/office/powerpoint/2010/main" val="3851964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cosine similarity scores targeted false positives without replacing them with alternative predictions, I looked at incorporating dependency parsing as a way to generate more predictions. The idea is that drug and ADR pairs are likely to be associated by causal effect terms when appearing in texts. Take for example the sentence, “the fatal stroke may have resulted from arterial spasm caused by ergotamine overdosage”. In this sentence, the drug ergotamine, and the ADR stroke, is associated by the causal term ”resulted”. Using such causal effect terms, we can make use of a general regex pattern of two noun phrase bounded by a causal term in the middle, to detect drug and ADR pairs. Noun phrases can also be identified using specific regex patterns. Since drug and ADR pairs might not always be noun phrases, we attempt to make more accurate drug and ADR predictions by keeping only noun phrases that appear in a list of drug and ADR names that have been extracted from public databases. Since dependency parsing is used to catch predictions that the LSTM model had missed, we made use of this method to generate drug and ADR predictions only if the LSTM model did not make a prediction.</a:t>
            </a:r>
          </a:p>
        </p:txBody>
      </p:sp>
      <p:sp>
        <p:nvSpPr>
          <p:cNvPr id="4" name="Slide Number Placeholder 3"/>
          <p:cNvSpPr>
            <a:spLocks noGrp="1"/>
          </p:cNvSpPr>
          <p:nvPr>
            <p:ph type="sldNum" sz="quarter" idx="5"/>
          </p:nvPr>
        </p:nvSpPr>
        <p:spPr/>
        <p:txBody>
          <a:bodyPr/>
          <a:lstStyle/>
          <a:p>
            <a:fld id="{46BAC1F0-0840-9B4E-B1DB-BC264B863931}" type="slidenum">
              <a:rPr lang="en-US" smtClean="0"/>
              <a:t>18</a:t>
            </a:fld>
            <a:endParaRPr lang="en-US"/>
          </a:p>
        </p:txBody>
      </p:sp>
    </p:spTree>
    <p:extLst>
      <p:ext uri="{BB962C8B-B14F-4D97-AF65-F5344CB8AC3E}">
        <p14:creationId xmlns:p14="http://schemas.microsoft.com/office/powerpoint/2010/main" val="237694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and dependency parsing prediction system showed a increase in recall scores across the categories. This indicates that dependency parsing worked as intended, and helped to detect more drug and ADR pairs that the LSTM model had missed.</a:t>
            </a:r>
          </a:p>
        </p:txBody>
      </p:sp>
      <p:sp>
        <p:nvSpPr>
          <p:cNvPr id="4" name="Slide Number Placeholder 3"/>
          <p:cNvSpPr>
            <a:spLocks noGrp="1"/>
          </p:cNvSpPr>
          <p:nvPr>
            <p:ph type="sldNum" sz="quarter" idx="5"/>
          </p:nvPr>
        </p:nvSpPr>
        <p:spPr/>
        <p:txBody>
          <a:bodyPr/>
          <a:lstStyle/>
          <a:p>
            <a:fld id="{46BAC1F0-0840-9B4E-B1DB-BC264B863931}" type="slidenum">
              <a:rPr lang="en-US" smtClean="0"/>
              <a:t>19</a:t>
            </a:fld>
            <a:endParaRPr lang="en-US"/>
          </a:p>
        </p:txBody>
      </p:sp>
    </p:spTree>
    <p:extLst>
      <p:ext uri="{BB962C8B-B14F-4D97-AF65-F5344CB8AC3E}">
        <p14:creationId xmlns:p14="http://schemas.microsoft.com/office/powerpoint/2010/main" val="467795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 addition of dependency parsing actually lowered precision scores when we compared it with the baseline model, suggesting more false positives were detected. In particular, we see a huge drop in precision score for the ADR category, indicating more incorrect ADR predictions were made with dependency parsing.</a:t>
            </a:r>
          </a:p>
        </p:txBody>
      </p:sp>
      <p:sp>
        <p:nvSpPr>
          <p:cNvPr id="4" name="Slide Number Placeholder 3"/>
          <p:cNvSpPr>
            <a:spLocks noGrp="1"/>
          </p:cNvSpPr>
          <p:nvPr>
            <p:ph type="sldNum" sz="quarter" idx="5"/>
          </p:nvPr>
        </p:nvSpPr>
        <p:spPr/>
        <p:txBody>
          <a:bodyPr/>
          <a:lstStyle/>
          <a:p>
            <a:fld id="{46BAC1F0-0840-9B4E-B1DB-BC264B863931}" type="slidenum">
              <a:rPr lang="en-US" smtClean="0"/>
              <a:t>20</a:t>
            </a:fld>
            <a:endParaRPr lang="en-US"/>
          </a:p>
        </p:txBody>
      </p:sp>
    </p:spTree>
    <p:extLst>
      <p:ext uri="{BB962C8B-B14F-4D97-AF65-F5344CB8AC3E}">
        <p14:creationId xmlns:p14="http://schemas.microsoft.com/office/powerpoint/2010/main" val="3280229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recall scores increased, the performance of dependency parsing is highly dependent on the list of causal terms we used to construct regex patterns, or list of drug and ADR names used to retain relevant noun phrases. My project implemented a list of over 15 causal terms such as “resulted”, including variations such as “resulting”, “results” and “result”. However, this is not a very comprehensive list of causal terms. The performance of dependency parsing might be further improved if I am able to gather a more exhaustive list of causal terms from public databases that might maintain such a list, or if we can compile a bigger list of drug and ADR names that includes their acronyms.</a:t>
            </a:r>
          </a:p>
        </p:txBody>
      </p:sp>
      <p:sp>
        <p:nvSpPr>
          <p:cNvPr id="4" name="Slide Number Placeholder 3"/>
          <p:cNvSpPr>
            <a:spLocks noGrp="1"/>
          </p:cNvSpPr>
          <p:nvPr>
            <p:ph type="sldNum" sz="quarter" idx="5"/>
          </p:nvPr>
        </p:nvSpPr>
        <p:spPr/>
        <p:txBody>
          <a:bodyPr/>
          <a:lstStyle/>
          <a:p>
            <a:fld id="{46BAC1F0-0840-9B4E-B1DB-BC264B863931}" type="slidenum">
              <a:rPr lang="en-US" smtClean="0"/>
              <a:t>21</a:t>
            </a:fld>
            <a:endParaRPr lang="en-US"/>
          </a:p>
        </p:txBody>
      </p:sp>
    </p:spTree>
    <p:extLst>
      <p:ext uri="{BB962C8B-B14F-4D97-AF65-F5344CB8AC3E}">
        <p14:creationId xmlns:p14="http://schemas.microsoft.com/office/powerpoint/2010/main" val="590003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with the incorporation of cosine similarity and dependency parsing implemented separately, we see if incorporating both with the LSTM model can help with overall performance improvement. This is done by first using the trained LSTM model to make base predictions.</a:t>
            </a:r>
          </a:p>
        </p:txBody>
      </p:sp>
      <p:sp>
        <p:nvSpPr>
          <p:cNvPr id="4" name="Slide Number Placeholder 3"/>
          <p:cNvSpPr>
            <a:spLocks noGrp="1"/>
          </p:cNvSpPr>
          <p:nvPr>
            <p:ph type="sldNum" sz="quarter" idx="5"/>
          </p:nvPr>
        </p:nvSpPr>
        <p:spPr/>
        <p:txBody>
          <a:bodyPr/>
          <a:lstStyle/>
          <a:p>
            <a:fld id="{46BAC1F0-0840-9B4E-B1DB-BC264B863931}" type="slidenum">
              <a:rPr lang="en-US" smtClean="0"/>
              <a:t>22</a:t>
            </a:fld>
            <a:endParaRPr lang="en-US"/>
          </a:p>
        </p:txBody>
      </p:sp>
    </p:spTree>
    <p:extLst>
      <p:ext uri="{BB962C8B-B14F-4D97-AF65-F5344CB8AC3E}">
        <p14:creationId xmlns:p14="http://schemas.microsoft.com/office/powerpoint/2010/main" val="192596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model might either make predictions for both a drug and an ADR, or have no prediction for either of them.</a:t>
            </a:r>
          </a:p>
        </p:txBody>
      </p:sp>
      <p:sp>
        <p:nvSpPr>
          <p:cNvPr id="4" name="Slide Number Placeholder 3"/>
          <p:cNvSpPr>
            <a:spLocks noGrp="1"/>
          </p:cNvSpPr>
          <p:nvPr>
            <p:ph type="sldNum" sz="quarter" idx="5"/>
          </p:nvPr>
        </p:nvSpPr>
        <p:spPr/>
        <p:txBody>
          <a:bodyPr/>
          <a:lstStyle/>
          <a:p>
            <a:fld id="{46BAC1F0-0840-9B4E-B1DB-BC264B863931}" type="slidenum">
              <a:rPr lang="en-US" smtClean="0"/>
              <a:t>23</a:t>
            </a:fld>
            <a:endParaRPr lang="en-US"/>
          </a:p>
        </p:txBody>
      </p:sp>
    </p:spTree>
    <p:extLst>
      <p:ext uri="{BB962C8B-B14F-4D97-AF65-F5344CB8AC3E}">
        <p14:creationId xmlns:p14="http://schemas.microsoft.com/office/powerpoint/2010/main" val="2362642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are no predictions made for either drug or ADR, we make use of dependency parsing to make additional predictions to supplement the missing LSTM prediction. However, if a LSTM prediction was made for both drug and ADR, then a cosine similarity score can be generated for each pair that was made. Based on the cosine similarity score,</a:t>
            </a:r>
          </a:p>
        </p:txBody>
      </p:sp>
      <p:sp>
        <p:nvSpPr>
          <p:cNvPr id="4" name="Slide Number Placeholder 3"/>
          <p:cNvSpPr>
            <a:spLocks noGrp="1"/>
          </p:cNvSpPr>
          <p:nvPr>
            <p:ph type="sldNum" sz="quarter" idx="5"/>
          </p:nvPr>
        </p:nvSpPr>
        <p:spPr/>
        <p:txBody>
          <a:bodyPr/>
          <a:lstStyle/>
          <a:p>
            <a:fld id="{46BAC1F0-0840-9B4E-B1DB-BC264B863931}" type="slidenum">
              <a:rPr lang="en-US" smtClean="0"/>
              <a:t>24</a:t>
            </a:fld>
            <a:endParaRPr lang="en-US"/>
          </a:p>
        </p:txBody>
      </p:sp>
    </p:spTree>
    <p:extLst>
      <p:ext uri="{BB962C8B-B14F-4D97-AF65-F5344CB8AC3E}">
        <p14:creationId xmlns:p14="http://schemas.microsoft.com/office/powerpoint/2010/main" val="1779782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then determine if the drug and ADR pair should be discarded as false positives, or retained.</a:t>
            </a:r>
          </a:p>
        </p:txBody>
      </p:sp>
      <p:sp>
        <p:nvSpPr>
          <p:cNvPr id="4" name="Slide Number Placeholder 3"/>
          <p:cNvSpPr>
            <a:spLocks noGrp="1"/>
          </p:cNvSpPr>
          <p:nvPr>
            <p:ph type="sldNum" sz="quarter" idx="5"/>
          </p:nvPr>
        </p:nvSpPr>
        <p:spPr/>
        <p:txBody>
          <a:bodyPr/>
          <a:lstStyle/>
          <a:p>
            <a:fld id="{46BAC1F0-0840-9B4E-B1DB-BC264B863931}" type="slidenum">
              <a:rPr lang="en-US" smtClean="0"/>
              <a:t>25</a:t>
            </a:fld>
            <a:endParaRPr lang="en-US"/>
          </a:p>
        </p:txBody>
      </p:sp>
    </p:spTree>
    <p:extLst>
      <p:ext uri="{BB962C8B-B14F-4D97-AF65-F5344CB8AC3E}">
        <p14:creationId xmlns:p14="http://schemas.microsoft.com/office/powerpoint/2010/main" val="3256428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all LSTM predictions were discarded as a result of poor cosine similarity scores, we again make use of dependency parsing to generate alternative predictions.</a:t>
            </a:r>
          </a:p>
        </p:txBody>
      </p:sp>
      <p:sp>
        <p:nvSpPr>
          <p:cNvPr id="4" name="Slide Number Placeholder 3"/>
          <p:cNvSpPr>
            <a:spLocks noGrp="1"/>
          </p:cNvSpPr>
          <p:nvPr>
            <p:ph type="sldNum" sz="quarter" idx="5"/>
          </p:nvPr>
        </p:nvSpPr>
        <p:spPr/>
        <p:txBody>
          <a:bodyPr/>
          <a:lstStyle/>
          <a:p>
            <a:fld id="{46BAC1F0-0840-9B4E-B1DB-BC264B863931}" type="slidenum">
              <a:rPr lang="en-US" smtClean="0"/>
              <a:t>26</a:t>
            </a:fld>
            <a:endParaRPr lang="en-US"/>
          </a:p>
        </p:txBody>
      </p:sp>
    </p:spTree>
    <p:extLst>
      <p:ext uri="{BB962C8B-B14F-4D97-AF65-F5344CB8AC3E}">
        <p14:creationId xmlns:p14="http://schemas.microsoft.com/office/powerpoint/2010/main" val="1166937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the baseline performance, the final prediction system actually obtained the same result in majority of the precision, recall or f1 scores for the 3 categories. Unexpectedly, the only difference in performance was a slight dip in recall scores for the ADR category.</a:t>
            </a:r>
          </a:p>
        </p:txBody>
      </p:sp>
      <p:sp>
        <p:nvSpPr>
          <p:cNvPr id="4" name="Slide Number Placeholder 3"/>
          <p:cNvSpPr>
            <a:spLocks noGrp="1"/>
          </p:cNvSpPr>
          <p:nvPr>
            <p:ph type="sldNum" sz="quarter" idx="5"/>
          </p:nvPr>
        </p:nvSpPr>
        <p:spPr/>
        <p:txBody>
          <a:bodyPr/>
          <a:lstStyle/>
          <a:p>
            <a:fld id="{46BAC1F0-0840-9B4E-B1DB-BC264B863931}" type="slidenum">
              <a:rPr lang="en-US" smtClean="0"/>
              <a:t>27</a:t>
            </a:fld>
            <a:endParaRPr lang="en-US"/>
          </a:p>
        </p:txBody>
      </p:sp>
    </p:spTree>
    <p:extLst>
      <p:ext uri="{BB962C8B-B14F-4D97-AF65-F5344CB8AC3E}">
        <p14:creationId xmlns:p14="http://schemas.microsoft.com/office/powerpoint/2010/main" val="2829258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the improvement in false and true positives when incorporating cosine similarity and dependency parsing separately, the results found for the final prediction system warrant a deeper investigation. It was found that the final prediction system identified many more drug and ADR pairs that were not labelled in the </a:t>
            </a:r>
            <a:r>
              <a:rPr lang="en-US" dirty="0" err="1"/>
              <a:t>HuggingFace</a:t>
            </a:r>
            <a:r>
              <a:rPr lang="en-US" dirty="0"/>
              <a:t> testing dataset, but were indeed true drug and ADR pairs. For instance, this was part of a sentence found in the </a:t>
            </a:r>
            <a:r>
              <a:rPr lang="en-US" dirty="0" err="1"/>
              <a:t>HuggingFace</a:t>
            </a:r>
            <a:r>
              <a:rPr lang="en-US" dirty="0"/>
              <a:t> testing dataset. The final prediction system correctly identified interferon alpha as the drug, and both cardiomyopathy and polymyositis as ADRs. However, the testing dataset only labelled one of the two ADRs found in the input text. There were multiple instances of incomplete labels, resulting in additional drug and ADR pairs identified by the final prediction system, to be misclassified as false positives.</a:t>
            </a:r>
          </a:p>
          <a:p>
            <a:endParaRPr lang="en-US" dirty="0"/>
          </a:p>
          <a:p>
            <a:r>
              <a:rPr lang="en-US" dirty="0"/>
              <a:t>In addition, incorporating cosine similarity was show to decrease false positives. It is possible that the increase in false positives generated by dependency parsing, could have offset the discarded false positives made by cosine similarity, resulting in the same prediction performance as the baseline system.</a:t>
            </a:r>
          </a:p>
        </p:txBody>
      </p:sp>
      <p:sp>
        <p:nvSpPr>
          <p:cNvPr id="4" name="Slide Number Placeholder 3"/>
          <p:cNvSpPr>
            <a:spLocks noGrp="1"/>
          </p:cNvSpPr>
          <p:nvPr>
            <p:ph type="sldNum" sz="quarter" idx="5"/>
          </p:nvPr>
        </p:nvSpPr>
        <p:spPr/>
        <p:txBody>
          <a:bodyPr/>
          <a:lstStyle/>
          <a:p>
            <a:fld id="{46BAC1F0-0840-9B4E-B1DB-BC264B863931}" type="slidenum">
              <a:rPr lang="en-US" smtClean="0"/>
              <a:t>28</a:t>
            </a:fld>
            <a:endParaRPr lang="en-US"/>
          </a:p>
        </p:txBody>
      </p:sp>
    </p:spTree>
    <p:extLst>
      <p:ext uri="{BB962C8B-B14F-4D97-AF65-F5344CB8AC3E}">
        <p14:creationId xmlns:p14="http://schemas.microsoft.com/office/powerpoint/2010/main" val="3194002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limited time and hardware limitations, there are always additional improvements we can explore to improve the performance of the final prediction system. A possible improvement is to utilize the drug and ADR pairs extracted from additional databases to generate additional input texts as training data. This is possible scientific abstracts containing a drug and ADR pair can be extracted using the </a:t>
            </a:r>
            <a:r>
              <a:rPr lang="en-US" dirty="0" err="1"/>
              <a:t>PubMED</a:t>
            </a:r>
            <a:r>
              <a:rPr lang="en-US" dirty="0"/>
              <a:t> API. Additional input texts can not only be used to supplement the </a:t>
            </a:r>
            <a:r>
              <a:rPr lang="en-US" dirty="0" err="1"/>
              <a:t>HuggingFace</a:t>
            </a:r>
            <a:r>
              <a:rPr lang="en-US" dirty="0"/>
              <a:t> data to train the LSTM model, they can also be used to supplement the word2vec model training, making it better at </a:t>
            </a:r>
            <a:r>
              <a:rPr lang="en-US" dirty="0" err="1"/>
              <a:t>generateing</a:t>
            </a:r>
            <a:r>
              <a:rPr lang="en-US" dirty="0"/>
              <a:t> more accurate cosine similarity scores.</a:t>
            </a:r>
          </a:p>
          <a:p>
            <a:endParaRPr lang="en-US" dirty="0"/>
          </a:p>
          <a:p>
            <a:r>
              <a:rPr lang="en-US" dirty="0"/>
              <a:t>Another possible improvement is to look at additional databases to expand the list of drug and ADR names, possibly including alternative names or acronyms used. With a bigger drug and ADR list, we can identify more noun phrases that are drugs and ADRs, improving the predictions made using dependency parsing.</a:t>
            </a:r>
          </a:p>
          <a:p>
            <a:endParaRPr lang="en-US" dirty="0"/>
          </a:p>
          <a:p>
            <a:r>
              <a:rPr lang="en-US" dirty="0"/>
              <a:t>Lastly, one of the easiest way to improve prediction performance is to increase the number of training epochs for LSTM model training. This gives the LSTM model more data and iterations to learn patterns that can be helpful in making more accurate drug and ADR predictions.</a:t>
            </a:r>
          </a:p>
          <a:p>
            <a:endParaRPr lang="en-US" dirty="0"/>
          </a:p>
          <a:p>
            <a:r>
              <a:rPr lang="en-US" dirty="0"/>
              <a:t>We have come to the end of the presentation.</a:t>
            </a:r>
          </a:p>
        </p:txBody>
      </p:sp>
      <p:sp>
        <p:nvSpPr>
          <p:cNvPr id="4" name="Slide Number Placeholder 3"/>
          <p:cNvSpPr>
            <a:spLocks noGrp="1"/>
          </p:cNvSpPr>
          <p:nvPr>
            <p:ph type="sldNum" sz="quarter" idx="5"/>
          </p:nvPr>
        </p:nvSpPr>
        <p:spPr/>
        <p:txBody>
          <a:bodyPr/>
          <a:lstStyle/>
          <a:p>
            <a:fld id="{46BAC1F0-0840-9B4E-B1DB-BC264B863931}" type="slidenum">
              <a:rPr lang="en-US" smtClean="0"/>
              <a:t>29</a:t>
            </a:fld>
            <a:endParaRPr lang="en-US"/>
          </a:p>
        </p:txBody>
      </p:sp>
    </p:spTree>
    <p:extLst>
      <p:ext uri="{BB962C8B-B14F-4D97-AF65-F5344CB8AC3E}">
        <p14:creationId xmlns:p14="http://schemas.microsoft.com/office/powerpoint/2010/main" val="2567018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85B8401-71D4-0349-8269-71BE52918751}" type="datetimeFigureOut">
              <a:rPr lang="en-US" smtClean="0"/>
              <a:t>11/29/25</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162D091-2496-3D44-9EB6-C2DA14C4109C}"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276586710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5B8401-71D4-0349-8269-71BE52918751}"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268101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85B8401-71D4-0349-8269-71BE52918751}" type="datetimeFigureOut">
              <a:rPr lang="en-US" smtClean="0"/>
              <a:t>11/29/25</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162D091-2496-3D44-9EB6-C2DA14C4109C}"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9041204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5B8401-71D4-0349-8269-71BE52918751}" type="datetimeFigureOut">
              <a:rPr lang="en-US" smtClean="0"/>
              <a:t>11/29/25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797752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5B8401-71D4-0349-8269-71BE52918751}" type="datetimeFigureOut">
              <a:rPr lang="en-US" smtClean="0"/>
              <a:t>11/29/25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3706446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5B8401-71D4-0349-8269-71BE52918751}" type="datetimeFigureOut">
              <a:rPr lang="en-US" smtClean="0"/>
              <a:t>11/29/25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4054053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5B8401-71D4-0349-8269-71BE52918751}" type="datetimeFigureOut">
              <a:rPr lang="en-US" smtClean="0"/>
              <a:t>11/29/25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3953263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85B8401-71D4-0349-8269-71BE52918751}" type="datetimeFigureOut">
              <a:rPr lang="en-US" smtClean="0"/>
              <a:t>11/29/25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162D091-2496-3D44-9EB6-C2DA14C4109C}"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3881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85B8401-71D4-0349-8269-71BE52918751}" type="datetimeFigureOut">
              <a:rPr lang="en-US" smtClean="0"/>
              <a:t>11/29/25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162D091-2496-3D44-9EB6-C2DA14C4109C}"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3861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5B8401-71D4-0349-8269-71BE52918751}"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2437243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5B8401-71D4-0349-8269-71BE52918751}" type="datetimeFigureOut">
              <a:rPr lang="en-US" smtClean="0"/>
              <a:t>11/29/25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2D091-2496-3D44-9EB6-C2DA14C4109C}" type="slidenum">
              <a:rPr lang="en-US" smtClean="0"/>
              <a:t>‹#›</a:t>
            </a:fld>
            <a:endParaRPr lang="en-US"/>
          </a:p>
        </p:txBody>
      </p:sp>
    </p:spTree>
    <p:extLst>
      <p:ext uri="{BB962C8B-B14F-4D97-AF65-F5344CB8AC3E}">
        <p14:creationId xmlns:p14="http://schemas.microsoft.com/office/powerpoint/2010/main" val="722103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85B8401-71D4-0349-8269-71BE52918751}" type="datetimeFigureOut">
              <a:rPr lang="en-US" smtClean="0"/>
              <a:t>11/29/25</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162D091-2496-3D44-9EB6-C2DA14C4109C}"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078582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9A27F-A697-304E-8901-88C5D021F6C7}"/>
              </a:ext>
            </a:extLst>
          </p:cNvPr>
          <p:cNvSpPr>
            <a:spLocks noGrp="1"/>
          </p:cNvSpPr>
          <p:nvPr>
            <p:ph type="ctrTitle"/>
          </p:nvPr>
        </p:nvSpPr>
        <p:spPr/>
        <p:txBody>
          <a:bodyPr/>
          <a:lstStyle/>
          <a:p>
            <a:r>
              <a:rPr lang="en-US" sz="5500" dirty="0"/>
              <a:t>Detecting Adverse drug reactions in text</a:t>
            </a:r>
          </a:p>
        </p:txBody>
      </p:sp>
      <p:sp>
        <p:nvSpPr>
          <p:cNvPr id="3" name="Subtitle 2">
            <a:extLst>
              <a:ext uri="{FF2B5EF4-FFF2-40B4-BE49-F238E27FC236}">
                <a16:creationId xmlns:a16="http://schemas.microsoft.com/office/drawing/2014/main" id="{05C58E58-AF25-024A-8592-D495A37A5591}"/>
              </a:ext>
            </a:extLst>
          </p:cNvPr>
          <p:cNvSpPr>
            <a:spLocks noGrp="1"/>
          </p:cNvSpPr>
          <p:nvPr>
            <p:ph type="subTitle" idx="1"/>
          </p:nvPr>
        </p:nvSpPr>
        <p:spPr/>
        <p:txBody>
          <a:bodyPr/>
          <a:lstStyle/>
          <a:p>
            <a:r>
              <a:rPr lang="en-US" dirty="0"/>
              <a:t>Amanda Shan Rui Ho</a:t>
            </a:r>
          </a:p>
          <a:p>
            <a:r>
              <a:rPr lang="en-US" dirty="0"/>
              <a:t>EN605.646.81 Natural Language Processing</a:t>
            </a:r>
          </a:p>
        </p:txBody>
      </p:sp>
    </p:spTree>
    <p:extLst>
      <p:ext uri="{BB962C8B-B14F-4D97-AF65-F5344CB8AC3E}">
        <p14:creationId xmlns:p14="http://schemas.microsoft.com/office/powerpoint/2010/main" val="3087916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E72C-942A-394E-AE2A-7A91C242A88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A9BAA04-1C19-F342-B027-0E2F23E2E27E}"/>
              </a:ext>
            </a:extLst>
          </p:cNvPr>
          <p:cNvSpPr>
            <a:spLocks noGrp="1"/>
          </p:cNvSpPr>
          <p:nvPr>
            <p:ph idx="1"/>
          </p:nvPr>
        </p:nvSpPr>
        <p:spPr/>
        <p:txBody>
          <a:bodyPr/>
          <a:lstStyle/>
          <a:p>
            <a:r>
              <a:rPr lang="en-US" dirty="0"/>
              <a:t>Introduction</a:t>
            </a:r>
          </a:p>
          <a:p>
            <a:r>
              <a:rPr lang="en-US" dirty="0"/>
              <a:t>Methodology</a:t>
            </a:r>
          </a:p>
          <a:p>
            <a:r>
              <a:rPr lang="en-US" dirty="0"/>
              <a:t>Evaluation Results</a:t>
            </a:r>
          </a:p>
          <a:p>
            <a:r>
              <a:rPr lang="en-US" dirty="0"/>
              <a:t>Future improvements</a:t>
            </a:r>
          </a:p>
          <a:p>
            <a:endParaRPr lang="en-US" dirty="0"/>
          </a:p>
          <a:p>
            <a:endParaRPr lang="en-US" dirty="0"/>
          </a:p>
        </p:txBody>
      </p:sp>
    </p:spTree>
    <p:extLst>
      <p:ext uri="{BB962C8B-B14F-4D97-AF65-F5344CB8AC3E}">
        <p14:creationId xmlns:p14="http://schemas.microsoft.com/office/powerpoint/2010/main" val="3190971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FE70-1A5B-FF48-9028-96F485288A08}"/>
              </a:ext>
            </a:extLst>
          </p:cNvPr>
          <p:cNvSpPr>
            <a:spLocks noGrp="1"/>
          </p:cNvSpPr>
          <p:nvPr>
            <p:ph type="title"/>
          </p:nvPr>
        </p:nvSpPr>
        <p:spPr/>
        <p:txBody>
          <a:bodyPr>
            <a:normAutofit/>
          </a:bodyPr>
          <a:lstStyle/>
          <a:p>
            <a:r>
              <a:rPr lang="en-US" b="1" dirty="0"/>
              <a:t>Introduction</a:t>
            </a:r>
            <a:br>
              <a:rPr lang="en-US" dirty="0"/>
            </a:br>
            <a:r>
              <a:rPr lang="en-US" sz="3300" dirty="0"/>
              <a:t>Importance of detecting drug, ADR in text</a:t>
            </a:r>
          </a:p>
        </p:txBody>
      </p:sp>
      <p:sp>
        <p:nvSpPr>
          <p:cNvPr id="3" name="Content Placeholder 2">
            <a:extLst>
              <a:ext uri="{FF2B5EF4-FFF2-40B4-BE49-F238E27FC236}">
                <a16:creationId xmlns:a16="http://schemas.microsoft.com/office/drawing/2014/main" id="{64C84911-BE80-5340-9E3B-0812DA5EE6F7}"/>
              </a:ext>
            </a:extLst>
          </p:cNvPr>
          <p:cNvSpPr>
            <a:spLocks noGrp="1"/>
          </p:cNvSpPr>
          <p:nvPr>
            <p:ph idx="1"/>
          </p:nvPr>
        </p:nvSpPr>
        <p:spPr>
          <a:xfrm>
            <a:off x="1371600" y="1963271"/>
            <a:ext cx="9601200" cy="4208929"/>
          </a:xfrm>
        </p:spPr>
        <p:txBody>
          <a:bodyPr>
            <a:normAutofit/>
          </a:bodyPr>
          <a:lstStyle/>
          <a:p>
            <a:pPr marL="0" indent="0">
              <a:buNone/>
            </a:pPr>
            <a:r>
              <a:rPr lang="en-US" b="1" u="sng" dirty="0"/>
              <a:t>Background</a:t>
            </a:r>
          </a:p>
          <a:p>
            <a:r>
              <a:rPr lang="en-US" dirty="0"/>
              <a:t>Recommendations for Adverse Drug Reactions (ADRs) largely curated from independent reports or electronic health records: under-reported</a:t>
            </a:r>
          </a:p>
          <a:p>
            <a:r>
              <a:rPr lang="en-US" dirty="0"/>
              <a:t>Inconsistent documentation makes it difficult to tag ADRs to drugs</a:t>
            </a:r>
          </a:p>
          <a:p>
            <a:r>
              <a:rPr lang="en-US" dirty="0"/>
              <a:t>Inefficient and difficult to research ADRs</a:t>
            </a:r>
          </a:p>
          <a:p>
            <a:pPr marL="0" indent="0">
              <a:buNone/>
            </a:pPr>
            <a:r>
              <a:rPr lang="en-US" b="1" u="sng" dirty="0"/>
              <a:t>Project aim</a:t>
            </a:r>
          </a:p>
          <a:p>
            <a:r>
              <a:rPr lang="en-US" dirty="0"/>
              <a:t>Building a system using natural language techniques to automatically detect drug &amp; associated ADRs in text</a:t>
            </a:r>
          </a:p>
          <a:p>
            <a:r>
              <a:rPr lang="en-US" dirty="0"/>
              <a:t>Improving crucial information extraction expedites medical intervention and treatment development</a:t>
            </a:r>
          </a:p>
          <a:p>
            <a:endParaRPr lang="en-US" dirty="0"/>
          </a:p>
        </p:txBody>
      </p:sp>
    </p:spTree>
    <p:extLst>
      <p:ext uri="{BB962C8B-B14F-4D97-AF65-F5344CB8AC3E}">
        <p14:creationId xmlns:p14="http://schemas.microsoft.com/office/powerpoint/2010/main" val="3474635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B7D2D-23C9-1F48-BCD6-39C1639D46AD}"/>
              </a:ext>
            </a:extLst>
          </p:cNvPr>
          <p:cNvSpPr>
            <a:spLocks noGrp="1"/>
          </p:cNvSpPr>
          <p:nvPr>
            <p:ph type="title"/>
          </p:nvPr>
        </p:nvSpPr>
        <p:spPr/>
        <p:txBody>
          <a:bodyPr/>
          <a:lstStyle/>
          <a:p>
            <a:r>
              <a:rPr lang="en-US" dirty="0"/>
              <a:t>Methodology overview</a:t>
            </a:r>
          </a:p>
        </p:txBody>
      </p:sp>
      <p:sp>
        <p:nvSpPr>
          <p:cNvPr id="3" name="Content Placeholder 2">
            <a:extLst>
              <a:ext uri="{FF2B5EF4-FFF2-40B4-BE49-F238E27FC236}">
                <a16:creationId xmlns:a16="http://schemas.microsoft.com/office/drawing/2014/main" id="{64057ECA-6802-F140-9636-16699530800D}"/>
              </a:ext>
            </a:extLst>
          </p:cNvPr>
          <p:cNvSpPr>
            <a:spLocks noGrp="1"/>
          </p:cNvSpPr>
          <p:nvPr>
            <p:ph idx="1"/>
          </p:nvPr>
        </p:nvSpPr>
        <p:spPr>
          <a:xfrm>
            <a:off x="1371600" y="1604683"/>
            <a:ext cx="3272118" cy="4262718"/>
          </a:xfrm>
        </p:spPr>
        <p:txBody>
          <a:bodyPr/>
          <a:lstStyle/>
          <a:p>
            <a:r>
              <a:rPr lang="en-US" dirty="0"/>
              <a:t>Drug/ADR detection system consists of a bi-directional Long Short-Term Memory (LSTM) model to make base predictions</a:t>
            </a:r>
          </a:p>
          <a:p>
            <a:r>
              <a:rPr lang="en-US" dirty="0"/>
              <a:t>Natural language processing techniques such cosine similarity &amp; dependency parsing used to improve base predictions</a:t>
            </a:r>
          </a:p>
        </p:txBody>
      </p:sp>
      <p:pic>
        <p:nvPicPr>
          <p:cNvPr id="7" name="Picture 6">
            <a:extLst>
              <a:ext uri="{FF2B5EF4-FFF2-40B4-BE49-F238E27FC236}">
                <a16:creationId xmlns:a16="http://schemas.microsoft.com/office/drawing/2014/main" id="{797D2B41-D086-1E47-B535-0BF5693C0E3B}"/>
              </a:ext>
            </a:extLst>
          </p:cNvPr>
          <p:cNvPicPr>
            <a:picLocks noChangeAspect="1"/>
          </p:cNvPicPr>
          <p:nvPr/>
        </p:nvPicPr>
        <p:blipFill>
          <a:blip r:embed="rId3"/>
          <a:stretch>
            <a:fillRect/>
          </a:stretch>
        </p:blipFill>
        <p:spPr>
          <a:xfrm>
            <a:off x="5074023" y="1883966"/>
            <a:ext cx="6589059" cy="1119671"/>
          </a:xfrm>
          <a:prstGeom prst="rect">
            <a:avLst/>
          </a:prstGeom>
        </p:spPr>
      </p:pic>
    </p:spTree>
    <p:extLst>
      <p:ext uri="{BB962C8B-B14F-4D97-AF65-F5344CB8AC3E}">
        <p14:creationId xmlns:p14="http://schemas.microsoft.com/office/powerpoint/2010/main" val="3689386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190420-5BE8-534D-8A4C-C0F633A026FC}"/>
              </a:ext>
            </a:extLst>
          </p:cNvPr>
          <p:cNvPicPr>
            <a:picLocks noChangeAspect="1"/>
          </p:cNvPicPr>
          <p:nvPr/>
        </p:nvPicPr>
        <p:blipFill>
          <a:blip r:embed="rId3"/>
          <a:stretch>
            <a:fillRect/>
          </a:stretch>
        </p:blipFill>
        <p:spPr>
          <a:xfrm>
            <a:off x="5102303" y="1863211"/>
            <a:ext cx="6589059" cy="2048895"/>
          </a:xfrm>
          <a:prstGeom prst="rect">
            <a:avLst/>
          </a:prstGeom>
        </p:spPr>
      </p:pic>
      <p:sp>
        <p:nvSpPr>
          <p:cNvPr id="2" name="Title 1">
            <a:extLst>
              <a:ext uri="{FF2B5EF4-FFF2-40B4-BE49-F238E27FC236}">
                <a16:creationId xmlns:a16="http://schemas.microsoft.com/office/drawing/2014/main" id="{03DB7D2D-23C9-1F48-BCD6-39C1639D46AD}"/>
              </a:ext>
            </a:extLst>
          </p:cNvPr>
          <p:cNvSpPr>
            <a:spLocks noGrp="1"/>
          </p:cNvSpPr>
          <p:nvPr>
            <p:ph type="title"/>
          </p:nvPr>
        </p:nvSpPr>
        <p:spPr/>
        <p:txBody>
          <a:bodyPr/>
          <a:lstStyle/>
          <a:p>
            <a:r>
              <a:rPr lang="en-US" dirty="0"/>
              <a:t>Methodology overview</a:t>
            </a:r>
          </a:p>
        </p:txBody>
      </p:sp>
      <p:sp>
        <p:nvSpPr>
          <p:cNvPr id="3" name="Content Placeholder 2">
            <a:extLst>
              <a:ext uri="{FF2B5EF4-FFF2-40B4-BE49-F238E27FC236}">
                <a16:creationId xmlns:a16="http://schemas.microsoft.com/office/drawing/2014/main" id="{64057ECA-6802-F140-9636-16699530800D}"/>
              </a:ext>
            </a:extLst>
          </p:cNvPr>
          <p:cNvSpPr>
            <a:spLocks noGrp="1"/>
          </p:cNvSpPr>
          <p:nvPr>
            <p:ph idx="1"/>
          </p:nvPr>
        </p:nvSpPr>
        <p:spPr>
          <a:xfrm>
            <a:off x="1371600" y="1604683"/>
            <a:ext cx="3272118" cy="4262718"/>
          </a:xfrm>
        </p:spPr>
        <p:txBody>
          <a:bodyPr/>
          <a:lstStyle/>
          <a:p>
            <a:r>
              <a:rPr lang="en-US" dirty="0"/>
              <a:t>Drug/ADR detection system consists of a bi-directional Long Short-Term Memory (LSTM) model to make base predictions</a:t>
            </a:r>
          </a:p>
          <a:p>
            <a:r>
              <a:rPr lang="en-US" dirty="0"/>
              <a:t>Natural language processing techniques such cosine similarity &amp; dependency parsing used to improve base predictions</a:t>
            </a:r>
          </a:p>
        </p:txBody>
      </p:sp>
    </p:spTree>
    <p:extLst>
      <p:ext uri="{BB962C8B-B14F-4D97-AF65-F5344CB8AC3E}">
        <p14:creationId xmlns:p14="http://schemas.microsoft.com/office/powerpoint/2010/main" val="379580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670ED56-027E-1B4E-9CE7-356284953160}"/>
              </a:ext>
            </a:extLst>
          </p:cNvPr>
          <p:cNvPicPr>
            <a:picLocks noChangeAspect="1"/>
          </p:cNvPicPr>
          <p:nvPr/>
        </p:nvPicPr>
        <p:blipFill>
          <a:blip r:embed="rId3"/>
          <a:stretch>
            <a:fillRect/>
          </a:stretch>
        </p:blipFill>
        <p:spPr>
          <a:xfrm>
            <a:off x="4643718" y="1863211"/>
            <a:ext cx="7043533" cy="3538946"/>
          </a:xfrm>
          <a:prstGeom prst="rect">
            <a:avLst/>
          </a:prstGeom>
        </p:spPr>
      </p:pic>
      <p:sp>
        <p:nvSpPr>
          <p:cNvPr id="2" name="Title 1">
            <a:extLst>
              <a:ext uri="{FF2B5EF4-FFF2-40B4-BE49-F238E27FC236}">
                <a16:creationId xmlns:a16="http://schemas.microsoft.com/office/drawing/2014/main" id="{03DB7D2D-23C9-1F48-BCD6-39C1639D46AD}"/>
              </a:ext>
            </a:extLst>
          </p:cNvPr>
          <p:cNvSpPr>
            <a:spLocks noGrp="1"/>
          </p:cNvSpPr>
          <p:nvPr>
            <p:ph type="title"/>
          </p:nvPr>
        </p:nvSpPr>
        <p:spPr/>
        <p:txBody>
          <a:bodyPr/>
          <a:lstStyle/>
          <a:p>
            <a:r>
              <a:rPr lang="en-US" dirty="0"/>
              <a:t>Methodology overview</a:t>
            </a:r>
          </a:p>
        </p:txBody>
      </p:sp>
      <p:sp>
        <p:nvSpPr>
          <p:cNvPr id="3" name="Content Placeholder 2">
            <a:extLst>
              <a:ext uri="{FF2B5EF4-FFF2-40B4-BE49-F238E27FC236}">
                <a16:creationId xmlns:a16="http://schemas.microsoft.com/office/drawing/2014/main" id="{64057ECA-6802-F140-9636-16699530800D}"/>
              </a:ext>
            </a:extLst>
          </p:cNvPr>
          <p:cNvSpPr>
            <a:spLocks noGrp="1"/>
          </p:cNvSpPr>
          <p:nvPr>
            <p:ph idx="1"/>
          </p:nvPr>
        </p:nvSpPr>
        <p:spPr>
          <a:xfrm>
            <a:off x="1371600" y="1604683"/>
            <a:ext cx="3272118" cy="4262718"/>
          </a:xfrm>
        </p:spPr>
        <p:txBody>
          <a:bodyPr/>
          <a:lstStyle/>
          <a:p>
            <a:r>
              <a:rPr lang="en-US" dirty="0"/>
              <a:t>Drug/ADR detection system consists of a bi-directional Long Short-Term Memory (LSTM) model to make base predictions</a:t>
            </a:r>
          </a:p>
          <a:p>
            <a:r>
              <a:rPr lang="en-US" dirty="0"/>
              <a:t>Natural language processing techniques such cosine similarity &amp; dependency parsing used to improve base predictions</a:t>
            </a:r>
          </a:p>
        </p:txBody>
      </p:sp>
    </p:spTree>
    <p:extLst>
      <p:ext uri="{BB962C8B-B14F-4D97-AF65-F5344CB8AC3E}">
        <p14:creationId xmlns:p14="http://schemas.microsoft.com/office/powerpoint/2010/main" val="576422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AC2480A-7CE2-F944-85FA-44EFCA3D0D6F}"/>
              </a:ext>
            </a:extLst>
          </p:cNvPr>
          <p:cNvPicPr>
            <a:picLocks noChangeAspect="1"/>
          </p:cNvPicPr>
          <p:nvPr/>
        </p:nvPicPr>
        <p:blipFill>
          <a:blip r:embed="rId3"/>
          <a:stretch>
            <a:fillRect/>
          </a:stretch>
        </p:blipFill>
        <p:spPr>
          <a:xfrm>
            <a:off x="4643718" y="1803716"/>
            <a:ext cx="7047644" cy="3852021"/>
          </a:xfrm>
          <a:prstGeom prst="rect">
            <a:avLst/>
          </a:prstGeom>
        </p:spPr>
      </p:pic>
      <p:sp>
        <p:nvSpPr>
          <p:cNvPr id="2" name="Title 1">
            <a:extLst>
              <a:ext uri="{FF2B5EF4-FFF2-40B4-BE49-F238E27FC236}">
                <a16:creationId xmlns:a16="http://schemas.microsoft.com/office/drawing/2014/main" id="{03DB7D2D-23C9-1F48-BCD6-39C1639D46AD}"/>
              </a:ext>
            </a:extLst>
          </p:cNvPr>
          <p:cNvSpPr>
            <a:spLocks noGrp="1"/>
          </p:cNvSpPr>
          <p:nvPr>
            <p:ph type="title"/>
          </p:nvPr>
        </p:nvSpPr>
        <p:spPr/>
        <p:txBody>
          <a:bodyPr/>
          <a:lstStyle/>
          <a:p>
            <a:r>
              <a:rPr lang="en-US" dirty="0"/>
              <a:t>Methodology overview</a:t>
            </a:r>
          </a:p>
        </p:txBody>
      </p:sp>
      <p:sp>
        <p:nvSpPr>
          <p:cNvPr id="3" name="Content Placeholder 2">
            <a:extLst>
              <a:ext uri="{FF2B5EF4-FFF2-40B4-BE49-F238E27FC236}">
                <a16:creationId xmlns:a16="http://schemas.microsoft.com/office/drawing/2014/main" id="{64057ECA-6802-F140-9636-16699530800D}"/>
              </a:ext>
            </a:extLst>
          </p:cNvPr>
          <p:cNvSpPr>
            <a:spLocks noGrp="1"/>
          </p:cNvSpPr>
          <p:nvPr>
            <p:ph idx="1"/>
          </p:nvPr>
        </p:nvSpPr>
        <p:spPr>
          <a:xfrm>
            <a:off x="1371600" y="1604683"/>
            <a:ext cx="3272118" cy="4262718"/>
          </a:xfrm>
        </p:spPr>
        <p:txBody>
          <a:bodyPr/>
          <a:lstStyle/>
          <a:p>
            <a:r>
              <a:rPr lang="en-US" dirty="0"/>
              <a:t>Drug/ADR detection system consists of a bi-directional Long Short-Term Memory (LSTM) model to make base predictions</a:t>
            </a:r>
          </a:p>
          <a:p>
            <a:r>
              <a:rPr lang="en-US" dirty="0"/>
              <a:t>Natural language processing techniques such as cosine similarity &amp; dependency parsing used to improve base predictions</a:t>
            </a:r>
          </a:p>
        </p:txBody>
      </p:sp>
    </p:spTree>
    <p:extLst>
      <p:ext uri="{BB962C8B-B14F-4D97-AF65-F5344CB8AC3E}">
        <p14:creationId xmlns:p14="http://schemas.microsoft.com/office/powerpoint/2010/main" val="138898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5F9C-33D3-F74E-85DE-E5E9C639DC00}"/>
              </a:ext>
            </a:extLst>
          </p:cNvPr>
          <p:cNvSpPr>
            <a:spLocks noGrp="1"/>
          </p:cNvSpPr>
          <p:nvPr>
            <p:ph type="title"/>
          </p:nvPr>
        </p:nvSpPr>
        <p:spPr/>
        <p:txBody>
          <a:bodyPr/>
          <a:lstStyle/>
          <a:p>
            <a:r>
              <a:rPr lang="en-US" b="1" dirty="0"/>
              <a:t>LSTM model training</a:t>
            </a:r>
            <a:br>
              <a:rPr lang="en-US" dirty="0"/>
            </a:br>
            <a:r>
              <a:rPr lang="en-US" sz="3000" dirty="0"/>
              <a:t>Making base predictions</a:t>
            </a:r>
          </a:p>
        </p:txBody>
      </p:sp>
      <p:sp>
        <p:nvSpPr>
          <p:cNvPr id="3" name="Content Placeholder 2">
            <a:extLst>
              <a:ext uri="{FF2B5EF4-FFF2-40B4-BE49-F238E27FC236}">
                <a16:creationId xmlns:a16="http://schemas.microsoft.com/office/drawing/2014/main" id="{39D68C38-0364-DF4E-882D-611708C5ED1F}"/>
              </a:ext>
            </a:extLst>
          </p:cNvPr>
          <p:cNvSpPr>
            <a:spLocks noGrp="1"/>
          </p:cNvSpPr>
          <p:nvPr>
            <p:ph idx="1"/>
          </p:nvPr>
        </p:nvSpPr>
        <p:spPr>
          <a:xfrm>
            <a:off x="1371600" y="2026024"/>
            <a:ext cx="3469341" cy="3841376"/>
          </a:xfrm>
        </p:spPr>
        <p:txBody>
          <a:bodyPr/>
          <a:lstStyle/>
          <a:p>
            <a:r>
              <a:rPr lang="en-US" dirty="0"/>
              <a:t>Bi-directional LSTM model implemented using FLAIR</a:t>
            </a:r>
          </a:p>
          <a:p>
            <a:r>
              <a:rPr lang="en-US" dirty="0"/>
              <a:t>HuggingFace datasets (train, validation, test) sequence tagged with IOB tags</a:t>
            </a:r>
          </a:p>
          <a:p>
            <a:pPr lvl="1"/>
            <a:r>
              <a:rPr lang="en-US" i="0" dirty="0"/>
              <a:t>B-DRUG, I-DRUG, B-ADR, I-ADR, O</a:t>
            </a:r>
          </a:p>
          <a:p>
            <a:r>
              <a:rPr lang="en-US" dirty="0"/>
              <a:t>Trained with batch size of 3, 10 epochs</a:t>
            </a:r>
            <a:endParaRPr lang="en-US" i="0" dirty="0"/>
          </a:p>
          <a:p>
            <a:endParaRPr lang="en-US" dirty="0"/>
          </a:p>
        </p:txBody>
      </p:sp>
      <p:pic>
        <p:nvPicPr>
          <p:cNvPr id="5" name="Picture 4">
            <a:extLst>
              <a:ext uri="{FF2B5EF4-FFF2-40B4-BE49-F238E27FC236}">
                <a16:creationId xmlns:a16="http://schemas.microsoft.com/office/drawing/2014/main" id="{8276A4CD-0D6F-E347-9CED-48748B2D5FC9}"/>
              </a:ext>
            </a:extLst>
          </p:cNvPr>
          <p:cNvPicPr>
            <a:picLocks noChangeAspect="1"/>
          </p:cNvPicPr>
          <p:nvPr/>
        </p:nvPicPr>
        <p:blipFill>
          <a:blip r:embed="rId3"/>
          <a:stretch>
            <a:fillRect/>
          </a:stretch>
        </p:blipFill>
        <p:spPr>
          <a:xfrm>
            <a:off x="6999464" y="2271387"/>
            <a:ext cx="1580257" cy="2755574"/>
          </a:xfrm>
          <a:prstGeom prst="rect">
            <a:avLst/>
          </a:prstGeom>
          <a:ln>
            <a:solidFill>
              <a:schemeClr val="tx1"/>
            </a:solidFill>
          </a:ln>
        </p:spPr>
      </p:pic>
      <p:sp>
        <p:nvSpPr>
          <p:cNvPr id="6" name="TextBox 5">
            <a:extLst>
              <a:ext uri="{FF2B5EF4-FFF2-40B4-BE49-F238E27FC236}">
                <a16:creationId xmlns:a16="http://schemas.microsoft.com/office/drawing/2014/main" id="{982297D3-A5DF-A142-B7CE-FCB9180FB4F7}"/>
              </a:ext>
            </a:extLst>
          </p:cNvPr>
          <p:cNvSpPr txBox="1"/>
          <p:nvPr/>
        </p:nvSpPr>
        <p:spPr>
          <a:xfrm>
            <a:off x="7825452" y="3854824"/>
            <a:ext cx="431042" cy="197223"/>
          </a:xfrm>
          <a:prstGeom prst="rect">
            <a:avLst/>
          </a:prstGeom>
          <a:noFill/>
          <a:ln>
            <a:solidFill>
              <a:srgbClr val="FF0000"/>
            </a:solidFill>
          </a:ln>
        </p:spPr>
        <p:txBody>
          <a:bodyPr wrap="square" rtlCol="0">
            <a:spAutoFit/>
          </a:bodyPr>
          <a:lstStyle/>
          <a:p>
            <a:endParaRPr lang="en-US" sz="700" dirty="0"/>
          </a:p>
        </p:txBody>
      </p:sp>
      <p:sp>
        <p:nvSpPr>
          <p:cNvPr id="7" name="TextBox 6">
            <a:extLst>
              <a:ext uri="{FF2B5EF4-FFF2-40B4-BE49-F238E27FC236}">
                <a16:creationId xmlns:a16="http://schemas.microsoft.com/office/drawing/2014/main" id="{43079B7E-4049-F94E-A08C-855FC4F0D7F3}"/>
              </a:ext>
            </a:extLst>
          </p:cNvPr>
          <p:cNvSpPr txBox="1"/>
          <p:nvPr/>
        </p:nvSpPr>
        <p:spPr>
          <a:xfrm>
            <a:off x="8040973" y="4053122"/>
            <a:ext cx="431042" cy="197223"/>
          </a:xfrm>
          <a:prstGeom prst="rect">
            <a:avLst/>
          </a:prstGeom>
          <a:noFill/>
          <a:ln>
            <a:solidFill>
              <a:srgbClr val="FF0000"/>
            </a:solidFill>
          </a:ln>
        </p:spPr>
        <p:txBody>
          <a:bodyPr wrap="square" rtlCol="0">
            <a:spAutoFit/>
          </a:bodyPr>
          <a:lstStyle/>
          <a:p>
            <a:endParaRPr lang="en-US" sz="700" dirty="0"/>
          </a:p>
        </p:txBody>
      </p:sp>
      <p:sp>
        <p:nvSpPr>
          <p:cNvPr id="8" name="TextBox 7">
            <a:extLst>
              <a:ext uri="{FF2B5EF4-FFF2-40B4-BE49-F238E27FC236}">
                <a16:creationId xmlns:a16="http://schemas.microsoft.com/office/drawing/2014/main" id="{1B72FB52-4EE4-6E4D-9497-CD13BAEE82E5}"/>
              </a:ext>
            </a:extLst>
          </p:cNvPr>
          <p:cNvSpPr txBox="1"/>
          <p:nvPr/>
        </p:nvSpPr>
        <p:spPr>
          <a:xfrm>
            <a:off x="7600965" y="4371322"/>
            <a:ext cx="494163" cy="197223"/>
          </a:xfrm>
          <a:prstGeom prst="rect">
            <a:avLst/>
          </a:prstGeom>
          <a:noFill/>
          <a:ln>
            <a:solidFill>
              <a:srgbClr val="FF0000"/>
            </a:solidFill>
          </a:ln>
        </p:spPr>
        <p:txBody>
          <a:bodyPr wrap="square" rtlCol="0">
            <a:spAutoFit/>
          </a:bodyPr>
          <a:lstStyle/>
          <a:p>
            <a:endParaRPr lang="en-US" sz="700" dirty="0"/>
          </a:p>
        </p:txBody>
      </p:sp>
      <p:sp>
        <p:nvSpPr>
          <p:cNvPr id="9" name="TextBox 8">
            <a:extLst>
              <a:ext uri="{FF2B5EF4-FFF2-40B4-BE49-F238E27FC236}">
                <a16:creationId xmlns:a16="http://schemas.microsoft.com/office/drawing/2014/main" id="{430C9621-8B70-DD4A-B9C7-34323BDEDC06}"/>
              </a:ext>
            </a:extLst>
          </p:cNvPr>
          <p:cNvSpPr txBox="1"/>
          <p:nvPr/>
        </p:nvSpPr>
        <p:spPr>
          <a:xfrm>
            <a:off x="7448567" y="4572984"/>
            <a:ext cx="494163" cy="197223"/>
          </a:xfrm>
          <a:prstGeom prst="rect">
            <a:avLst/>
          </a:prstGeom>
          <a:noFill/>
          <a:ln>
            <a:solidFill>
              <a:srgbClr val="FF0000"/>
            </a:solidFill>
          </a:ln>
        </p:spPr>
        <p:txBody>
          <a:bodyPr wrap="square" rtlCol="0">
            <a:spAutoFit/>
          </a:bodyPr>
          <a:lstStyle/>
          <a:p>
            <a:endParaRPr lang="en-US" sz="700" dirty="0"/>
          </a:p>
        </p:txBody>
      </p:sp>
      <p:cxnSp>
        <p:nvCxnSpPr>
          <p:cNvPr id="12" name="Straight Arrow Connector 11">
            <a:extLst>
              <a:ext uri="{FF2B5EF4-FFF2-40B4-BE49-F238E27FC236}">
                <a16:creationId xmlns:a16="http://schemas.microsoft.com/office/drawing/2014/main" id="{689EB7F8-C53A-B843-B2C3-5F14BC31AD92}"/>
              </a:ext>
            </a:extLst>
          </p:cNvPr>
          <p:cNvCxnSpPr/>
          <p:nvPr/>
        </p:nvCxnSpPr>
        <p:spPr>
          <a:xfrm flipH="1">
            <a:off x="8391462" y="3944471"/>
            <a:ext cx="37651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B679C55-7C62-6943-864F-87DEDAFFC057}"/>
              </a:ext>
            </a:extLst>
          </p:cNvPr>
          <p:cNvCxnSpPr>
            <a:cxnSpLocks/>
          </p:cNvCxnSpPr>
          <p:nvPr/>
        </p:nvCxnSpPr>
        <p:spPr>
          <a:xfrm flipH="1">
            <a:off x="8193741" y="4482353"/>
            <a:ext cx="57423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78DD39D-A381-AA42-A8C0-C5431F95EF77}"/>
              </a:ext>
            </a:extLst>
          </p:cNvPr>
          <p:cNvSpPr txBox="1"/>
          <p:nvPr/>
        </p:nvSpPr>
        <p:spPr>
          <a:xfrm>
            <a:off x="8751523" y="3811981"/>
            <a:ext cx="1308371" cy="276999"/>
          </a:xfrm>
          <a:prstGeom prst="rect">
            <a:avLst/>
          </a:prstGeom>
          <a:noFill/>
        </p:spPr>
        <p:txBody>
          <a:bodyPr wrap="none" rtlCol="0">
            <a:spAutoFit/>
          </a:bodyPr>
          <a:lstStyle/>
          <a:p>
            <a:r>
              <a:rPr lang="en-US" sz="1200" dirty="0">
                <a:solidFill>
                  <a:srgbClr val="FF0000"/>
                </a:solidFill>
              </a:rPr>
              <a:t>Beginning of ADR</a:t>
            </a:r>
          </a:p>
        </p:txBody>
      </p:sp>
      <p:sp>
        <p:nvSpPr>
          <p:cNvPr id="16" name="TextBox 15">
            <a:extLst>
              <a:ext uri="{FF2B5EF4-FFF2-40B4-BE49-F238E27FC236}">
                <a16:creationId xmlns:a16="http://schemas.microsoft.com/office/drawing/2014/main" id="{5F28F0C5-113F-924D-A8EB-68E45196909C}"/>
              </a:ext>
            </a:extLst>
          </p:cNvPr>
          <p:cNvSpPr txBox="1"/>
          <p:nvPr/>
        </p:nvSpPr>
        <p:spPr>
          <a:xfrm>
            <a:off x="8751523" y="4371322"/>
            <a:ext cx="1342034" cy="276999"/>
          </a:xfrm>
          <a:prstGeom prst="rect">
            <a:avLst/>
          </a:prstGeom>
          <a:noFill/>
        </p:spPr>
        <p:txBody>
          <a:bodyPr wrap="none" rtlCol="0">
            <a:spAutoFit/>
          </a:bodyPr>
          <a:lstStyle/>
          <a:p>
            <a:r>
              <a:rPr lang="en-US" sz="1200" dirty="0">
                <a:solidFill>
                  <a:srgbClr val="FF0000"/>
                </a:solidFill>
              </a:rPr>
              <a:t>Beginning of Drug</a:t>
            </a:r>
          </a:p>
        </p:txBody>
      </p:sp>
    </p:spTree>
    <p:extLst>
      <p:ext uri="{BB962C8B-B14F-4D97-AF65-F5344CB8AC3E}">
        <p14:creationId xmlns:p14="http://schemas.microsoft.com/office/powerpoint/2010/main" val="3026481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5F9C-33D3-F74E-85DE-E5E9C639DC00}"/>
              </a:ext>
            </a:extLst>
          </p:cNvPr>
          <p:cNvSpPr>
            <a:spLocks noGrp="1"/>
          </p:cNvSpPr>
          <p:nvPr>
            <p:ph type="title"/>
          </p:nvPr>
        </p:nvSpPr>
        <p:spPr/>
        <p:txBody>
          <a:bodyPr/>
          <a:lstStyle/>
          <a:p>
            <a:r>
              <a:rPr lang="en-US" b="1" dirty="0"/>
              <a:t>LSTM model training</a:t>
            </a:r>
            <a:br>
              <a:rPr lang="en-US" dirty="0"/>
            </a:br>
            <a:r>
              <a:rPr lang="en-US" sz="3000" dirty="0"/>
              <a:t>Making base predictions</a:t>
            </a:r>
          </a:p>
        </p:txBody>
      </p:sp>
      <p:sp>
        <p:nvSpPr>
          <p:cNvPr id="3" name="Content Placeholder 2">
            <a:extLst>
              <a:ext uri="{FF2B5EF4-FFF2-40B4-BE49-F238E27FC236}">
                <a16:creationId xmlns:a16="http://schemas.microsoft.com/office/drawing/2014/main" id="{39D68C38-0364-DF4E-882D-611708C5ED1F}"/>
              </a:ext>
            </a:extLst>
          </p:cNvPr>
          <p:cNvSpPr>
            <a:spLocks noGrp="1"/>
          </p:cNvSpPr>
          <p:nvPr>
            <p:ph idx="1"/>
          </p:nvPr>
        </p:nvSpPr>
        <p:spPr>
          <a:xfrm>
            <a:off x="1371600" y="2026024"/>
            <a:ext cx="3469341" cy="3841376"/>
          </a:xfrm>
        </p:spPr>
        <p:txBody>
          <a:bodyPr/>
          <a:lstStyle/>
          <a:p>
            <a:r>
              <a:rPr lang="en-US" dirty="0"/>
              <a:t>Bi-directional LSTM model implemented using FLAIR</a:t>
            </a:r>
          </a:p>
          <a:p>
            <a:r>
              <a:rPr lang="en-US" dirty="0"/>
              <a:t>HuggingFace datasets (train, validation, test) sequence tagged with IOB tags</a:t>
            </a:r>
          </a:p>
          <a:p>
            <a:pPr lvl="1"/>
            <a:r>
              <a:rPr lang="en-US" i="0" dirty="0"/>
              <a:t>B-DRUG, I-DRUG, B-ADR, I-ADR, O</a:t>
            </a:r>
          </a:p>
          <a:p>
            <a:r>
              <a:rPr lang="en-US" dirty="0"/>
              <a:t>Trained with batch size of 3, 10 epochs</a:t>
            </a:r>
            <a:endParaRPr lang="en-US" i="0" dirty="0"/>
          </a:p>
          <a:p>
            <a:endParaRPr lang="en-US" dirty="0"/>
          </a:p>
        </p:txBody>
      </p:sp>
      <p:pic>
        <p:nvPicPr>
          <p:cNvPr id="5" name="Picture 4">
            <a:extLst>
              <a:ext uri="{FF2B5EF4-FFF2-40B4-BE49-F238E27FC236}">
                <a16:creationId xmlns:a16="http://schemas.microsoft.com/office/drawing/2014/main" id="{8276A4CD-0D6F-E347-9CED-48748B2D5FC9}"/>
              </a:ext>
            </a:extLst>
          </p:cNvPr>
          <p:cNvPicPr>
            <a:picLocks noChangeAspect="1"/>
          </p:cNvPicPr>
          <p:nvPr/>
        </p:nvPicPr>
        <p:blipFill>
          <a:blip r:embed="rId3"/>
          <a:stretch>
            <a:fillRect/>
          </a:stretch>
        </p:blipFill>
        <p:spPr>
          <a:xfrm>
            <a:off x="6999464" y="2271387"/>
            <a:ext cx="1580257" cy="2755574"/>
          </a:xfrm>
          <a:prstGeom prst="rect">
            <a:avLst/>
          </a:prstGeom>
          <a:ln>
            <a:solidFill>
              <a:schemeClr val="tx1"/>
            </a:solidFill>
          </a:ln>
        </p:spPr>
      </p:pic>
      <p:sp>
        <p:nvSpPr>
          <p:cNvPr id="6" name="TextBox 5">
            <a:extLst>
              <a:ext uri="{FF2B5EF4-FFF2-40B4-BE49-F238E27FC236}">
                <a16:creationId xmlns:a16="http://schemas.microsoft.com/office/drawing/2014/main" id="{982297D3-A5DF-A142-B7CE-FCB9180FB4F7}"/>
              </a:ext>
            </a:extLst>
          </p:cNvPr>
          <p:cNvSpPr txBox="1"/>
          <p:nvPr/>
        </p:nvSpPr>
        <p:spPr>
          <a:xfrm>
            <a:off x="7825452" y="3854824"/>
            <a:ext cx="431042" cy="197223"/>
          </a:xfrm>
          <a:prstGeom prst="rect">
            <a:avLst/>
          </a:prstGeom>
          <a:noFill/>
          <a:ln>
            <a:solidFill>
              <a:srgbClr val="FF0000"/>
            </a:solidFill>
          </a:ln>
        </p:spPr>
        <p:txBody>
          <a:bodyPr wrap="square" rtlCol="0">
            <a:spAutoFit/>
          </a:bodyPr>
          <a:lstStyle/>
          <a:p>
            <a:endParaRPr lang="en-US" sz="700" dirty="0"/>
          </a:p>
        </p:txBody>
      </p:sp>
      <p:sp>
        <p:nvSpPr>
          <p:cNvPr id="7" name="TextBox 6">
            <a:extLst>
              <a:ext uri="{FF2B5EF4-FFF2-40B4-BE49-F238E27FC236}">
                <a16:creationId xmlns:a16="http://schemas.microsoft.com/office/drawing/2014/main" id="{43079B7E-4049-F94E-A08C-855FC4F0D7F3}"/>
              </a:ext>
            </a:extLst>
          </p:cNvPr>
          <p:cNvSpPr txBox="1"/>
          <p:nvPr/>
        </p:nvSpPr>
        <p:spPr>
          <a:xfrm>
            <a:off x="8040973" y="4053122"/>
            <a:ext cx="431042" cy="197223"/>
          </a:xfrm>
          <a:prstGeom prst="rect">
            <a:avLst/>
          </a:prstGeom>
          <a:noFill/>
          <a:ln>
            <a:solidFill>
              <a:srgbClr val="FF0000"/>
            </a:solidFill>
          </a:ln>
        </p:spPr>
        <p:txBody>
          <a:bodyPr wrap="square" rtlCol="0">
            <a:spAutoFit/>
          </a:bodyPr>
          <a:lstStyle/>
          <a:p>
            <a:endParaRPr lang="en-US" sz="700" dirty="0"/>
          </a:p>
        </p:txBody>
      </p:sp>
      <p:sp>
        <p:nvSpPr>
          <p:cNvPr id="8" name="TextBox 7">
            <a:extLst>
              <a:ext uri="{FF2B5EF4-FFF2-40B4-BE49-F238E27FC236}">
                <a16:creationId xmlns:a16="http://schemas.microsoft.com/office/drawing/2014/main" id="{1B72FB52-4EE4-6E4D-9497-CD13BAEE82E5}"/>
              </a:ext>
            </a:extLst>
          </p:cNvPr>
          <p:cNvSpPr txBox="1"/>
          <p:nvPr/>
        </p:nvSpPr>
        <p:spPr>
          <a:xfrm>
            <a:off x="7600965" y="4371322"/>
            <a:ext cx="494163" cy="197223"/>
          </a:xfrm>
          <a:prstGeom prst="rect">
            <a:avLst/>
          </a:prstGeom>
          <a:noFill/>
          <a:ln>
            <a:solidFill>
              <a:srgbClr val="FF0000"/>
            </a:solidFill>
          </a:ln>
        </p:spPr>
        <p:txBody>
          <a:bodyPr wrap="square" rtlCol="0">
            <a:spAutoFit/>
          </a:bodyPr>
          <a:lstStyle/>
          <a:p>
            <a:endParaRPr lang="en-US" sz="700" dirty="0"/>
          </a:p>
        </p:txBody>
      </p:sp>
      <p:sp>
        <p:nvSpPr>
          <p:cNvPr id="9" name="TextBox 8">
            <a:extLst>
              <a:ext uri="{FF2B5EF4-FFF2-40B4-BE49-F238E27FC236}">
                <a16:creationId xmlns:a16="http://schemas.microsoft.com/office/drawing/2014/main" id="{430C9621-8B70-DD4A-B9C7-34323BDEDC06}"/>
              </a:ext>
            </a:extLst>
          </p:cNvPr>
          <p:cNvSpPr txBox="1"/>
          <p:nvPr/>
        </p:nvSpPr>
        <p:spPr>
          <a:xfrm>
            <a:off x="7448567" y="4572984"/>
            <a:ext cx="494163" cy="197223"/>
          </a:xfrm>
          <a:prstGeom prst="rect">
            <a:avLst/>
          </a:prstGeom>
          <a:noFill/>
          <a:ln>
            <a:solidFill>
              <a:srgbClr val="FF0000"/>
            </a:solidFill>
          </a:ln>
        </p:spPr>
        <p:txBody>
          <a:bodyPr wrap="square" rtlCol="0">
            <a:spAutoFit/>
          </a:bodyPr>
          <a:lstStyle/>
          <a:p>
            <a:endParaRPr lang="en-US" sz="700" dirty="0"/>
          </a:p>
        </p:txBody>
      </p:sp>
      <p:cxnSp>
        <p:nvCxnSpPr>
          <p:cNvPr id="12" name="Straight Arrow Connector 11">
            <a:extLst>
              <a:ext uri="{FF2B5EF4-FFF2-40B4-BE49-F238E27FC236}">
                <a16:creationId xmlns:a16="http://schemas.microsoft.com/office/drawing/2014/main" id="{689EB7F8-C53A-B843-B2C3-5F14BC31AD92}"/>
              </a:ext>
            </a:extLst>
          </p:cNvPr>
          <p:cNvCxnSpPr/>
          <p:nvPr/>
        </p:nvCxnSpPr>
        <p:spPr>
          <a:xfrm flipH="1">
            <a:off x="8499277" y="4139712"/>
            <a:ext cx="37651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B679C55-7C62-6943-864F-87DEDAFFC057}"/>
              </a:ext>
            </a:extLst>
          </p:cNvPr>
          <p:cNvCxnSpPr>
            <a:cxnSpLocks/>
          </p:cNvCxnSpPr>
          <p:nvPr/>
        </p:nvCxnSpPr>
        <p:spPr>
          <a:xfrm flipH="1">
            <a:off x="8095128" y="4671826"/>
            <a:ext cx="75279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78DD39D-A381-AA42-A8C0-C5431F95EF77}"/>
              </a:ext>
            </a:extLst>
          </p:cNvPr>
          <p:cNvSpPr txBox="1"/>
          <p:nvPr/>
        </p:nvSpPr>
        <p:spPr>
          <a:xfrm>
            <a:off x="8859338" y="4007222"/>
            <a:ext cx="1316322" cy="276999"/>
          </a:xfrm>
          <a:prstGeom prst="rect">
            <a:avLst/>
          </a:prstGeom>
          <a:noFill/>
        </p:spPr>
        <p:txBody>
          <a:bodyPr wrap="none" rtlCol="0">
            <a:spAutoFit/>
          </a:bodyPr>
          <a:lstStyle/>
          <a:p>
            <a:r>
              <a:rPr lang="en-US" sz="1200" dirty="0">
                <a:solidFill>
                  <a:srgbClr val="FF0000"/>
                </a:solidFill>
              </a:rPr>
              <a:t>Inter-span of ADR</a:t>
            </a:r>
          </a:p>
        </p:txBody>
      </p:sp>
      <p:sp>
        <p:nvSpPr>
          <p:cNvPr id="16" name="TextBox 15">
            <a:extLst>
              <a:ext uri="{FF2B5EF4-FFF2-40B4-BE49-F238E27FC236}">
                <a16:creationId xmlns:a16="http://schemas.microsoft.com/office/drawing/2014/main" id="{5F28F0C5-113F-924D-A8EB-68E45196909C}"/>
              </a:ext>
            </a:extLst>
          </p:cNvPr>
          <p:cNvSpPr txBox="1"/>
          <p:nvPr/>
        </p:nvSpPr>
        <p:spPr>
          <a:xfrm>
            <a:off x="8831469" y="4560795"/>
            <a:ext cx="1349985" cy="276999"/>
          </a:xfrm>
          <a:prstGeom prst="rect">
            <a:avLst/>
          </a:prstGeom>
          <a:noFill/>
        </p:spPr>
        <p:txBody>
          <a:bodyPr wrap="none" rtlCol="0">
            <a:spAutoFit/>
          </a:bodyPr>
          <a:lstStyle/>
          <a:p>
            <a:r>
              <a:rPr lang="en-US" sz="1200" dirty="0">
                <a:solidFill>
                  <a:srgbClr val="FF0000"/>
                </a:solidFill>
              </a:rPr>
              <a:t>Inter-span of Drug</a:t>
            </a:r>
          </a:p>
        </p:txBody>
      </p:sp>
    </p:spTree>
    <p:extLst>
      <p:ext uri="{BB962C8B-B14F-4D97-AF65-F5344CB8AC3E}">
        <p14:creationId xmlns:p14="http://schemas.microsoft.com/office/powerpoint/2010/main" val="31322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5F9C-33D3-F74E-85DE-E5E9C639DC00}"/>
              </a:ext>
            </a:extLst>
          </p:cNvPr>
          <p:cNvSpPr>
            <a:spLocks noGrp="1"/>
          </p:cNvSpPr>
          <p:nvPr>
            <p:ph type="title"/>
          </p:nvPr>
        </p:nvSpPr>
        <p:spPr/>
        <p:txBody>
          <a:bodyPr/>
          <a:lstStyle/>
          <a:p>
            <a:r>
              <a:rPr lang="en-US" b="1" dirty="0"/>
              <a:t>LSTM model training</a:t>
            </a:r>
            <a:br>
              <a:rPr lang="en-US" dirty="0"/>
            </a:br>
            <a:r>
              <a:rPr lang="en-US" sz="3000" dirty="0"/>
              <a:t>Making base predictions</a:t>
            </a:r>
          </a:p>
        </p:txBody>
      </p:sp>
      <p:sp>
        <p:nvSpPr>
          <p:cNvPr id="3" name="Content Placeholder 2">
            <a:extLst>
              <a:ext uri="{FF2B5EF4-FFF2-40B4-BE49-F238E27FC236}">
                <a16:creationId xmlns:a16="http://schemas.microsoft.com/office/drawing/2014/main" id="{39D68C38-0364-DF4E-882D-611708C5ED1F}"/>
              </a:ext>
            </a:extLst>
          </p:cNvPr>
          <p:cNvSpPr>
            <a:spLocks noGrp="1"/>
          </p:cNvSpPr>
          <p:nvPr>
            <p:ph idx="1"/>
          </p:nvPr>
        </p:nvSpPr>
        <p:spPr>
          <a:xfrm>
            <a:off x="1371600" y="2026024"/>
            <a:ext cx="3469341" cy="3841376"/>
          </a:xfrm>
        </p:spPr>
        <p:txBody>
          <a:bodyPr/>
          <a:lstStyle/>
          <a:p>
            <a:r>
              <a:rPr lang="en-US" dirty="0"/>
              <a:t>Bi-directional LSTM model implemented using FLAIR</a:t>
            </a:r>
          </a:p>
          <a:p>
            <a:r>
              <a:rPr lang="en-US" dirty="0"/>
              <a:t>HuggingFace datasets (train, validation, test) sequence tagged with IOB tags</a:t>
            </a:r>
          </a:p>
          <a:p>
            <a:pPr lvl="1"/>
            <a:r>
              <a:rPr lang="en-US" i="0" dirty="0"/>
              <a:t>B-DRUG, I-DRUG, B-ADR, I-ADR, O</a:t>
            </a:r>
          </a:p>
          <a:p>
            <a:r>
              <a:rPr lang="en-US" dirty="0"/>
              <a:t>Trained with batch size of 3, 10 epochs</a:t>
            </a:r>
            <a:endParaRPr lang="en-US" i="0" dirty="0"/>
          </a:p>
          <a:p>
            <a:endParaRPr lang="en-US" dirty="0"/>
          </a:p>
        </p:txBody>
      </p:sp>
      <p:pic>
        <p:nvPicPr>
          <p:cNvPr id="5" name="Picture 4">
            <a:extLst>
              <a:ext uri="{FF2B5EF4-FFF2-40B4-BE49-F238E27FC236}">
                <a16:creationId xmlns:a16="http://schemas.microsoft.com/office/drawing/2014/main" id="{8276A4CD-0D6F-E347-9CED-48748B2D5FC9}"/>
              </a:ext>
            </a:extLst>
          </p:cNvPr>
          <p:cNvPicPr>
            <a:picLocks noChangeAspect="1"/>
          </p:cNvPicPr>
          <p:nvPr/>
        </p:nvPicPr>
        <p:blipFill>
          <a:blip r:embed="rId3"/>
          <a:stretch>
            <a:fillRect/>
          </a:stretch>
        </p:blipFill>
        <p:spPr>
          <a:xfrm>
            <a:off x="6999464" y="2271387"/>
            <a:ext cx="1580257" cy="2755574"/>
          </a:xfrm>
          <a:prstGeom prst="rect">
            <a:avLst/>
          </a:prstGeom>
          <a:ln>
            <a:solidFill>
              <a:schemeClr val="tx1"/>
            </a:solidFill>
          </a:ln>
        </p:spPr>
      </p:pic>
      <p:sp>
        <p:nvSpPr>
          <p:cNvPr id="6" name="TextBox 5">
            <a:extLst>
              <a:ext uri="{FF2B5EF4-FFF2-40B4-BE49-F238E27FC236}">
                <a16:creationId xmlns:a16="http://schemas.microsoft.com/office/drawing/2014/main" id="{982297D3-A5DF-A142-B7CE-FCB9180FB4F7}"/>
              </a:ext>
            </a:extLst>
          </p:cNvPr>
          <p:cNvSpPr txBox="1"/>
          <p:nvPr/>
        </p:nvSpPr>
        <p:spPr>
          <a:xfrm>
            <a:off x="7825452" y="3854824"/>
            <a:ext cx="431042" cy="197223"/>
          </a:xfrm>
          <a:prstGeom prst="rect">
            <a:avLst/>
          </a:prstGeom>
          <a:noFill/>
          <a:ln>
            <a:solidFill>
              <a:srgbClr val="FF0000"/>
            </a:solidFill>
          </a:ln>
        </p:spPr>
        <p:txBody>
          <a:bodyPr wrap="square" rtlCol="0">
            <a:spAutoFit/>
          </a:bodyPr>
          <a:lstStyle/>
          <a:p>
            <a:endParaRPr lang="en-US" sz="700" dirty="0"/>
          </a:p>
        </p:txBody>
      </p:sp>
      <p:sp>
        <p:nvSpPr>
          <p:cNvPr id="7" name="TextBox 6">
            <a:extLst>
              <a:ext uri="{FF2B5EF4-FFF2-40B4-BE49-F238E27FC236}">
                <a16:creationId xmlns:a16="http://schemas.microsoft.com/office/drawing/2014/main" id="{43079B7E-4049-F94E-A08C-855FC4F0D7F3}"/>
              </a:ext>
            </a:extLst>
          </p:cNvPr>
          <p:cNvSpPr txBox="1"/>
          <p:nvPr/>
        </p:nvSpPr>
        <p:spPr>
          <a:xfrm>
            <a:off x="8040973" y="4053122"/>
            <a:ext cx="431042" cy="197223"/>
          </a:xfrm>
          <a:prstGeom prst="rect">
            <a:avLst/>
          </a:prstGeom>
          <a:noFill/>
          <a:ln>
            <a:solidFill>
              <a:srgbClr val="FF0000"/>
            </a:solidFill>
          </a:ln>
        </p:spPr>
        <p:txBody>
          <a:bodyPr wrap="square" rtlCol="0">
            <a:spAutoFit/>
          </a:bodyPr>
          <a:lstStyle/>
          <a:p>
            <a:endParaRPr lang="en-US" sz="700" dirty="0"/>
          </a:p>
        </p:txBody>
      </p:sp>
      <p:sp>
        <p:nvSpPr>
          <p:cNvPr id="8" name="TextBox 7">
            <a:extLst>
              <a:ext uri="{FF2B5EF4-FFF2-40B4-BE49-F238E27FC236}">
                <a16:creationId xmlns:a16="http://schemas.microsoft.com/office/drawing/2014/main" id="{1B72FB52-4EE4-6E4D-9497-CD13BAEE82E5}"/>
              </a:ext>
            </a:extLst>
          </p:cNvPr>
          <p:cNvSpPr txBox="1"/>
          <p:nvPr/>
        </p:nvSpPr>
        <p:spPr>
          <a:xfrm>
            <a:off x="7600965" y="4371322"/>
            <a:ext cx="494163" cy="197223"/>
          </a:xfrm>
          <a:prstGeom prst="rect">
            <a:avLst/>
          </a:prstGeom>
          <a:noFill/>
          <a:ln>
            <a:solidFill>
              <a:srgbClr val="FF0000"/>
            </a:solidFill>
          </a:ln>
        </p:spPr>
        <p:txBody>
          <a:bodyPr wrap="square" rtlCol="0">
            <a:spAutoFit/>
          </a:bodyPr>
          <a:lstStyle/>
          <a:p>
            <a:endParaRPr lang="en-US" sz="700" dirty="0"/>
          </a:p>
        </p:txBody>
      </p:sp>
      <p:sp>
        <p:nvSpPr>
          <p:cNvPr id="9" name="TextBox 8">
            <a:extLst>
              <a:ext uri="{FF2B5EF4-FFF2-40B4-BE49-F238E27FC236}">
                <a16:creationId xmlns:a16="http://schemas.microsoft.com/office/drawing/2014/main" id="{430C9621-8B70-DD4A-B9C7-34323BDEDC06}"/>
              </a:ext>
            </a:extLst>
          </p:cNvPr>
          <p:cNvSpPr txBox="1"/>
          <p:nvPr/>
        </p:nvSpPr>
        <p:spPr>
          <a:xfrm>
            <a:off x="7448567" y="4572984"/>
            <a:ext cx="494163" cy="197223"/>
          </a:xfrm>
          <a:prstGeom prst="rect">
            <a:avLst/>
          </a:prstGeom>
          <a:noFill/>
          <a:ln>
            <a:solidFill>
              <a:srgbClr val="FF0000"/>
            </a:solidFill>
          </a:ln>
        </p:spPr>
        <p:txBody>
          <a:bodyPr wrap="square" rtlCol="0">
            <a:spAutoFit/>
          </a:bodyPr>
          <a:lstStyle/>
          <a:p>
            <a:endParaRPr lang="en-US" sz="700" dirty="0"/>
          </a:p>
        </p:txBody>
      </p:sp>
      <p:sp>
        <p:nvSpPr>
          <p:cNvPr id="10" name="TextBox 9">
            <a:extLst>
              <a:ext uri="{FF2B5EF4-FFF2-40B4-BE49-F238E27FC236}">
                <a16:creationId xmlns:a16="http://schemas.microsoft.com/office/drawing/2014/main" id="{392AD453-C9E2-3D4E-90EF-AA93E82BF931}"/>
              </a:ext>
            </a:extLst>
          </p:cNvPr>
          <p:cNvSpPr txBox="1"/>
          <p:nvPr/>
        </p:nvSpPr>
        <p:spPr>
          <a:xfrm>
            <a:off x="7664086" y="2274747"/>
            <a:ext cx="161366" cy="194001"/>
          </a:xfrm>
          <a:prstGeom prst="rect">
            <a:avLst/>
          </a:prstGeom>
          <a:noFill/>
          <a:ln>
            <a:solidFill>
              <a:srgbClr val="FF0000"/>
            </a:solidFill>
          </a:ln>
        </p:spPr>
        <p:txBody>
          <a:bodyPr wrap="square" rtlCol="0">
            <a:spAutoFit/>
          </a:bodyPr>
          <a:lstStyle/>
          <a:p>
            <a:endParaRPr lang="en-US" sz="700" dirty="0"/>
          </a:p>
        </p:txBody>
      </p:sp>
      <p:cxnSp>
        <p:nvCxnSpPr>
          <p:cNvPr id="11" name="Straight Arrow Connector 10">
            <a:extLst>
              <a:ext uri="{FF2B5EF4-FFF2-40B4-BE49-F238E27FC236}">
                <a16:creationId xmlns:a16="http://schemas.microsoft.com/office/drawing/2014/main" id="{DF067EB9-20B2-1B41-8890-9F0D93661748}"/>
              </a:ext>
            </a:extLst>
          </p:cNvPr>
          <p:cNvCxnSpPr>
            <a:cxnSpLocks/>
          </p:cNvCxnSpPr>
          <p:nvPr/>
        </p:nvCxnSpPr>
        <p:spPr>
          <a:xfrm flipH="1">
            <a:off x="7942730" y="2376982"/>
            <a:ext cx="82525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3D750FF-E74A-CE4D-A1D7-88AF1FE2A340}"/>
              </a:ext>
            </a:extLst>
          </p:cNvPr>
          <p:cNvSpPr txBox="1"/>
          <p:nvPr/>
        </p:nvSpPr>
        <p:spPr>
          <a:xfrm>
            <a:off x="8751523" y="2244492"/>
            <a:ext cx="618374" cy="276999"/>
          </a:xfrm>
          <a:prstGeom prst="rect">
            <a:avLst/>
          </a:prstGeom>
          <a:noFill/>
        </p:spPr>
        <p:txBody>
          <a:bodyPr wrap="none" rtlCol="0">
            <a:spAutoFit/>
          </a:bodyPr>
          <a:lstStyle/>
          <a:p>
            <a:r>
              <a:rPr lang="en-US" sz="1200" dirty="0">
                <a:solidFill>
                  <a:srgbClr val="FF0000"/>
                </a:solidFill>
              </a:rPr>
              <a:t>Others</a:t>
            </a:r>
          </a:p>
        </p:txBody>
      </p:sp>
    </p:spTree>
    <p:extLst>
      <p:ext uri="{BB962C8B-B14F-4D97-AF65-F5344CB8AC3E}">
        <p14:creationId xmlns:p14="http://schemas.microsoft.com/office/powerpoint/2010/main" val="21403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FE79-C80F-7644-A041-BE727F38D311}"/>
              </a:ext>
            </a:extLst>
          </p:cNvPr>
          <p:cNvSpPr>
            <a:spLocks noGrp="1"/>
          </p:cNvSpPr>
          <p:nvPr>
            <p:ph type="title"/>
          </p:nvPr>
        </p:nvSpPr>
        <p:spPr/>
        <p:txBody>
          <a:bodyPr/>
          <a:lstStyle/>
          <a:p>
            <a:r>
              <a:rPr lang="en-US" b="1" dirty="0"/>
              <a:t>Evaluation: LSTM predictions</a:t>
            </a:r>
            <a:br>
              <a:rPr lang="en-US" dirty="0"/>
            </a:br>
            <a:r>
              <a:rPr lang="en-US" sz="3000" dirty="0"/>
              <a:t>Baseline prediction performance</a:t>
            </a:r>
          </a:p>
        </p:txBody>
      </p:sp>
      <p:sp>
        <p:nvSpPr>
          <p:cNvPr id="3" name="Content Placeholder 2">
            <a:extLst>
              <a:ext uri="{FF2B5EF4-FFF2-40B4-BE49-F238E27FC236}">
                <a16:creationId xmlns:a16="http://schemas.microsoft.com/office/drawing/2014/main" id="{B1CEFA16-BED1-B34D-A131-275EAE38F8E2}"/>
              </a:ext>
            </a:extLst>
          </p:cNvPr>
          <p:cNvSpPr>
            <a:spLocks noGrp="1"/>
          </p:cNvSpPr>
          <p:nvPr>
            <p:ph idx="1"/>
          </p:nvPr>
        </p:nvSpPr>
        <p:spPr>
          <a:xfrm>
            <a:off x="1371600" y="2017059"/>
            <a:ext cx="9601200" cy="3850341"/>
          </a:xfrm>
        </p:spPr>
        <p:txBody>
          <a:bodyPr/>
          <a:lstStyle/>
          <a:p>
            <a:r>
              <a:rPr lang="en-US" dirty="0"/>
              <a:t>Reasonable baseline performance given training parameters</a:t>
            </a:r>
          </a:p>
        </p:txBody>
      </p:sp>
      <p:graphicFrame>
        <p:nvGraphicFramePr>
          <p:cNvPr id="4" name="Table 3">
            <a:extLst>
              <a:ext uri="{FF2B5EF4-FFF2-40B4-BE49-F238E27FC236}">
                <a16:creationId xmlns:a16="http://schemas.microsoft.com/office/drawing/2014/main" id="{2D67A16F-2685-1F48-832B-E94027280AA1}"/>
              </a:ext>
            </a:extLst>
          </p:cNvPr>
          <p:cNvGraphicFramePr>
            <a:graphicFrameLocks noGrp="1"/>
          </p:cNvGraphicFramePr>
          <p:nvPr>
            <p:extLst>
              <p:ext uri="{D42A27DB-BD31-4B8C-83A1-F6EECF244321}">
                <p14:modId xmlns:p14="http://schemas.microsoft.com/office/powerpoint/2010/main" val="3415353374"/>
              </p:ext>
            </p:extLst>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Tree>
    <p:extLst>
      <p:ext uri="{BB962C8B-B14F-4D97-AF65-F5344CB8AC3E}">
        <p14:creationId xmlns:p14="http://schemas.microsoft.com/office/powerpoint/2010/main" val="406774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FE79-C80F-7644-A041-BE727F38D311}"/>
              </a:ext>
            </a:extLst>
          </p:cNvPr>
          <p:cNvSpPr>
            <a:spLocks noGrp="1"/>
          </p:cNvSpPr>
          <p:nvPr>
            <p:ph type="title"/>
          </p:nvPr>
        </p:nvSpPr>
        <p:spPr/>
        <p:txBody>
          <a:bodyPr/>
          <a:lstStyle/>
          <a:p>
            <a:r>
              <a:rPr lang="en-US" b="1" dirty="0"/>
              <a:t>Evaluation: LSTM predictions</a:t>
            </a:r>
            <a:br>
              <a:rPr lang="en-US" dirty="0"/>
            </a:br>
            <a:r>
              <a:rPr lang="en-US" sz="3000" dirty="0"/>
              <a:t>Baseline prediction performance</a:t>
            </a:r>
          </a:p>
        </p:txBody>
      </p:sp>
      <p:sp>
        <p:nvSpPr>
          <p:cNvPr id="3" name="Content Placeholder 2">
            <a:extLst>
              <a:ext uri="{FF2B5EF4-FFF2-40B4-BE49-F238E27FC236}">
                <a16:creationId xmlns:a16="http://schemas.microsoft.com/office/drawing/2014/main" id="{B1CEFA16-BED1-B34D-A131-275EAE38F8E2}"/>
              </a:ext>
            </a:extLst>
          </p:cNvPr>
          <p:cNvSpPr>
            <a:spLocks noGrp="1"/>
          </p:cNvSpPr>
          <p:nvPr>
            <p:ph idx="1"/>
          </p:nvPr>
        </p:nvSpPr>
        <p:spPr>
          <a:xfrm>
            <a:off x="1371600" y="2017059"/>
            <a:ext cx="9601200" cy="3850341"/>
          </a:xfrm>
        </p:spPr>
        <p:txBody>
          <a:bodyPr/>
          <a:lstStyle/>
          <a:p>
            <a:r>
              <a:rPr lang="en-US" dirty="0"/>
              <a:t>Reasonable baseline performance given training parameters</a:t>
            </a:r>
          </a:p>
        </p:txBody>
      </p:sp>
      <p:graphicFrame>
        <p:nvGraphicFramePr>
          <p:cNvPr id="4" name="Table 3">
            <a:extLst>
              <a:ext uri="{FF2B5EF4-FFF2-40B4-BE49-F238E27FC236}">
                <a16:creationId xmlns:a16="http://schemas.microsoft.com/office/drawing/2014/main" id="{2D67A16F-2685-1F48-832B-E94027280AA1}"/>
              </a:ext>
            </a:extLst>
          </p:cNvPr>
          <p:cNvGraphicFramePr>
            <a:graphicFrameLocks noGrp="1"/>
          </p:cNvGraphicFramePr>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cxnSp>
        <p:nvCxnSpPr>
          <p:cNvPr id="6" name="Straight Arrow Connector 5">
            <a:extLst>
              <a:ext uri="{FF2B5EF4-FFF2-40B4-BE49-F238E27FC236}">
                <a16:creationId xmlns:a16="http://schemas.microsoft.com/office/drawing/2014/main" id="{EE4B8962-54B9-3C40-B45B-9812F526D788}"/>
              </a:ext>
            </a:extLst>
          </p:cNvPr>
          <p:cNvCxnSpPr/>
          <p:nvPr/>
        </p:nvCxnSpPr>
        <p:spPr>
          <a:xfrm flipH="1">
            <a:off x="10560424" y="4043082"/>
            <a:ext cx="51995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EB39EB4-7DEC-D248-81C1-CD7C1F52796B}"/>
              </a:ext>
            </a:extLst>
          </p:cNvPr>
          <p:cNvSpPr txBox="1"/>
          <p:nvPr/>
        </p:nvSpPr>
        <p:spPr>
          <a:xfrm>
            <a:off x="10560424" y="4061012"/>
            <a:ext cx="1488141" cy="738664"/>
          </a:xfrm>
          <a:prstGeom prst="rect">
            <a:avLst/>
          </a:prstGeom>
          <a:noFill/>
        </p:spPr>
        <p:txBody>
          <a:bodyPr wrap="square" rtlCol="0">
            <a:spAutoFit/>
          </a:bodyPr>
          <a:lstStyle/>
          <a:p>
            <a:r>
              <a:rPr lang="en-US" sz="1400" dirty="0">
                <a:solidFill>
                  <a:srgbClr val="FF0000"/>
                </a:solidFill>
              </a:rPr>
              <a:t>Struggled more with ADR detection</a:t>
            </a:r>
          </a:p>
        </p:txBody>
      </p:sp>
    </p:spTree>
    <p:extLst>
      <p:ext uri="{BB962C8B-B14F-4D97-AF65-F5344CB8AC3E}">
        <p14:creationId xmlns:p14="http://schemas.microsoft.com/office/powerpoint/2010/main" val="1900881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FE79-C80F-7644-A041-BE727F38D311}"/>
              </a:ext>
            </a:extLst>
          </p:cNvPr>
          <p:cNvSpPr>
            <a:spLocks noGrp="1"/>
          </p:cNvSpPr>
          <p:nvPr>
            <p:ph type="title"/>
          </p:nvPr>
        </p:nvSpPr>
        <p:spPr/>
        <p:txBody>
          <a:bodyPr/>
          <a:lstStyle/>
          <a:p>
            <a:r>
              <a:rPr lang="en-US" b="1" dirty="0"/>
              <a:t>Evaluation: LSTM predictions</a:t>
            </a:r>
            <a:br>
              <a:rPr lang="en-US" dirty="0"/>
            </a:br>
            <a:r>
              <a:rPr lang="en-US" sz="3000" dirty="0"/>
              <a:t>Baseline prediction performance</a:t>
            </a:r>
          </a:p>
        </p:txBody>
      </p:sp>
      <p:sp>
        <p:nvSpPr>
          <p:cNvPr id="3" name="Content Placeholder 2">
            <a:extLst>
              <a:ext uri="{FF2B5EF4-FFF2-40B4-BE49-F238E27FC236}">
                <a16:creationId xmlns:a16="http://schemas.microsoft.com/office/drawing/2014/main" id="{B1CEFA16-BED1-B34D-A131-275EAE38F8E2}"/>
              </a:ext>
            </a:extLst>
          </p:cNvPr>
          <p:cNvSpPr>
            <a:spLocks noGrp="1"/>
          </p:cNvSpPr>
          <p:nvPr>
            <p:ph idx="1"/>
          </p:nvPr>
        </p:nvSpPr>
        <p:spPr>
          <a:xfrm>
            <a:off x="1371600" y="2017059"/>
            <a:ext cx="9601200" cy="3850341"/>
          </a:xfrm>
        </p:spPr>
        <p:txBody>
          <a:bodyPr/>
          <a:lstStyle/>
          <a:p>
            <a:r>
              <a:rPr lang="en-US" dirty="0"/>
              <a:t>Reasonable baseline performance given training parameters</a:t>
            </a:r>
          </a:p>
        </p:txBody>
      </p:sp>
      <p:graphicFrame>
        <p:nvGraphicFramePr>
          <p:cNvPr id="4" name="Table 3">
            <a:extLst>
              <a:ext uri="{FF2B5EF4-FFF2-40B4-BE49-F238E27FC236}">
                <a16:creationId xmlns:a16="http://schemas.microsoft.com/office/drawing/2014/main" id="{2D67A16F-2685-1F48-832B-E94027280AA1}"/>
              </a:ext>
            </a:extLst>
          </p:cNvPr>
          <p:cNvGraphicFramePr>
            <a:graphicFrameLocks noGrp="1"/>
          </p:cNvGraphicFramePr>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cxnSp>
        <p:nvCxnSpPr>
          <p:cNvPr id="6" name="Straight Arrow Connector 5">
            <a:extLst>
              <a:ext uri="{FF2B5EF4-FFF2-40B4-BE49-F238E27FC236}">
                <a16:creationId xmlns:a16="http://schemas.microsoft.com/office/drawing/2014/main" id="{EE4B8962-54B9-3C40-B45B-9812F526D788}"/>
              </a:ext>
            </a:extLst>
          </p:cNvPr>
          <p:cNvCxnSpPr/>
          <p:nvPr/>
        </p:nvCxnSpPr>
        <p:spPr>
          <a:xfrm flipH="1">
            <a:off x="10560424" y="4043082"/>
            <a:ext cx="51995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EB39EB4-7DEC-D248-81C1-CD7C1F52796B}"/>
              </a:ext>
            </a:extLst>
          </p:cNvPr>
          <p:cNvSpPr txBox="1"/>
          <p:nvPr/>
        </p:nvSpPr>
        <p:spPr>
          <a:xfrm>
            <a:off x="10560424" y="4061012"/>
            <a:ext cx="1488141" cy="738664"/>
          </a:xfrm>
          <a:prstGeom prst="rect">
            <a:avLst/>
          </a:prstGeom>
          <a:noFill/>
        </p:spPr>
        <p:txBody>
          <a:bodyPr wrap="square" rtlCol="0">
            <a:spAutoFit/>
          </a:bodyPr>
          <a:lstStyle/>
          <a:p>
            <a:r>
              <a:rPr lang="en-US" sz="1400" dirty="0">
                <a:solidFill>
                  <a:srgbClr val="FF0000"/>
                </a:solidFill>
              </a:rPr>
              <a:t>Struggled more with ADR detection</a:t>
            </a:r>
          </a:p>
        </p:txBody>
      </p:sp>
      <p:sp>
        <p:nvSpPr>
          <p:cNvPr id="8" name="TextBox 7">
            <a:extLst>
              <a:ext uri="{FF2B5EF4-FFF2-40B4-BE49-F238E27FC236}">
                <a16:creationId xmlns:a16="http://schemas.microsoft.com/office/drawing/2014/main" id="{1FF85C95-C923-BC49-86A8-97F9C85CA476}"/>
              </a:ext>
            </a:extLst>
          </p:cNvPr>
          <p:cNvSpPr txBox="1"/>
          <p:nvPr/>
        </p:nvSpPr>
        <p:spPr>
          <a:xfrm>
            <a:off x="4186518" y="5132954"/>
            <a:ext cx="1362634" cy="738664"/>
          </a:xfrm>
          <a:prstGeom prst="rect">
            <a:avLst/>
          </a:prstGeom>
          <a:noFill/>
        </p:spPr>
        <p:txBody>
          <a:bodyPr wrap="square" rtlCol="0">
            <a:spAutoFit/>
          </a:bodyPr>
          <a:lstStyle/>
          <a:p>
            <a:r>
              <a:rPr lang="en-US" sz="1400" dirty="0">
                <a:solidFill>
                  <a:srgbClr val="FF0000"/>
                </a:solidFill>
              </a:rPr>
              <a:t>Poor performance in false positives</a:t>
            </a:r>
          </a:p>
        </p:txBody>
      </p:sp>
      <p:cxnSp>
        <p:nvCxnSpPr>
          <p:cNvPr id="9" name="Straight Arrow Connector 8">
            <a:extLst>
              <a:ext uri="{FF2B5EF4-FFF2-40B4-BE49-F238E27FC236}">
                <a16:creationId xmlns:a16="http://schemas.microsoft.com/office/drawing/2014/main" id="{A0C9B63D-E8D9-0742-98B6-2AB6BB47D831}"/>
              </a:ext>
            </a:extLst>
          </p:cNvPr>
          <p:cNvCxnSpPr>
            <a:cxnSpLocks/>
          </p:cNvCxnSpPr>
          <p:nvPr/>
        </p:nvCxnSpPr>
        <p:spPr>
          <a:xfrm flipV="1">
            <a:off x="4742329" y="4652681"/>
            <a:ext cx="0" cy="358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303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98AE-B8A0-7E42-A217-46CF2830CA77}"/>
              </a:ext>
            </a:extLst>
          </p:cNvPr>
          <p:cNvSpPr>
            <a:spLocks noGrp="1"/>
          </p:cNvSpPr>
          <p:nvPr>
            <p:ph type="title"/>
          </p:nvPr>
        </p:nvSpPr>
        <p:spPr/>
        <p:txBody>
          <a:bodyPr/>
          <a:lstStyle/>
          <a:p>
            <a:r>
              <a:rPr lang="en-US" b="1" dirty="0"/>
              <a:t>Improving false positives</a:t>
            </a:r>
            <a:br>
              <a:rPr lang="en-US" dirty="0"/>
            </a:br>
            <a:r>
              <a:rPr lang="en-US" sz="3000" dirty="0"/>
              <a:t>Incorporating cosine 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7236C9-9B46-C540-96AE-D3650A8B4407}"/>
                  </a:ext>
                </a:extLst>
              </p:cNvPr>
              <p:cNvSpPr>
                <a:spLocks noGrp="1"/>
              </p:cNvSpPr>
              <p:nvPr>
                <p:ph idx="1"/>
              </p:nvPr>
            </p:nvSpPr>
            <p:spPr>
              <a:xfrm>
                <a:off x="1371600" y="2171700"/>
                <a:ext cx="3971365" cy="3695700"/>
              </a:xfrm>
            </p:spPr>
            <p:txBody>
              <a:bodyPr/>
              <a:lstStyle/>
              <a:p>
                <a:r>
                  <a:rPr lang="en-US" dirty="0"/>
                  <a:t>Cosine similarity measures similarity between vectors that represent drug and ADR</a:t>
                </a:r>
              </a:p>
              <a:p>
                <a:r>
                  <a:rPr lang="en-US" dirty="0"/>
                  <a:t>A fixed threshold can be used to filter out ‘unrelated’ drug and ADR pairs: </a:t>
                </a:r>
                <a14:m>
                  <m:oMath xmlns:m="http://schemas.openxmlformats.org/officeDocument/2006/math">
                    <m:r>
                      <a:rPr lang="en-US" b="0" i="1" smtClean="0">
                        <a:latin typeface="Cambria Math" panose="02040503050406030204" pitchFamily="18" charset="0"/>
                      </a:rPr>
                      <m:t>≤</m:t>
                    </m:r>
                  </m:oMath>
                </a14:m>
                <a:r>
                  <a:rPr lang="en-US" dirty="0"/>
                  <a:t> 0.4</a:t>
                </a:r>
              </a:p>
              <a:p>
                <a:r>
                  <a:rPr lang="en-US" dirty="0"/>
                  <a:t>Use trained LSTM model to make base predictions, use cosine similarity to remove false positives</a:t>
                </a:r>
              </a:p>
            </p:txBody>
          </p:sp>
        </mc:Choice>
        <mc:Fallback xmlns="">
          <p:sp>
            <p:nvSpPr>
              <p:cNvPr id="3" name="Content Placeholder 2">
                <a:extLst>
                  <a:ext uri="{FF2B5EF4-FFF2-40B4-BE49-F238E27FC236}">
                    <a16:creationId xmlns:a16="http://schemas.microsoft.com/office/drawing/2014/main" id="{EA7236C9-9B46-C540-96AE-D3650A8B4407}"/>
                  </a:ext>
                </a:extLst>
              </p:cNvPr>
              <p:cNvSpPr>
                <a:spLocks noGrp="1" noRot="1" noChangeAspect="1" noMove="1" noResize="1" noEditPoints="1" noAdjustHandles="1" noChangeArrowheads="1" noChangeShapeType="1" noTextEdit="1"/>
              </p:cNvSpPr>
              <p:nvPr>
                <p:ph idx="1"/>
              </p:nvPr>
            </p:nvSpPr>
            <p:spPr>
              <a:xfrm>
                <a:off x="1371600" y="2171700"/>
                <a:ext cx="3971365" cy="3695700"/>
              </a:xfrm>
              <a:blipFill>
                <a:blip r:embed="rId3"/>
                <a:stretch>
                  <a:fillRect l="-1597" t="-102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6ED8AA6-5D71-4542-B488-69452CF34779}"/>
              </a:ext>
            </a:extLst>
          </p:cNvPr>
          <p:cNvPicPr>
            <a:picLocks noChangeAspect="1"/>
          </p:cNvPicPr>
          <p:nvPr/>
        </p:nvPicPr>
        <p:blipFill>
          <a:blip r:embed="rId4"/>
          <a:stretch>
            <a:fillRect/>
          </a:stretch>
        </p:blipFill>
        <p:spPr>
          <a:xfrm>
            <a:off x="6283240" y="2103054"/>
            <a:ext cx="5110656" cy="3832992"/>
          </a:xfrm>
          <a:prstGeom prst="rect">
            <a:avLst/>
          </a:prstGeom>
          <a:ln>
            <a:solidFill>
              <a:schemeClr val="tx1"/>
            </a:solidFill>
          </a:ln>
        </p:spPr>
      </p:pic>
      <p:cxnSp>
        <p:nvCxnSpPr>
          <p:cNvPr id="7" name="Straight Arrow Connector 6">
            <a:extLst>
              <a:ext uri="{FF2B5EF4-FFF2-40B4-BE49-F238E27FC236}">
                <a16:creationId xmlns:a16="http://schemas.microsoft.com/office/drawing/2014/main" id="{39FAE951-4089-7B4F-9E41-65230CF60987}"/>
              </a:ext>
            </a:extLst>
          </p:cNvPr>
          <p:cNvCxnSpPr>
            <a:cxnSpLocks/>
          </p:cNvCxnSpPr>
          <p:nvPr/>
        </p:nvCxnSpPr>
        <p:spPr>
          <a:xfrm flipV="1">
            <a:off x="7324164" y="5756751"/>
            <a:ext cx="0" cy="3585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15E9B1-7F2A-A441-959E-80DCAC65A547}"/>
                  </a:ext>
                </a:extLst>
              </p:cNvPr>
              <p:cNvSpPr txBox="1"/>
              <p:nvPr/>
            </p:nvSpPr>
            <p:spPr>
              <a:xfrm>
                <a:off x="6283240" y="6172200"/>
                <a:ext cx="2439414" cy="276999"/>
              </a:xfrm>
              <a:prstGeom prst="rect">
                <a:avLst/>
              </a:prstGeom>
              <a:noFill/>
            </p:spPr>
            <p:txBody>
              <a:bodyPr wrap="square" rtlCol="0">
                <a:spAutoFit/>
              </a:bodyPr>
              <a:lstStyle/>
              <a:p>
                <a:r>
                  <a:rPr lang="en-US" sz="1200" dirty="0">
                    <a:solidFill>
                      <a:srgbClr val="FF0000"/>
                    </a:solidFill>
                  </a:rPr>
                  <a:t>Majority of drug, ADR pairs </a:t>
                </a:r>
                <a14:m>
                  <m:oMath xmlns:m="http://schemas.openxmlformats.org/officeDocument/2006/math">
                    <m:r>
                      <a:rPr lang="en-US" sz="1200" b="0" i="1" smtClean="0">
                        <a:solidFill>
                          <a:srgbClr val="FF0000"/>
                        </a:solidFill>
                        <a:latin typeface="Cambria Math" panose="02040503050406030204" pitchFamily="18" charset="0"/>
                      </a:rPr>
                      <m:t>≥</m:t>
                    </m:r>
                  </m:oMath>
                </a14:m>
                <a:r>
                  <a:rPr lang="en-US" sz="1200" dirty="0">
                    <a:solidFill>
                      <a:srgbClr val="FF0000"/>
                    </a:solidFill>
                  </a:rPr>
                  <a:t> 0.4</a:t>
                </a:r>
              </a:p>
            </p:txBody>
          </p:sp>
        </mc:Choice>
        <mc:Fallback xmlns="">
          <p:sp>
            <p:nvSpPr>
              <p:cNvPr id="8" name="TextBox 7">
                <a:extLst>
                  <a:ext uri="{FF2B5EF4-FFF2-40B4-BE49-F238E27FC236}">
                    <a16:creationId xmlns:a16="http://schemas.microsoft.com/office/drawing/2014/main" id="{F915E9B1-7F2A-A441-959E-80DCAC65A547}"/>
                  </a:ext>
                </a:extLst>
              </p:cNvPr>
              <p:cNvSpPr txBox="1">
                <a:spLocks noRot="1" noChangeAspect="1" noMove="1" noResize="1" noEditPoints="1" noAdjustHandles="1" noChangeArrowheads="1" noChangeShapeType="1" noTextEdit="1"/>
              </p:cNvSpPr>
              <p:nvPr/>
            </p:nvSpPr>
            <p:spPr>
              <a:xfrm>
                <a:off x="6283240" y="6172200"/>
                <a:ext cx="2439414" cy="276999"/>
              </a:xfrm>
              <a:prstGeom prst="rect">
                <a:avLst/>
              </a:prstGeom>
              <a:blipFill>
                <a:blip r:embed="rId5"/>
                <a:stretch>
                  <a:fillRect b="-13043"/>
                </a:stretch>
              </a:blipFill>
            </p:spPr>
            <p:txBody>
              <a:bodyPr/>
              <a:lstStyle/>
              <a:p>
                <a:r>
                  <a:rPr lang="en-US">
                    <a:noFill/>
                  </a:rPr>
                  <a:t> </a:t>
                </a:r>
              </a:p>
            </p:txBody>
          </p:sp>
        </mc:Fallback>
      </mc:AlternateContent>
    </p:spTree>
    <p:extLst>
      <p:ext uri="{BB962C8B-B14F-4D97-AF65-F5344CB8AC3E}">
        <p14:creationId xmlns:p14="http://schemas.microsoft.com/office/powerpoint/2010/main" val="734971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F3FC-8C3E-6045-B9F9-22122EF07CF2}"/>
              </a:ext>
            </a:extLst>
          </p:cNvPr>
          <p:cNvSpPr>
            <a:spLocks noGrp="1"/>
          </p:cNvSpPr>
          <p:nvPr>
            <p:ph type="title"/>
          </p:nvPr>
        </p:nvSpPr>
        <p:spPr/>
        <p:txBody>
          <a:bodyPr/>
          <a:lstStyle/>
          <a:p>
            <a:r>
              <a:rPr lang="en-US" b="1" dirty="0"/>
              <a:t>Evaluation: LSTM + cosine similarity</a:t>
            </a:r>
            <a:br>
              <a:rPr lang="en-US" dirty="0"/>
            </a:br>
            <a:r>
              <a:rPr lang="en-US" sz="3000" dirty="0"/>
              <a:t>Improvement 1 prediction performance</a:t>
            </a:r>
          </a:p>
        </p:txBody>
      </p:sp>
      <p:sp>
        <p:nvSpPr>
          <p:cNvPr id="3" name="Content Placeholder 2">
            <a:extLst>
              <a:ext uri="{FF2B5EF4-FFF2-40B4-BE49-F238E27FC236}">
                <a16:creationId xmlns:a16="http://schemas.microsoft.com/office/drawing/2014/main" id="{966778FB-BFCC-4649-9A55-D39CC368EC14}"/>
              </a:ext>
            </a:extLst>
          </p:cNvPr>
          <p:cNvSpPr>
            <a:spLocks noGrp="1"/>
          </p:cNvSpPr>
          <p:nvPr>
            <p:ph idx="1"/>
          </p:nvPr>
        </p:nvSpPr>
        <p:spPr/>
        <p:txBody>
          <a:bodyPr/>
          <a:lstStyle/>
          <a:p>
            <a:r>
              <a:rPr lang="en-US" dirty="0"/>
              <a:t>Performance results</a:t>
            </a:r>
          </a:p>
        </p:txBody>
      </p:sp>
      <p:graphicFrame>
        <p:nvGraphicFramePr>
          <p:cNvPr id="4" name="Table 3">
            <a:extLst>
              <a:ext uri="{FF2B5EF4-FFF2-40B4-BE49-F238E27FC236}">
                <a16:creationId xmlns:a16="http://schemas.microsoft.com/office/drawing/2014/main" id="{D955F04A-A84E-B34B-983C-E7DE34AD10B1}"/>
              </a:ext>
            </a:extLst>
          </p:cNvPr>
          <p:cNvGraphicFramePr>
            <a:graphicFrameLocks noGrp="1"/>
          </p:cNvGraphicFramePr>
          <p:nvPr>
            <p:extLst>
              <p:ext uri="{D42A27DB-BD31-4B8C-83A1-F6EECF244321}">
                <p14:modId xmlns:p14="http://schemas.microsoft.com/office/powerpoint/2010/main" val="2404537117"/>
              </p:ext>
            </p:extLst>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5" name="TextBox 4">
            <a:extLst>
              <a:ext uri="{FF2B5EF4-FFF2-40B4-BE49-F238E27FC236}">
                <a16:creationId xmlns:a16="http://schemas.microsoft.com/office/drawing/2014/main" id="{53C3E672-A5C3-804E-9ACF-700F655A13E3}"/>
              </a:ext>
            </a:extLst>
          </p:cNvPr>
          <p:cNvSpPr txBox="1"/>
          <p:nvPr/>
        </p:nvSpPr>
        <p:spPr>
          <a:xfrm>
            <a:off x="4276165" y="2904565"/>
            <a:ext cx="2169459" cy="1855694"/>
          </a:xfrm>
          <a:prstGeom prst="rect">
            <a:avLst/>
          </a:prstGeom>
          <a:noFill/>
          <a:ln w="19050">
            <a:solidFill>
              <a:srgbClr val="FF0000"/>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D084C5DB-C2B1-8540-B472-1EC9789E1884}"/>
              </a:ext>
            </a:extLst>
          </p:cNvPr>
          <p:cNvSpPr txBox="1"/>
          <p:nvPr/>
        </p:nvSpPr>
        <p:spPr>
          <a:xfrm>
            <a:off x="4074459" y="4881402"/>
            <a:ext cx="1577788" cy="523220"/>
          </a:xfrm>
          <a:prstGeom prst="rect">
            <a:avLst/>
          </a:prstGeom>
          <a:noFill/>
        </p:spPr>
        <p:txBody>
          <a:bodyPr wrap="square" rtlCol="0">
            <a:spAutoFit/>
          </a:bodyPr>
          <a:lstStyle/>
          <a:p>
            <a:r>
              <a:rPr lang="en-US" sz="1400" dirty="0">
                <a:solidFill>
                  <a:srgbClr val="FF0000"/>
                </a:solidFill>
              </a:rPr>
              <a:t>More drugs correctly detected</a:t>
            </a:r>
          </a:p>
        </p:txBody>
      </p:sp>
    </p:spTree>
    <p:extLst>
      <p:ext uri="{BB962C8B-B14F-4D97-AF65-F5344CB8AC3E}">
        <p14:creationId xmlns:p14="http://schemas.microsoft.com/office/powerpoint/2010/main" val="1952126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F3FC-8C3E-6045-B9F9-22122EF07CF2}"/>
              </a:ext>
            </a:extLst>
          </p:cNvPr>
          <p:cNvSpPr>
            <a:spLocks noGrp="1"/>
          </p:cNvSpPr>
          <p:nvPr>
            <p:ph type="title"/>
          </p:nvPr>
        </p:nvSpPr>
        <p:spPr/>
        <p:txBody>
          <a:bodyPr/>
          <a:lstStyle/>
          <a:p>
            <a:r>
              <a:rPr lang="en-US" b="1" dirty="0"/>
              <a:t>Evaluation: LSTM + cosine similarity</a:t>
            </a:r>
            <a:br>
              <a:rPr lang="en-US" dirty="0"/>
            </a:br>
            <a:r>
              <a:rPr lang="en-US" sz="3000" dirty="0"/>
              <a:t>Improvement 1 prediction performance</a:t>
            </a:r>
          </a:p>
        </p:txBody>
      </p:sp>
      <p:sp>
        <p:nvSpPr>
          <p:cNvPr id="3" name="Content Placeholder 2">
            <a:extLst>
              <a:ext uri="{FF2B5EF4-FFF2-40B4-BE49-F238E27FC236}">
                <a16:creationId xmlns:a16="http://schemas.microsoft.com/office/drawing/2014/main" id="{966778FB-BFCC-4649-9A55-D39CC368EC14}"/>
              </a:ext>
            </a:extLst>
          </p:cNvPr>
          <p:cNvSpPr>
            <a:spLocks noGrp="1"/>
          </p:cNvSpPr>
          <p:nvPr>
            <p:ph idx="1"/>
          </p:nvPr>
        </p:nvSpPr>
        <p:spPr/>
        <p:txBody>
          <a:bodyPr/>
          <a:lstStyle/>
          <a:p>
            <a:r>
              <a:rPr lang="en-US" dirty="0"/>
              <a:t>Better drug detection with cosine similarity incorporated</a:t>
            </a:r>
          </a:p>
        </p:txBody>
      </p:sp>
      <p:graphicFrame>
        <p:nvGraphicFramePr>
          <p:cNvPr id="4" name="Table 3">
            <a:extLst>
              <a:ext uri="{FF2B5EF4-FFF2-40B4-BE49-F238E27FC236}">
                <a16:creationId xmlns:a16="http://schemas.microsoft.com/office/drawing/2014/main" id="{D955F04A-A84E-B34B-983C-E7DE34AD10B1}"/>
              </a:ext>
            </a:extLst>
          </p:cNvPr>
          <p:cNvGraphicFramePr>
            <a:graphicFrameLocks noGrp="1"/>
          </p:cNvGraphicFramePr>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5" name="TextBox 4">
            <a:extLst>
              <a:ext uri="{FF2B5EF4-FFF2-40B4-BE49-F238E27FC236}">
                <a16:creationId xmlns:a16="http://schemas.microsoft.com/office/drawing/2014/main" id="{53C3E672-A5C3-804E-9ACF-700F655A13E3}"/>
              </a:ext>
            </a:extLst>
          </p:cNvPr>
          <p:cNvSpPr txBox="1"/>
          <p:nvPr/>
        </p:nvSpPr>
        <p:spPr>
          <a:xfrm>
            <a:off x="6284259" y="2909146"/>
            <a:ext cx="2169459" cy="1855694"/>
          </a:xfrm>
          <a:prstGeom prst="rect">
            <a:avLst/>
          </a:prstGeom>
          <a:noFill/>
          <a:ln w="19050">
            <a:solidFill>
              <a:srgbClr val="FF0000"/>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D084C5DB-C2B1-8540-B472-1EC9789E1884}"/>
              </a:ext>
            </a:extLst>
          </p:cNvPr>
          <p:cNvSpPr txBox="1"/>
          <p:nvPr/>
        </p:nvSpPr>
        <p:spPr>
          <a:xfrm>
            <a:off x="6284259" y="4835489"/>
            <a:ext cx="1909482" cy="738664"/>
          </a:xfrm>
          <a:prstGeom prst="rect">
            <a:avLst/>
          </a:prstGeom>
          <a:noFill/>
        </p:spPr>
        <p:txBody>
          <a:bodyPr wrap="square" rtlCol="0">
            <a:spAutoFit/>
          </a:bodyPr>
          <a:lstStyle/>
          <a:p>
            <a:r>
              <a:rPr lang="en-US" sz="1400" dirty="0">
                <a:solidFill>
                  <a:srgbClr val="FF0000"/>
                </a:solidFill>
              </a:rPr>
              <a:t>Dip in recall due to discarded predictions without replacement</a:t>
            </a:r>
          </a:p>
        </p:txBody>
      </p:sp>
    </p:spTree>
    <p:extLst>
      <p:ext uri="{BB962C8B-B14F-4D97-AF65-F5344CB8AC3E}">
        <p14:creationId xmlns:p14="http://schemas.microsoft.com/office/powerpoint/2010/main" val="527442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CE4F-CE98-134D-B713-E23FC6D325C8}"/>
              </a:ext>
            </a:extLst>
          </p:cNvPr>
          <p:cNvSpPr>
            <a:spLocks noGrp="1"/>
          </p:cNvSpPr>
          <p:nvPr>
            <p:ph type="title"/>
          </p:nvPr>
        </p:nvSpPr>
        <p:spPr/>
        <p:txBody>
          <a:bodyPr/>
          <a:lstStyle/>
          <a:p>
            <a:r>
              <a:rPr lang="en-US" b="1" dirty="0"/>
              <a:t>Evaluation: LSTM + cosine similarity</a:t>
            </a:r>
            <a:br>
              <a:rPr lang="en-US" dirty="0"/>
            </a:br>
            <a:r>
              <a:rPr lang="en-US" sz="3000" dirty="0"/>
              <a:t>Improvement 1 discussion</a:t>
            </a:r>
          </a:p>
        </p:txBody>
      </p:sp>
      <p:sp>
        <p:nvSpPr>
          <p:cNvPr id="3" name="Content Placeholder 2">
            <a:extLst>
              <a:ext uri="{FF2B5EF4-FFF2-40B4-BE49-F238E27FC236}">
                <a16:creationId xmlns:a16="http://schemas.microsoft.com/office/drawing/2014/main" id="{79AAB8FB-5B6F-A240-96F0-DB763E70B04D}"/>
              </a:ext>
            </a:extLst>
          </p:cNvPr>
          <p:cNvSpPr>
            <a:spLocks noGrp="1"/>
          </p:cNvSpPr>
          <p:nvPr>
            <p:ph idx="1"/>
          </p:nvPr>
        </p:nvSpPr>
        <p:spPr/>
        <p:txBody>
          <a:bodyPr/>
          <a:lstStyle/>
          <a:p>
            <a:r>
              <a:rPr lang="en-US" dirty="0"/>
              <a:t>Performance of cosine similarity dependent on training data used to train word2vec model</a:t>
            </a:r>
          </a:p>
          <a:p>
            <a:pPr lvl="1"/>
            <a:r>
              <a:rPr lang="en-US" i="0" dirty="0"/>
              <a:t>If drug &amp; ADR pair does not appear in the training data, no cosine similarity can be calculated</a:t>
            </a:r>
          </a:p>
          <a:p>
            <a:r>
              <a:rPr lang="en-US" dirty="0"/>
              <a:t>Current performance is limited to HuggingFace training dataset (~4500 text)</a:t>
            </a:r>
          </a:p>
          <a:p>
            <a:pPr marL="0" indent="0">
              <a:buNone/>
            </a:pPr>
            <a:endParaRPr lang="en-US" dirty="0"/>
          </a:p>
        </p:txBody>
      </p:sp>
    </p:spTree>
    <p:extLst>
      <p:ext uri="{BB962C8B-B14F-4D97-AF65-F5344CB8AC3E}">
        <p14:creationId xmlns:p14="http://schemas.microsoft.com/office/powerpoint/2010/main" val="284175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1384-6D75-4247-AC44-18D149BCFCB0}"/>
              </a:ext>
            </a:extLst>
          </p:cNvPr>
          <p:cNvSpPr>
            <a:spLocks noGrp="1"/>
          </p:cNvSpPr>
          <p:nvPr>
            <p:ph type="title"/>
          </p:nvPr>
        </p:nvSpPr>
        <p:spPr/>
        <p:txBody>
          <a:bodyPr/>
          <a:lstStyle/>
          <a:p>
            <a:r>
              <a:rPr lang="en-US" b="1" dirty="0"/>
              <a:t>Improving true positives</a:t>
            </a:r>
            <a:br>
              <a:rPr lang="en-US" dirty="0"/>
            </a:br>
            <a:r>
              <a:rPr lang="en-US" sz="3000" dirty="0"/>
              <a:t>Incorporating dependency parsing</a:t>
            </a:r>
          </a:p>
        </p:txBody>
      </p:sp>
      <p:sp>
        <p:nvSpPr>
          <p:cNvPr id="3" name="Content Placeholder 2">
            <a:extLst>
              <a:ext uri="{FF2B5EF4-FFF2-40B4-BE49-F238E27FC236}">
                <a16:creationId xmlns:a16="http://schemas.microsoft.com/office/drawing/2014/main" id="{1D7A870B-FDFA-1E41-9110-89E02BACFC04}"/>
              </a:ext>
            </a:extLst>
          </p:cNvPr>
          <p:cNvSpPr>
            <a:spLocks noGrp="1"/>
          </p:cNvSpPr>
          <p:nvPr>
            <p:ph idx="1"/>
          </p:nvPr>
        </p:nvSpPr>
        <p:spPr>
          <a:xfrm>
            <a:off x="1371599" y="2103300"/>
            <a:ext cx="3899648" cy="4180959"/>
          </a:xfrm>
        </p:spPr>
        <p:txBody>
          <a:bodyPr>
            <a:normAutofit/>
          </a:bodyPr>
          <a:lstStyle/>
          <a:p>
            <a:r>
              <a:rPr lang="en-US" dirty="0"/>
              <a:t>Drug and ADRs are associated by causal effect terms in sentences</a:t>
            </a:r>
          </a:p>
          <a:p>
            <a:r>
              <a:rPr lang="en-US" dirty="0"/>
              <a:t>Construct regex patterns: drug/ADRs are noun phrases linked by a causal term</a:t>
            </a:r>
          </a:p>
          <a:p>
            <a:r>
              <a:rPr lang="en-US" dirty="0"/>
              <a:t>Use drug and ADR databases identify related noun phrases</a:t>
            </a:r>
          </a:p>
          <a:p>
            <a:r>
              <a:rPr lang="en-US" dirty="0"/>
              <a:t>Dependency parsing used if LSTM model did not make a drug or ADR prediction </a:t>
            </a:r>
          </a:p>
        </p:txBody>
      </p:sp>
      <p:sp>
        <p:nvSpPr>
          <p:cNvPr id="5" name="TextBox 4">
            <a:extLst>
              <a:ext uri="{FF2B5EF4-FFF2-40B4-BE49-F238E27FC236}">
                <a16:creationId xmlns:a16="http://schemas.microsoft.com/office/drawing/2014/main" id="{6868E7A8-155E-0043-831C-A6A4DE164474}"/>
              </a:ext>
            </a:extLst>
          </p:cNvPr>
          <p:cNvSpPr txBox="1"/>
          <p:nvPr/>
        </p:nvSpPr>
        <p:spPr>
          <a:xfrm>
            <a:off x="5827059" y="2492187"/>
            <a:ext cx="5665693" cy="2642262"/>
          </a:xfrm>
          <a:prstGeom prst="rect">
            <a:avLst/>
          </a:prstGeom>
          <a:noFill/>
        </p:spPr>
        <p:txBody>
          <a:bodyPr wrap="square" rtlCol="0">
            <a:spAutoFit/>
          </a:bodyPr>
          <a:lstStyle/>
          <a:p>
            <a:r>
              <a:rPr lang="en-US" u="sng" dirty="0"/>
              <a:t>Causal associations:</a:t>
            </a:r>
          </a:p>
          <a:p>
            <a:r>
              <a:rPr lang="en-US" dirty="0"/>
              <a:t>	</a:t>
            </a:r>
            <a:r>
              <a:rPr lang="en-US" sz="1600" i="1" dirty="0"/>
              <a:t>e.g. “the fatal </a:t>
            </a:r>
            <a:r>
              <a:rPr lang="en-US" sz="1600" i="1" dirty="0">
                <a:solidFill>
                  <a:srgbClr val="FF0000"/>
                </a:solidFill>
              </a:rPr>
              <a:t>stroke</a:t>
            </a:r>
            <a:r>
              <a:rPr lang="en-US" sz="1600" i="1" dirty="0"/>
              <a:t> may have </a:t>
            </a:r>
            <a:r>
              <a:rPr lang="en-US" sz="1600" b="1" i="1" dirty="0"/>
              <a:t>resulted </a:t>
            </a:r>
            <a:r>
              <a:rPr lang="en-US" sz="1600" i="1" dirty="0"/>
              <a:t>from</a:t>
            </a:r>
            <a:r>
              <a:rPr lang="en-US" sz="1600" b="1" i="1" dirty="0"/>
              <a:t> </a:t>
            </a:r>
            <a:r>
              <a:rPr lang="en-US" sz="1600" i="1" dirty="0"/>
              <a:t>arterial 		         spasm caused by </a:t>
            </a:r>
            <a:r>
              <a:rPr lang="en-US" sz="1600" i="1" dirty="0">
                <a:solidFill>
                  <a:srgbClr val="FF0000"/>
                </a:solidFill>
              </a:rPr>
              <a:t>ergotamine</a:t>
            </a:r>
            <a:r>
              <a:rPr lang="en-US" sz="1600" i="1" dirty="0"/>
              <a:t> overdosage”</a:t>
            </a:r>
          </a:p>
          <a:p>
            <a:endParaRPr lang="en-US" dirty="0"/>
          </a:p>
          <a:p>
            <a:r>
              <a:rPr lang="en-US" u="sng" dirty="0"/>
              <a:t>Dependency parsing:</a:t>
            </a:r>
          </a:p>
          <a:p>
            <a:pPr marL="342900" indent="-342900">
              <a:lnSpc>
                <a:spcPct val="150000"/>
              </a:lnSpc>
              <a:buAutoNum type="arabicPeriod"/>
            </a:pPr>
            <a:r>
              <a:rPr lang="en-US" dirty="0"/>
              <a:t>Regex pattern: * NP * </a:t>
            </a:r>
            <a:r>
              <a:rPr lang="en-US" i="1" dirty="0"/>
              <a:t>causal term</a:t>
            </a:r>
            <a:r>
              <a:rPr lang="en-US" dirty="0"/>
              <a:t> * NP *</a:t>
            </a:r>
          </a:p>
          <a:p>
            <a:pPr marL="342900" indent="-342900">
              <a:lnSpc>
                <a:spcPct val="150000"/>
              </a:lnSpc>
              <a:buAutoNum type="arabicPeriod"/>
            </a:pPr>
            <a:r>
              <a:rPr lang="en-US" dirty="0"/>
              <a:t>Extract NPs using </a:t>
            </a:r>
            <a:r>
              <a:rPr lang="en-US" dirty="0" err="1"/>
              <a:t>nltk</a:t>
            </a:r>
            <a:r>
              <a:rPr lang="en-US" dirty="0"/>
              <a:t> pattern matching</a:t>
            </a:r>
          </a:p>
          <a:p>
            <a:pPr marL="342900" indent="-342900">
              <a:lnSpc>
                <a:spcPct val="150000"/>
              </a:lnSpc>
              <a:buAutoNum type="arabicPeriod"/>
            </a:pPr>
            <a:r>
              <a:rPr lang="en-US" dirty="0"/>
              <a:t>Identify NPs that are drugs/ADRs using databases</a:t>
            </a:r>
          </a:p>
        </p:txBody>
      </p:sp>
    </p:spTree>
    <p:extLst>
      <p:ext uri="{BB962C8B-B14F-4D97-AF65-F5344CB8AC3E}">
        <p14:creationId xmlns:p14="http://schemas.microsoft.com/office/powerpoint/2010/main" val="392556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3946-5B09-ED42-B10E-6E8039E8523C}"/>
              </a:ext>
            </a:extLst>
          </p:cNvPr>
          <p:cNvSpPr>
            <a:spLocks noGrp="1"/>
          </p:cNvSpPr>
          <p:nvPr>
            <p:ph type="title"/>
          </p:nvPr>
        </p:nvSpPr>
        <p:spPr/>
        <p:txBody>
          <a:bodyPr>
            <a:normAutofit fontScale="90000"/>
          </a:bodyPr>
          <a:lstStyle/>
          <a:p>
            <a:r>
              <a:rPr lang="en-US" b="1" dirty="0"/>
              <a:t>Evaluation: LSTM + dependency parsing</a:t>
            </a:r>
            <a:br>
              <a:rPr lang="en-US" dirty="0"/>
            </a:br>
            <a:r>
              <a:rPr lang="en-US" sz="3300" dirty="0"/>
              <a:t>Improvement 2 prediction performance</a:t>
            </a:r>
          </a:p>
        </p:txBody>
      </p:sp>
      <p:sp>
        <p:nvSpPr>
          <p:cNvPr id="3" name="Content Placeholder 2">
            <a:extLst>
              <a:ext uri="{FF2B5EF4-FFF2-40B4-BE49-F238E27FC236}">
                <a16:creationId xmlns:a16="http://schemas.microsoft.com/office/drawing/2014/main" id="{9DD737C3-7D48-C84A-823F-1F0A1A47C802}"/>
              </a:ext>
            </a:extLst>
          </p:cNvPr>
          <p:cNvSpPr>
            <a:spLocks noGrp="1"/>
          </p:cNvSpPr>
          <p:nvPr>
            <p:ph idx="1"/>
          </p:nvPr>
        </p:nvSpPr>
        <p:spPr/>
        <p:txBody>
          <a:bodyPr/>
          <a:lstStyle/>
          <a:p>
            <a:r>
              <a:rPr lang="en-US" dirty="0"/>
              <a:t>Dependency parsing improved drug and ADR pairs that the LSTM model missed</a:t>
            </a:r>
          </a:p>
        </p:txBody>
      </p:sp>
      <p:graphicFrame>
        <p:nvGraphicFramePr>
          <p:cNvPr id="4" name="Table 3">
            <a:extLst>
              <a:ext uri="{FF2B5EF4-FFF2-40B4-BE49-F238E27FC236}">
                <a16:creationId xmlns:a16="http://schemas.microsoft.com/office/drawing/2014/main" id="{2B1C852B-F070-A448-8AA6-868822F25D9C}"/>
              </a:ext>
            </a:extLst>
          </p:cNvPr>
          <p:cNvGraphicFramePr>
            <a:graphicFrameLocks noGrp="1"/>
          </p:cNvGraphicFramePr>
          <p:nvPr>
            <p:extLst>
              <p:ext uri="{D42A27DB-BD31-4B8C-83A1-F6EECF244321}">
                <p14:modId xmlns:p14="http://schemas.microsoft.com/office/powerpoint/2010/main" val="1198442010"/>
              </p:ext>
            </p:extLst>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5" name="TextBox 4">
            <a:extLst>
              <a:ext uri="{FF2B5EF4-FFF2-40B4-BE49-F238E27FC236}">
                <a16:creationId xmlns:a16="http://schemas.microsoft.com/office/drawing/2014/main" id="{3579567B-98CE-504F-92D4-DD60092C5EF7}"/>
              </a:ext>
            </a:extLst>
          </p:cNvPr>
          <p:cNvSpPr txBox="1"/>
          <p:nvPr/>
        </p:nvSpPr>
        <p:spPr>
          <a:xfrm>
            <a:off x="6284259" y="2909146"/>
            <a:ext cx="2169459" cy="1855694"/>
          </a:xfrm>
          <a:prstGeom prst="rect">
            <a:avLst/>
          </a:prstGeom>
          <a:noFill/>
          <a:ln w="19050">
            <a:solidFill>
              <a:srgbClr val="FF0000"/>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5B017464-2416-A54A-971D-19A3FAE362AF}"/>
              </a:ext>
            </a:extLst>
          </p:cNvPr>
          <p:cNvSpPr txBox="1"/>
          <p:nvPr/>
        </p:nvSpPr>
        <p:spPr>
          <a:xfrm>
            <a:off x="6284259" y="4835489"/>
            <a:ext cx="1909482" cy="738664"/>
          </a:xfrm>
          <a:prstGeom prst="rect">
            <a:avLst/>
          </a:prstGeom>
          <a:noFill/>
        </p:spPr>
        <p:txBody>
          <a:bodyPr wrap="square" rtlCol="0">
            <a:spAutoFit/>
          </a:bodyPr>
          <a:lstStyle/>
          <a:p>
            <a:r>
              <a:rPr lang="en-US" sz="1400" dirty="0">
                <a:solidFill>
                  <a:srgbClr val="FF0000"/>
                </a:solidFill>
              </a:rPr>
              <a:t>Increase in recall indicates more true positives detected</a:t>
            </a:r>
          </a:p>
        </p:txBody>
      </p:sp>
    </p:spTree>
    <p:extLst>
      <p:ext uri="{BB962C8B-B14F-4D97-AF65-F5344CB8AC3E}">
        <p14:creationId xmlns:p14="http://schemas.microsoft.com/office/powerpoint/2010/main" val="1644629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3946-5B09-ED42-B10E-6E8039E8523C}"/>
              </a:ext>
            </a:extLst>
          </p:cNvPr>
          <p:cNvSpPr>
            <a:spLocks noGrp="1"/>
          </p:cNvSpPr>
          <p:nvPr>
            <p:ph type="title"/>
          </p:nvPr>
        </p:nvSpPr>
        <p:spPr/>
        <p:txBody>
          <a:bodyPr>
            <a:normAutofit fontScale="90000"/>
          </a:bodyPr>
          <a:lstStyle/>
          <a:p>
            <a:r>
              <a:rPr lang="en-US" b="1" dirty="0"/>
              <a:t>Evaluation: LSTM + dependency parsing</a:t>
            </a:r>
            <a:br>
              <a:rPr lang="en-US" dirty="0"/>
            </a:br>
            <a:r>
              <a:rPr lang="en-US" sz="3300" dirty="0"/>
              <a:t>Improvement 2 prediction performance</a:t>
            </a:r>
          </a:p>
        </p:txBody>
      </p:sp>
      <p:sp>
        <p:nvSpPr>
          <p:cNvPr id="3" name="Content Placeholder 2">
            <a:extLst>
              <a:ext uri="{FF2B5EF4-FFF2-40B4-BE49-F238E27FC236}">
                <a16:creationId xmlns:a16="http://schemas.microsoft.com/office/drawing/2014/main" id="{9DD737C3-7D48-C84A-823F-1F0A1A47C802}"/>
              </a:ext>
            </a:extLst>
          </p:cNvPr>
          <p:cNvSpPr>
            <a:spLocks noGrp="1"/>
          </p:cNvSpPr>
          <p:nvPr>
            <p:ph idx="1"/>
          </p:nvPr>
        </p:nvSpPr>
        <p:spPr/>
        <p:txBody>
          <a:bodyPr/>
          <a:lstStyle/>
          <a:p>
            <a:r>
              <a:rPr lang="en-US" dirty="0"/>
              <a:t>Dependency parsing improved drug and ADR pairs that the LSTM model missed</a:t>
            </a:r>
          </a:p>
        </p:txBody>
      </p:sp>
      <p:graphicFrame>
        <p:nvGraphicFramePr>
          <p:cNvPr id="4" name="Table 3">
            <a:extLst>
              <a:ext uri="{FF2B5EF4-FFF2-40B4-BE49-F238E27FC236}">
                <a16:creationId xmlns:a16="http://schemas.microsoft.com/office/drawing/2014/main" id="{2B1C852B-F070-A448-8AA6-868822F25D9C}"/>
              </a:ext>
            </a:extLst>
          </p:cNvPr>
          <p:cNvGraphicFramePr>
            <a:graphicFrameLocks noGrp="1"/>
          </p:cNvGraphicFramePr>
          <p:nvPr/>
        </p:nvGraphicFramePr>
        <p:xfrm>
          <a:off x="2309905" y="309531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5" name="TextBox 4">
            <a:extLst>
              <a:ext uri="{FF2B5EF4-FFF2-40B4-BE49-F238E27FC236}">
                <a16:creationId xmlns:a16="http://schemas.microsoft.com/office/drawing/2014/main" id="{3579567B-98CE-504F-92D4-DD60092C5EF7}"/>
              </a:ext>
            </a:extLst>
          </p:cNvPr>
          <p:cNvSpPr txBox="1"/>
          <p:nvPr/>
        </p:nvSpPr>
        <p:spPr>
          <a:xfrm>
            <a:off x="4267200" y="2922645"/>
            <a:ext cx="2169459" cy="1855694"/>
          </a:xfrm>
          <a:prstGeom prst="rect">
            <a:avLst/>
          </a:prstGeom>
          <a:noFill/>
          <a:ln w="19050">
            <a:solidFill>
              <a:srgbClr val="FF0000"/>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5B017464-2416-A54A-971D-19A3FAE362AF}"/>
              </a:ext>
            </a:extLst>
          </p:cNvPr>
          <p:cNvSpPr txBox="1"/>
          <p:nvPr/>
        </p:nvSpPr>
        <p:spPr>
          <a:xfrm>
            <a:off x="4397188" y="4812149"/>
            <a:ext cx="1909482" cy="1169551"/>
          </a:xfrm>
          <a:prstGeom prst="rect">
            <a:avLst/>
          </a:prstGeom>
          <a:noFill/>
        </p:spPr>
        <p:txBody>
          <a:bodyPr wrap="square" rtlCol="0">
            <a:spAutoFit/>
          </a:bodyPr>
          <a:lstStyle/>
          <a:p>
            <a:r>
              <a:rPr lang="en-US" sz="1400" dirty="0">
                <a:solidFill>
                  <a:srgbClr val="FF0000"/>
                </a:solidFill>
              </a:rPr>
              <a:t>Dip in precision suggests more false positives also detected, especially for ADRs</a:t>
            </a:r>
          </a:p>
        </p:txBody>
      </p:sp>
    </p:spTree>
    <p:extLst>
      <p:ext uri="{BB962C8B-B14F-4D97-AF65-F5344CB8AC3E}">
        <p14:creationId xmlns:p14="http://schemas.microsoft.com/office/powerpoint/2010/main" val="2786654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907F-C868-0C4C-A48E-66EC58EC5936}"/>
              </a:ext>
            </a:extLst>
          </p:cNvPr>
          <p:cNvSpPr>
            <a:spLocks noGrp="1"/>
          </p:cNvSpPr>
          <p:nvPr>
            <p:ph type="title"/>
          </p:nvPr>
        </p:nvSpPr>
        <p:spPr/>
        <p:txBody>
          <a:bodyPr>
            <a:normAutofit fontScale="90000"/>
          </a:bodyPr>
          <a:lstStyle/>
          <a:p>
            <a:r>
              <a:rPr lang="en-US" b="1" dirty="0"/>
              <a:t>Evaluation: LSTM + dependency parsing</a:t>
            </a:r>
            <a:br>
              <a:rPr lang="en-US" dirty="0"/>
            </a:br>
            <a:r>
              <a:rPr lang="en-US" sz="3300" dirty="0"/>
              <a:t>Improvement 2 discussion</a:t>
            </a:r>
          </a:p>
        </p:txBody>
      </p:sp>
      <p:sp>
        <p:nvSpPr>
          <p:cNvPr id="3" name="Content Placeholder 2">
            <a:extLst>
              <a:ext uri="{FF2B5EF4-FFF2-40B4-BE49-F238E27FC236}">
                <a16:creationId xmlns:a16="http://schemas.microsoft.com/office/drawing/2014/main" id="{40E7DFA8-7E8E-034A-83D9-2F605D7AE8C0}"/>
              </a:ext>
            </a:extLst>
          </p:cNvPr>
          <p:cNvSpPr>
            <a:spLocks noGrp="1"/>
          </p:cNvSpPr>
          <p:nvPr>
            <p:ph idx="1"/>
          </p:nvPr>
        </p:nvSpPr>
        <p:spPr/>
        <p:txBody>
          <a:bodyPr/>
          <a:lstStyle/>
          <a:p>
            <a:r>
              <a:rPr lang="en-US" dirty="0"/>
              <a:t>Performance of drug/ADR detection using dependency parsing dependent on the list of causal terms, and drug/ADR databases used for pattern matching</a:t>
            </a:r>
          </a:p>
          <a:p>
            <a:r>
              <a:rPr lang="en-US" dirty="0"/>
              <a:t>Performance can be improved if:</a:t>
            </a:r>
          </a:p>
          <a:p>
            <a:pPr lvl="1"/>
            <a:r>
              <a:rPr lang="en-US" i="0" dirty="0"/>
              <a:t>A more exhaustive list of causal words is extracted from public databases</a:t>
            </a:r>
          </a:p>
          <a:p>
            <a:pPr lvl="1"/>
            <a:r>
              <a:rPr lang="en-US" i="0" dirty="0"/>
              <a:t>Additional drug/ADR names such as acronyms are extracted</a:t>
            </a:r>
          </a:p>
        </p:txBody>
      </p:sp>
    </p:spTree>
    <p:extLst>
      <p:ext uri="{BB962C8B-B14F-4D97-AF65-F5344CB8AC3E}">
        <p14:creationId xmlns:p14="http://schemas.microsoft.com/office/powerpoint/2010/main" val="2431706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E27A-D168-554A-AA31-18280952FE71}"/>
              </a:ext>
            </a:extLst>
          </p:cNvPr>
          <p:cNvSpPr>
            <a:spLocks noGrp="1"/>
          </p:cNvSpPr>
          <p:nvPr>
            <p:ph type="title"/>
          </p:nvPr>
        </p:nvSpPr>
        <p:spPr/>
        <p:txBody>
          <a:bodyPr>
            <a:normAutofit/>
          </a:bodyPr>
          <a:lstStyle/>
          <a:p>
            <a:r>
              <a:rPr lang="en-US" b="1" dirty="0"/>
              <a:t>Final prediction system</a:t>
            </a:r>
            <a:br>
              <a:rPr lang="en-US" dirty="0"/>
            </a:br>
            <a:r>
              <a:rPr lang="en-US" sz="3300" dirty="0"/>
              <a:t>Incorporating improvements with base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396FF-61B1-3C41-A39D-B1AB6B8CEC60}"/>
                  </a:ext>
                </a:extLst>
              </p:cNvPr>
              <p:cNvSpPr>
                <a:spLocks noGrp="1"/>
              </p:cNvSpPr>
              <p:nvPr>
                <p:ph idx="1"/>
              </p:nvPr>
            </p:nvSpPr>
            <p:spPr>
              <a:xfrm>
                <a:off x="1371600" y="2286000"/>
                <a:ext cx="4078941" cy="3886200"/>
              </a:xfrm>
            </p:spPr>
            <p:txBody>
              <a:bodyPr/>
              <a:lstStyle/>
              <a:p>
                <a:r>
                  <a:rPr lang="en-US" dirty="0"/>
                  <a:t>Use LSTM model to make base predictions</a:t>
                </a:r>
              </a:p>
              <a:p>
                <a:r>
                  <a:rPr lang="en-US" dirty="0"/>
                  <a:t>Discard predictions if cosine similarity </a:t>
                </a:r>
                <a14:m>
                  <m:oMath xmlns:m="http://schemas.openxmlformats.org/officeDocument/2006/math">
                    <m:r>
                      <a:rPr lang="en-US" b="0" i="1" smtClean="0">
                        <a:latin typeface="Cambria Math" panose="02040503050406030204" pitchFamily="18" charset="0"/>
                      </a:rPr>
                      <m:t>≤</m:t>
                    </m:r>
                  </m:oMath>
                </a14:m>
                <a:r>
                  <a:rPr lang="en-US" dirty="0"/>
                  <a:t> 0.4. If cosine similarity not available, retain original prediction.</a:t>
                </a:r>
              </a:p>
              <a:p>
                <a:r>
                  <a:rPr lang="en-US" dirty="0"/>
                  <a:t>If no drug or ADR predictions made, utilize dependency parsing to make prediction</a:t>
                </a:r>
              </a:p>
              <a:p>
                <a:endParaRPr lang="en-US" dirty="0"/>
              </a:p>
            </p:txBody>
          </p:sp>
        </mc:Choice>
        <mc:Fallback xmlns="">
          <p:sp>
            <p:nvSpPr>
              <p:cNvPr id="3" name="Content Placeholder 2">
                <a:extLst>
                  <a:ext uri="{FF2B5EF4-FFF2-40B4-BE49-F238E27FC236}">
                    <a16:creationId xmlns:a16="http://schemas.microsoft.com/office/drawing/2014/main" id="{C2D396FF-61B1-3C41-A39D-B1AB6B8CEC60}"/>
                  </a:ext>
                </a:extLst>
              </p:cNvPr>
              <p:cNvSpPr>
                <a:spLocks noGrp="1" noRot="1" noChangeAspect="1" noMove="1" noResize="1" noEditPoints="1" noAdjustHandles="1" noChangeArrowheads="1" noChangeShapeType="1" noTextEdit="1"/>
              </p:cNvSpPr>
              <p:nvPr>
                <p:ph idx="1"/>
              </p:nvPr>
            </p:nvSpPr>
            <p:spPr>
              <a:xfrm>
                <a:off x="1371600" y="2286000"/>
                <a:ext cx="4078941" cy="3886200"/>
              </a:xfrm>
              <a:blipFill>
                <a:blip r:embed="rId3"/>
                <a:stretch>
                  <a:fillRect l="-1558" t="-130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F464789-DE71-C940-9A1E-FDE945513EC5}"/>
              </a:ext>
            </a:extLst>
          </p:cNvPr>
          <p:cNvPicPr>
            <a:picLocks noChangeAspect="1"/>
          </p:cNvPicPr>
          <p:nvPr/>
        </p:nvPicPr>
        <p:blipFill>
          <a:blip r:embed="rId4"/>
          <a:stretch>
            <a:fillRect/>
          </a:stretch>
        </p:blipFill>
        <p:spPr>
          <a:xfrm>
            <a:off x="6741461" y="2055056"/>
            <a:ext cx="3711611" cy="1064662"/>
          </a:xfrm>
          <a:prstGeom prst="rect">
            <a:avLst/>
          </a:prstGeom>
        </p:spPr>
      </p:pic>
    </p:spTree>
    <p:extLst>
      <p:ext uri="{BB962C8B-B14F-4D97-AF65-F5344CB8AC3E}">
        <p14:creationId xmlns:p14="http://schemas.microsoft.com/office/powerpoint/2010/main" val="217530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1003DBE-27DF-E146-9D6C-0A9494F4BD6B}"/>
              </a:ext>
            </a:extLst>
          </p:cNvPr>
          <p:cNvPicPr>
            <a:picLocks noChangeAspect="1"/>
          </p:cNvPicPr>
          <p:nvPr/>
        </p:nvPicPr>
        <p:blipFill>
          <a:blip r:embed="rId3"/>
          <a:stretch>
            <a:fillRect/>
          </a:stretch>
        </p:blipFill>
        <p:spPr>
          <a:xfrm>
            <a:off x="6096000" y="2084377"/>
            <a:ext cx="4922043" cy="1485900"/>
          </a:xfrm>
          <a:prstGeom prst="rect">
            <a:avLst/>
          </a:prstGeom>
        </p:spPr>
      </p:pic>
      <p:sp>
        <p:nvSpPr>
          <p:cNvPr id="2" name="Title 1">
            <a:extLst>
              <a:ext uri="{FF2B5EF4-FFF2-40B4-BE49-F238E27FC236}">
                <a16:creationId xmlns:a16="http://schemas.microsoft.com/office/drawing/2014/main" id="{2B86E27A-D168-554A-AA31-18280952FE71}"/>
              </a:ext>
            </a:extLst>
          </p:cNvPr>
          <p:cNvSpPr>
            <a:spLocks noGrp="1"/>
          </p:cNvSpPr>
          <p:nvPr>
            <p:ph type="title"/>
          </p:nvPr>
        </p:nvSpPr>
        <p:spPr/>
        <p:txBody>
          <a:bodyPr>
            <a:normAutofit/>
          </a:bodyPr>
          <a:lstStyle/>
          <a:p>
            <a:r>
              <a:rPr lang="en-US" b="1" dirty="0"/>
              <a:t>Final prediction system</a:t>
            </a:r>
            <a:br>
              <a:rPr lang="en-US" dirty="0"/>
            </a:br>
            <a:r>
              <a:rPr lang="en-US" sz="3300" dirty="0"/>
              <a:t>Incorporating improvements with base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396FF-61B1-3C41-A39D-B1AB6B8CEC60}"/>
                  </a:ext>
                </a:extLst>
              </p:cNvPr>
              <p:cNvSpPr>
                <a:spLocks noGrp="1"/>
              </p:cNvSpPr>
              <p:nvPr>
                <p:ph idx="1"/>
              </p:nvPr>
            </p:nvSpPr>
            <p:spPr>
              <a:xfrm>
                <a:off x="1371600" y="2286000"/>
                <a:ext cx="4078941" cy="3886200"/>
              </a:xfrm>
            </p:spPr>
            <p:txBody>
              <a:bodyPr/>
              <a:lstStyle/>
              <a:p>
                <a:r>
                  <a:rPr lang="en-US" dirty="0"/>
                  <a:t>Use LSTM model to make base predictions</a:t>
                </a:r>
              </a:p>
              <a:p>
                <a:r>
                  <a:rPr lang="en-US" dirty="0"/>
                  <a:t>Discard predictions if cosine similarity </a:t>
                </a:r>
                <a14:m>
                  <m:oMath xmlns:m="http://schemas.openxmlformats.org/officeDocument/2006/math">
                    <m:r>
                      <a:rPr lang="en-US" b="0" i="1" smtClean="0">
                        <a:latin typeface="Cambria Math" panose="02040503050406030204" pitchFamily="18" charset="0"/>
                      </a:rPr>
                      <m:t>≤</m:t>
                    </m:r>
                  </m:oMath>
                </a14:m>
                <a:r>
                  <a:rPr lang="en-US" dirty="0"/>
                  <a:t> 0.4. If cosine similarity not available, retain original prediction.</a:t>
                </a:r>
              </a:p>
              <a:p>
                <a:r>
                  <a:rPr lang="en-US" dirty="0"/>
                  <a:t>If no drug or ADR predictions made, utilize dependency parsing to make prediction</a:t>
                </a:r>
              </a:p>
              <a:p>
                <a:endParaRPr lang="en-US" dirty="0"/>
              </a:p>
            </p:txBody>
          </p:sp>
        </mc:Choice>
        <mc:Fallback xmlns="">
          <p:sp>
            <p:nvSpPr>
              <p:cNvPr id="3" name="Content Placeholder 2">
                <a:extLst>
                  <a:ext uri="{FF2B5EF4-FFF2-40B4-BE49-F238E27FC236}">
                    <a16:creationId xmlns:a16="http://schemas.microsoft.com/office/drawing/2014/main" id="{C2D396FF-61B1-3C41-A39D-B1AB6B8CEC60}"/>
                  </a:ext>
                </a:extLst>
              </p:cNvPr>
              <p:cNvSpPr>
                <a:spLocks noGrp="1" noRot="1" noChangeAspect="1" noMove="1" noResize="1" noEditPoints="1" noAdjustHandles="1" noChangeArrowheads="1" noChangeShapeType="1" noTextEdit="1"/>
              </p:cNvSpPr>
              <p:nvPr>
                <p:ph idx="1"/>
              </p:nvPr>
            </p:nvSpPr>
            <p:spPr>
              <a:xfrm>
                <a:off x="1371600" y="2286000"/>
                <a:ext cx="4078941" cy="3886200"/>
              </a:xfrm>
              <a:blipFill>
                <a:blip r:embed="rId4"/>
                <a:stretch>
                  <a:fillRect l="-1558" t="-1307"/>
                </a:stretch>
              </a:blipFill>
            </p:spPr>
            <p:txBody>
              <a:bodyPr/>
              <a:lstStyle/>
              <a:p>
                <a:r>
                  <a:rPr lang="en-US">
                    <a:noFill/>
                  </a:rPr>
                  <a:t> </a:t>
                </a:r>
              </a:p>
            </p:txBody>
          </p:sp>
        </mc:Fallback>
      </mc:AlternateContent>
    </p:spTree>
    <p:extLst>
      <p:ext uri="{BB962C8B-B14F-4D97-AF65-F5344CB8AC3E}">
        <p14:creationId xmlns:p14="http://schemas.microsoft.com/office/powerpoint/2010/main" val="2885457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1C3193-0549-5A42-920B-B404982607A8}"/>
              </a:ext>
            </a:extLst>
          </p:cNvPr>
          <p:cNvPicPr>
            <a:picLocks noChangeAspect="1"/>
          </p:cNvPicPr>
          <p:nvPr/>
        </p:nvPicPr>
        <p:blipFill>
          <a:blip r:embed="rId3"/>
          <a:stretch>
            <a:fillRect/>
          </a:stretch>
        </p:blipFill>
        <p:spPr>
          <a:xfrm>
            <a:off x="5889812" y="2021624"/>
            <a:ext cx="5259978" cy="2568305"/>
          </a:xfrm>
          <a:prstGeom prst="rect">
            <a:avLst/>
          </a:prstGeom>
        </p:spPr>
      </p:pic>
      <p:sp>
        <p:nvSpPr>
          <p:cNvPr id="2" name="Title 1">
            <a:extLst>
              <a:ext uri="{FF2B5EF4-FFF2-40B4-BE49-F238E27FC236}">
                <a16:creationId xmlns:a16="http://schemas.microsoft.com/office/drawing/2014/main" id="{2B86E27A-D168-554A-AA31-18280952FE71}"/>
              </a:ext>
            </a:extLst>
          </p:cNvPr>
          <p:cNvSpPr>
            <a:spLocks noGrp="1"/>
          </p:cNvSpPr>
          <p:nvPr>
            <p:ph type="title"/>
          </p:nvPr>
        </p:nvSpPr>
        <p:spPr/>
        <p:txBody>
          <a:bodyPr>
            <a:normAutofit/>
          </a:bodyPr>
          <a:lstStyle/>
          <a:p>
            <a:r>
              <a:rPr lang="en-US" b="1" dirty="0"/>
              <a:t>Final prediction system</a:t>
            </a:r>
            <a:br>
              <a:rPr lang="en-US" dirty="0"/>
            </a:br>
            <a:r>
              <a:rPr lang="en-US" sz="3300" dirty="0"/>
              <a:t>Incorporating improvements with base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396FF-61B1-3C41-A39D-B1AB6B8CEC60}"/>
                  </a:ext>
                </a:extLst>
              </p:cNvPr>
              <p:cNvSpPr>
                <a:spLocks noGrp="1"/>
              </p:cNvSpPr>
              <p:nvPr>
                <p:ph idx="1"/>
              </p:nvPr>
            </p:nvSpPr>
            <p:spPr>
              <a:xfrm>
                <a:off x="1371600" y="2286000"/>
                <a:ext cx="4078941" cy="3886200"/>
              </a:xfrm>
            </p:spPr>
            <p:txBody>
              <a:bodyPr/>
              <a:lstStyle/>
              <a:p>
                <a:r>
                  <a:rPr lang="en-US" dirty="0"/>
                  <a:t>Use LSTM model to make base predictions</a:t>
                </a:r>
              </a:p>
              <a:p>
                <a:r>
                  <a:rPr lang="en-US" dirty="0"/>
                  <a:t>Discard predictions if cosine similarity </a:t>
                </a:r>
                <a14:m>
                  <m:oMath xmlns:m="http://schemas.openxmlformats.org/officeDocument/2006/math">
                    <m:r>
                      <a:rPr lang="en-US" b="0" i="1" smtClean="0">
                        <a:latin typeface="Cambria Math" panose="02040503050406030204" pitchFamily="18" charset="0"/>
                      </a:rPr>
                      <m:t>≤</m:t>
                    </m:r>
                  </m:oMath>
                </a14:m>
                <a:r>
                  <a:rPr lang="en-US" dirty="0"/>
                  <a:t> 0.4. If cosine similarity not available, retain original prediction.</a:t>
                </a:r>
              </a:p>
              <a:p>
                <a:r>
                  <a:rPr lang="en-US" dirty="0"/>
                  <a:t>If no drug or ADR predictions made, utilize dependency parsing to make prediction</a:t>
                </a:r>
              </a:p>
              <a:p>
                <a:endParaRPr lang="en-US" dirty="0"/>
              </a:p>
            </p:txBody>
          </p:sp>
        </mc:Choice>
        <mc:Fallback xmlns="">
          <p:sp>
            <p:nvSpPr>
              <p:cNvPr id="3" name="Content Placeholder 2">
                <a:extLst>
                  <a:ext uri="{FF2B5EF4-FFF2-40B4-BE49-F238E27FC236}">
                    <a16:creationId xmlns:a16="http://schemas.microsoft.com/office/drawing/2014/main" id="{C2D396FF-61B1-3C41-A39D-B1AB6B8CEC60}"/>
                  </a:ext>
                </a:extLst>
              </p:cNvPr>
              <p:cNvSpPr>
                <a:spLocks noGrp="1" noRot="1" noChangeAspect="1" noMove="1" noResize="1" noEditPoints="1" noAdjustHandles="1" noChangeArrowheads="1" noChangeShapeType="1" noTextEdit="1"/>
              </p:cNvSpPr>
              <p:nvPr>
                <p:ph idx="1"/>
              </p:nvPr>
            </p:nvSpPr>
            <p:spPr>
              <a:xfrm>
                <a:off x="1371600" y="2286000"/>
                <a:ext cx="4078941" cy="3886200"/>
              </a:xfrm>
              <a:blipFill>
                <a:blip r:embed="rId4"/>
                <a:stretch>
                  <a:fillRect l="-1558" t="-1307"/>
                </a:stretch>
              </a:blipFill>
            </p:spPr>
            <p:txBody>
              <a:bodyPr/>
              <a:lstStyle/>
              <a:p>
                <a:r>
                  <a:rPr lang="en-US">
                    <a:noFill/>
                  </a:rPr>
                  <a:t> </a:t>
                </a:r>
              </a:p>
            </p:txBody>
          </p:sp>
        </mc:Fallback>
      </mc:AlternateContent>
    </p:spTree>
    <p:extLst>
      <p:ext uri="{BB962C8B-B14F-4D97-AF65-F5344CB8AC3E}">
        <p14:creationId xmlns:p14="http://schemas.microsoft.com/office/powerpoint/2010/main" val="1300285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D0B260-FB75-0041-AD0E-03BA83FDE01C}"/>
              </a:ext>
            </a:extLst>
          </p:cNvPr>
          <p:cNvPicPr>
            <a:picLocks noChangeAspect="1"/>
          </p:cNvPicPr>
          <p:nvPr/>
        </p:nvPicPr>
        <p:blipFill>
          <a:blip r:embed="rId3"/>
          <a:stretch>
            <a:fillRect/>
          </a:stretch>
        </p:blipFill>
        <p:spPr>
          <a:xfrm>
            <a:off x="5721879" y="2130239"/>
            <a:ext cx="5752271" cy="2893358"/>
          </a:xfrm>
          <a:prstGeom prst="rect">
            <a:avLst/>
          </a:prstGeom>
        </p:spPr>
      </p:pic>
      <p:sp>
        <p:nvSpPr>
          <p:cNvPr id="2" name="Title 1">
            <a:extLst>
              <a:ext uri="{FF2B5EF4-FFF2-40B4-BE49-F238E27FC236}">
                <a16:creationId xmlns:a16="http://schemas.microsoft.com/office/drawing/2014/main" id="{2B86E27A-D168-554A-AA31-18280952FE71}"/>
              </a:ext>
            </a:extLst>
          </p:cNvPr>
          <p:cNvSpPr>
            <a:spLocks noGrp="1"/>
          </p:cNvSpPr>
          <p:nvPr>
            <p:ph type="title"/>
          </p:nvPr>
        </p:nvSpPr>
        <p:spPr/>
        <p:txBody>
          <a:bodyPr>
            <a:normAutofit/>
          </a:bodyPr>
          <a:lstStyle/>
          <a:p>
            <a:r>
              <a:rPr lang="en-US" b="1" dirty="0"/>
              <a:t>Final prediction system</a:t>
            </a:r>
            <a:br>
              <a:rPr lang="en-US" dirty="0"/>
            </a:br>
            <a:r>
              <a:rPr lang="en-US" sz="3300" dirty="0"/>
              <a:t>Incorporating improvements with base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396FF-61B1-3C41-A39D-B1AB6B8CEC60}"/>
                  </a:ext>
                </a:extLst>
              </p:cNvPr>
              <p:cNvSpPr>
                <a:spLocks noGrp="1"/>
              </p:cNvSpPr>
              <p:nvPr>
                <p:ph idx="1"/>
              </p:nvPr>
            </p:nvSpPr>
            <p:spPr>
              <a:xfrm>
                <a:off x="1371600" y="2286000"/>
                <a:ext cx="4078941" cy="3886200"/>
              </a:xfrm>
            </p:spPr>
            <p:txBody>
              <a:bodyPr/>
              <a:lstStyle/>
              <a:p>
                <a:r>
                  <a:rPr lang="en-US" dirty="0"/>
                  <a:t>Use LSTM model to make base predictions</a:t>
                </a:r>
              </a:p>
              <a:p>
                <a:r>
                  <a:rPr lang="en-US" dirty="0"/>
                  <a:t>Discard predictions if cosine similarity </a:t>
                </a:r>
                <a14:m>
                  <m:oMath xmlns:m="http://schemas.openxmlformats.org/officeDocument/2006/math">
                    <m:r>
                      <a:rPr lang="en-US" b="0" i="1" smtClean="0">
                        <a:latin typeface="Cambria Math" panose="02040503050406030204" pitchFamily="18" charset="0"/>
                      </a:rPr>
                      <m:t>≤</m:t>
                    </m:r>
                  </m:oMath>
                </a14:m>
                <a:r>
                  <a:rPr lang="en-US" dirty="0"/>
                  <a:t> 0.4. If cosine similarity not available, retain original prediction.</a:t>
                </a:r>
              </a:p>
              <a:p>
                <a:r>
                  <a:rPr lang="en-US" dirty="0"/>
                  <a:t>If no drug or ADR predictions made, utilize dependency parsing to make prediction</a:t>
                </a:r>
              </a:p>
              <a:p>
                <a:endParaRPr lang="en-US" dirty="0"/>
              </a:p>
            </p:txBody>
          </p:sp>
        </mc:Choice>
        <mc:Fallback xmlns="">
          <p:sp>
            <p:nvSpPr>
              <p:cNvPr id="3" name="Content Placeholder 2">
                <a:extLst>
                  <a:ext uri="{FF2B5EF4-FFF2-40B4-BE49-F238E27FC236}">
                    <a16:creationId xmlns:a16="http://schemas.microsoft.com/office/drawing/2014/main" id="{C2D396FF-61B1-3C41-A39D-B1AB6B8CEC60}"/>
                  </a:ext>
                </a:extLst>
              </p:cNvPr>
              <p:cNvSpPr>
                <a:spLocks noGrp="1" noRot="1" noChangeAspect="1" noMove="1" noResize="1" noEditPoints="1" noAdjustHandles="1" noChangeArrowheads="1" noChangeShapeType="1" noTextEdit="1"/>
              </p:cNvSpPr>
              <p:nvPr>
                <p:ph idx="1"/>
              </p:nvPr>
            </p:nvSpPr>
            <p:spPr>
              <a:xfrm>
                <a:off x="1371600" y="2286000"/>
                <a:ext cx="4078941" cy="3886200"/>
              </a:xfrm>
              <a:blipFill>
                <a:blip r:embed="rId4"/>
                <a:stretch>
                  <a:fillRect l="-1558" t="-1307"/>
                </a:stretch>
              </a:blipFill>
            </p:spPr>
            <p:txBody>
              <a:bodyPr/>
              <a:lstStyle/>
              <a:p>
                <a:r>
                  <a:rPr lang="en-US">
                    <a:noFill/>
                  </a:rPr>
                  <a:t> </a:t>
                </a:r>
              </a:p>
            </p:txBody>
          </p:sp>
        </mc:Fallback>
      </mc:AlternateContent>
    </p:spTree>
    <p:extLst>
      <p:ext uri="{BB962C8B-B14F-4D97-AF65-F5344CB8AC3E}">
        <p14:creationId xmlns:p14="http://schemas.microsoft.com/office/powerpoint/2010/main" val="3158115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E27A-D168-554A-AA31-18280952FE71}"/>
              </a:ext>
            </a:extLst>
          </p:cNvPr>
          <p:cNvSpPr>
            <a:spLocks noGrp="1"/>
          </p:cNvSpPr>
          <p:nvPr>
            <p:ph type="title"/>
          </p:nvPr>
        </p:nvSpPr>
        <p:spPr/>
        <p:txBody>
          <a:bodyPr>
            <a:normAutofit/>
          </a:bodyPr>
          <a:lstStyle/>
          <a:p>
            <a:r>
              <a:rPr lang="en-US" b="1" dirty="0"/>
              <a:t>Final prediction system</a:t>
            </a:r>
            <a:br>
              <a:rPr lang="en-US" dirty="0"/>
            </a:br>
            <a:r>
              <a:rPr lang="en-US" sz="3300" dirty="0"/>
              <a:t>Incorporating improvements with base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396FF-61B1-3C41-A39D-B1AB6B8CEC60}"/>
                  </a:ext>
                </a:extLst>
              </p:cNvPr>
              <p:cNvSpPr>
                <a:spLocks noGrp="1"/>
              </p:cNvSpPr>
              <p:nvPr>
                <p:ph idx="1"/>
              </p:nvPr>
            </p:nvSpPr>
            <p:spPr>
              <a:xfrm>
                <a:off x="1371600" y="2286000"/>
                <a:ext cx="4078941" cy="3886200"/>
              </a:xfrm>
            </p:spPr>
            <p:txBody>
              <a:bodyPr/>
              <a:lstStyle/>
              <a:p>
                <a:r>
                  <a:rPr lang="en-US" dirty="0"/>
                  <a:t>Use LSTM model to make base predictions</a:t>
                </a:r>
              </a:p>
              <a:p>
                <a:r>
                  <a:rPr lang="en-US" dirty="0"/>
                  <a:t>Discard predictions if cosine similarity </a:t>
                </a:r>
                <a14:m>
                  <m:oMath xmlns:m="http://schemas.openxmlformats.org/officeDocument/2006/math">
                    <m:r>
                      <a:rPr lang="en-US" b="0" i="1" smtClean="0">
                        <a:latin typeface="Cambria Math" panose="02040503050406030204" pitchFamily="18" charset="0"/>
                      </a:rPr>
                      <m:t>≤</m:t>
                    </m:r>
                  </m:oMath>
                </a14:m>
                <a:r>
                  <a:rPr lang="en-US" dirty="0"/>
                  <a:t> 0.4. If cosine similarity not available, retain original prediction.</a:t>
                </a:r>
              </a:p>
              <a:p>
                <a:r>
                  <a:rPr lang="en-US" dirty="0"/>
                  <a:t>If no drug or ADR predictions made, utilize dependency parsing to make prediction</a:t>
                </a:r>
              </a:p>
              <a:p>
                <a:endParaRPr lang="en-US" dirty="0"/>
              </a:p>
            </p:txBody>
          </p:sp>
        </mc:Choice>
        <mc:Fallback xmlns="">
          <p:sp>
            <p:nvSpPr>
              <p:cNvPr id="3" name="Content Placeholder 2">
                <a:extLst>
                  <a:ext uri="{FF2B5EF4-FFF2-40B4-BE49-F238E27FC236}">
                    <a16:creationId xmlns:a16="http://schemas.microsoft.com/office/drawing/2014/main" id="{C2D396FF-61B1-3C41-A39D-B1AB6B8CEC60}"/>
                  </a:ext>
                </a:extLst>
              </p:cNvPr>
              <p:cNvSpPr>
                <a:spLocks noGrp="1" noRot="1" noChangeAspect="1" noMove="1" noResize="1" noEditPoints="1" noAdjustHandles="1" noChangeArrowheads="1" noChangeShapeType="1" noTextEdit="1"/>
              </p:cNvSpPr>
              <p:nvPr>
                <p:ph idx="1"/>
              </p:nvPr>
            </p:nvSpPr>
            <p:spPr>
              <a:xfrm>
                <a:off x="1371600" y="2286000"/>
                <a:ext cx="4078941" cy="3886200"/>
              </a:xfrm>
              <a:blipFill>
                <a:blip r:embed="rId3"/>
                <a:stretch>
                  <a:fillRect l="-1558" t="-130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FF821AF-79FF-B74B-BE9F-0FF2A574FD81}"/>
              </a:ext>
            </a:extLst>
          </p:cNvPr>
          <p:cNvPicPr>
            <a:picLocks noChangeAspect="1"/>
          </p:cNvPicPr>
          <p:nvPr/>
        </p:nvPicPr>
        <p:blipFill>
          <a:blip r:embed="rId4"/>
          <a:stretch>
            <a:fillRect/>
          </a:stretch>
        </p:blipFill>
        <p:spPr>
          <a:xfrm>
            <a:off x="5622833" y="2171700"/>
            <a:ext cx="5629755" cy="3783106"/>
          </a:xfrm>
          <a:prstGeom prst="rect">
            <a:avLst/>
          </a:prstGeom>
        </p:spPr>
      </p:pic>
    </p:spTree>
    <p:extLst>
      <p:ext uri="{BB962C8B-B14F-4D97-AF65-F5344CB8AC3E}">
        <p14:creationId xmlns:p14="http://schemas.microsoft.com/office/powerpoint/2010/main" val="3589567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51D4-0EAA-2B49-BC69-9AFDA229E32A}"/>
              </a:ext>
            </a:extLst>
          </p:cNvPr>
          <p:cNvSpPr>
            <a:spLocks noGrp="1"/>
          </p:cNvSpPr>
          <p:nvPr>
            <p:ph type="title"/>
          </p:nvPr>
        </p:nvSpPr>
        <p:spPr/>
        <p:txBody>
          <a:bodyPr/>
          <a:lstStyle/>
          <a:p>
            <a:r>
              <a:rPr lang="en-US" b="1" dirty="0"/>
              <a:t>Evaluation: Final prediction system</a:t>
            </a:r>
            <a:br>
              <a:rPr lang="en-US" dirty="0"/>
            </a:br>
            <a:r>
              <a:rPr lang="en-US" sz="3000" dirty="0"/>
              <a:t>Final prediction performance</a:t>
            </a:r>
          </a:p>
        </p:txBody>
      </p:sp>
      <p:sp>
        <p:nvSpPr>
          <p:cNvPr id="3" name="Content Placeholder 2">
            <a:extLst>
              <a:ext uri="{FF2B5EF4-FFF2-40B4-BE49-F238E27FC236}">
                <a16:creationId xmlns:a16="http://schemas.microsoft.com/office/drawing/2014/main" id="{8F382F02-EB96-0C45-8FA5-4BEB9B0DF924}"/>
              </a:ext>
            </a:extLst>
          </p:cNvPr>
          <p:cNvSpPr>
            <a:spLocks noGrp="1"/>
          </p:cNvSpPr>
          <p:nvPr>
            <p:ph idx="1"/>
          </p:nvPr>
        </p:nvSpPr>
        <p:spPr/>
        <p:txBody>
          <a:bodyPr/>
          <a:lstStyle/>
          <a:p>
            <a:r>
              <a:rPr lang="en-US" dirty="0"/>
              <a:t>Final prediction system produced similar performance as the LSTM + dependency parsing system</a:t>
            </a:r>
          </a:p>
        </p:txBody>
      </p:sp>
      <p:graphicFrame>
        <p:nvGraphicFramePr>
          <p:cNvPr id="4" name="Table 3">
            <a:extLst>
              <a:ext uri="{FF2B5EF4-FFF2-40B4-BE49-F238E27FC236}">
                <a16:creationId xmlns:a16="http://schemas.microsoft.com/office/drawing/2014/main" id="{7952D1AA-BB54-044B-86B1-4C5CD26DBF49}"/>
              </a:ext>
            </a:extLst>
          </p:cNvPr>
          <p:cNvGraphicFramePr>
            <a:graphicFrameLocks noGrp="1"/>
          </p:cNvGraphicFramePr>
          <p:nvPr>
            <p:extLst>
              <p:ext uri="{D42A27DB-BD31-4B8C-83A1-F6EECF244321}">
                <p14:modId xmlns:p14="http://schemas.microsoft.com/office/powerpoint/2010/main" val="3185126133"/>
              </p:ext>
            </p:extLst>
          </p:nvPr>
        </p:nvGraphicFramePr>
        <p:xfrm>
          <a:off x="2202328" y="3535242"/>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64126239"/>
                    </a:ext>
                  </a:extLst>
                </a:gridCol>
                <a:gridCol w="2032000">
                  <a:extLst>
                    <a:ext uri="{9D8B030D-6E8A-4147-A177-3AD203B41FA5}">
                      <a16:colId xmlns:a16="http://schemas.microsoft.com/office/drawing/2014/main" val="3042565391"/>
                    </a:ext>
                  </a:extLst>
                </a:gridCol>
                <a:gridCol w="2032000">
                  <a:extLst>
                    <a:ext uri="{9D8B030D-6E8A-4147-A177-3AD203B41FA5}">
                      <a16:colId xmlns:a16="http://schemas.microsoft.com/office/drawing/2014/main" val="4180189176"/>
                    </a:ext>
                  </a:extLst>
                </a:gridCol>
                <a:gridCol w="2032000">
                  <a:extLst>
                    <a:ext uri="{9D8B030D-6E8A-4147-A177-3AD203B41FA5}">
                      <a16:colId xmlns:a16="http://schemas.microsoft.com/office/drawing/2014/main" val="236727006"/>
                    </a:ext>
                  </a:extLst>
                </a:gridCol>
              </a:tblGrid>
              <a:tr h="370840">
                <a:tc>
                  <a:txBody>
                    <a:bodyPr/>
                    <a:lstStyle/>
                    <a:p>
                      <a:r>
                        <a:rPr lang="en-US" b="1" dirty="0">
                          <a:solidFill>
                            <a:sysClr val="windowText" lastClr="000000"/>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1" dirty="0">
                          <a:solidFill>
                            <a:sysClr val="windowText" lastClr="000000"/>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b="0" dirty="0"/>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b="0" dirty="0"/>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0.597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b="0" dirty="0"/>
                        <a:t>Overall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0.664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0.841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t>0.742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6" name="TextBox 5">
            <a:extLst>
              <a:ext uri="{FF2B5EF4-FFF2-40B4-BE49-F238E27FC236}">
                <a16:creationId xmlns:a16="http://schemas.microsoft.com/office/drawing/2014/main" id="{8A9794EE-7928-534B-BA50-4869585D6A29}"/>
              </a:ext>
            </a:extLst>
          </p:cNvPr>
          <p:cNvSpPr txBox="1"/>
          <p:nvPr/>
        </p:nvSpPr>
        <p:spPr>
          <a:xfrm>
            <a:off x="6199093" y="5102133"/>
            <a:ext cx="1909482" cy="523220"/>
          </a:xfrm>
          <a:prstGeom prst="rect">
            <a:avLst/>
          </a:prstGeom>
          <a:noFill/>
        </p:spPr>
        <p:txBody>
          <a:bodyPr wrap="square" rtlCol="0">
            <a:spAutoFit/>
          </a:bodyPr>
          <a:lstStyle/>
          <a:p>
            <a:r>
              <a:rPr lang="en-US" sz="1400" dirty="0">
                <a:solidFill>
                  <a:srgbClr val="FF0000"/>
                </a:solidFill>
              </a:rPr>
              <a:t>Only difference was a slight dip in recall</a:t>
            </a:r>
          </a:p>
        </p:txBody>
      </p:sp>
      <p:sp>
        <p:nvSpPr>
          <p:cNvPr id="7" name="TextBox 6">
            <a:extLst>
              <a:ext uri="{FF2B5EF4-FFF2-40B4-BE49-F238E27FC236}">
                <a16:creationId xmlns:a16="http://schemas.microsoft.com/office/drawing/2014/main" id="{B3D7289A-86BC-9346-B4E7-32706FB862D1}"/>
              </a:ext>
            </a:extLst>
          </p:cNvPr>
          <p:cNvSpPr txBox="1"/>
          <p:nvPr/>
        </p:nvSpPr>
        <p:spPr>
          <a:xfrm>
            <a:off x="6199093" y="4189516"/>
            <a:ext cx="2147048" cy="519953"/>
          </a:xfrm>
          <a:prstGeom prst="rect">
            <a:avLst/>
          </a:prstGeom>
          <a:noFill/>
          <a:ln w="19050">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985769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F77C-86C8-F843-B205-C39120074D4C}"/>
              </a:ext>
            </a:extLst>
          </p:cNvPr>
          <p:cNvSpPr>
            <a:spLocks noGrp="1"/>
          </p:cNvSpPr>
          <p:nvPr>
            <p:ph type="title"/>
          </p:nvPr>
        </p:nvSpPr>
        <p:spPr/>
        <p:txBody>
          <a:bodyPr/>
          <a:lstStyle/>
          <a:p>
            <a:r>
              <a:rPr lang="en-US" b="1" dirty="0"/>
              <a:t>Evaluation: Final prediction system</a:t>
            </a:r>
            <a:br>
              <a:rPr lang="en-US" dirty="0"/>
            </a:br>
            <a:r>
              <a:rPr lang="en-US" sz="3000" dirty="0"/>
              <a:t>Final prediction discussion</a:t>
            </a:r>
          </a:p>
        </p:txBody>
      </p:sp>
      <p:sp>
        <p:nvSpPr>
          <p:cNvPr id="3" name="Content Placeholder 2">
            <a:extLst>
              <a:ext uri="{FF2B5EF4-FFF2-40B4-BE49-F238E27FC236}">
                <a16:creationId xmlns:a16="http://schemas.microsoft.com/office/drawing/2014/main" id="{2D3BB729-BD0A-7845-BD99-66E24AA209E5}"/>
              </a:ext>
            </a:extLst>
          </p:cNvPr>
          <p:cNvSpPr>
            <a:spLocks noGrp="1"/>
          </p:cNvSpPr>
          <p:nvPr>
            <p:ph idx="1"/>
          </p:nvPr>
        </p:nvSpPr>
        <p:spPr>
          <a:xfrm>
            <a:off x="1371600" y="1882588"/>
            <a:ext cx="9601200" cy="4625787"/>
          </a:xfrm>
        </p:spPr>
        <p:txBody>
          <a:bodyPr>
            <a:normAutofit/>
          </a:bodyPr>
          <a:lstStyle/>
          <a:p>
            <a:r>
              <a:rPr lang="en-US" dirty="0"/>
              <a:t>Final prediction system identified drug/ADR pairs that were not labelled in the testing dataset</a:t>
            </a:r>
          </a:p>
          <a:p>
            <a:pPr lvl="1"/>
            <a:r>
              <a:rPr lang="en-US" i="0" dirty="0"/>
              <a:t>Additional pairs falsely become false positives</a:t>
            </a:r>
          </a:p>
          <a:p>
            <a:pPr marL="530352" lvl="1" indent="0">
              <a:buNone/>
            </a:pPr>
            <a:endParaRPr lang="en-US" i="0" dirty="0"/>
          </a:p>
          <a:p>
            <a:pPr marL="530352" lvl="1" indent="0">
              <a:buNone/>
            </a:pPr>
            <a:endParaRPr lang="en-US" i="0" dirty="0"/>
          </a:p>
          <a:p>
            <a:pPr marL="530352" lvl="1" indent="0">
              <a:buNone/>
            </a:pPr>
            <a:endParaRPr lang="en-US" i="0" dirty="0"/>
          </a:p>
          <a:p>
            <a:pPr marL="530352" lvl="1" indent="0">
              <a:buNone/>
            </a:pPr>
            <a:endParaRPr lang="en-US" i="0" dirty="0"/>
          </a:p>
          <a:p>
            <a:pPr marL="530352" lvl="1" indent="0">
              <a:buNone/>
            </a:pPr>
            <a:endParaRPr lang="en-US" i="0" dirty="0"/>
          </a:p>
          <a:p>
            <a:pPr marL="530352" lvl="1" indent="0">
              <a:buNone/>
            </a:pPr>
            <a:endParaRPr lang="en-US" i="0" dirty="0"/>
          </a:p>
          <a:p>
            <a:endParaRPr lang="en-US" dirty="0"/>
          </a:p>
          <a:p>
            <a:r>
              <a:rPr lang="en-US" dirty="0"/>
              <a:t>Possible that increase in dependency parsing related false positives, offset discarded cosine similarity related false positives</a:t>
            </a:r>
          </a:p>
          <a:p>
            <a:pPr marL="0" indent="0">
              <a:buNone/>
            </a:pPr>
            <a:endParaRPr lang="en-US" dirty="0"/>
          </a:p>
        </p:txBody>
      </p:sp>
      <p:graphicFrame>
        <p:nvGraphicFramePr>
          <p:cNvPr id="4" name="Table 3">
            <a:extLst>
              <a:ext uri="{FF2B5EF4-FFF2-40B4-BE49-F238E27FC236}">
                <a16:creationId xmlns:a16="http://schemas.microsoft.com/office/drawing/2014/main" id="{042B5869-94FF-D048-A319-A07E749B9D4D}"/>
              </a:ext>
            </a:extLst>
          </p:cNvPr>
          <p:cNvGraphicFramePr>
            <a:graphicFrameLocks noGrp="1"/>
          </p:cNvGraphicFramePr>
          <p:nvPr>
            <p:extLst>
              <p:ext uri="{D42A27DB-BD31-4B8C-83A1-F6EECF244321}">
                <p14:modId xmlns:p14="http://schemas.microsoft.com/office/powerpoint/2010/main" val="3002612184"/>
              </p:ext>
            </p:extLst>
          </p:nvPr>
        </p:nvGraphicFramePr>
        <p:xfrm>
          <a:off x="1982694" y="3810001"/>
          <a:ext cx="4189506" cy="1691640"/>
        </p:xfrm>
        <a:graphic>
          <a:graphicData uri="http://schemas.openxmlformats.org/drawingml/2006/table">
            <a:tbl>
              <a:tblPr firstRow="1" bandRow="1">
                <a:tableStyleId>{5C22544A-7EE6-4342-B048-85BDC9FD1C3A}</a:tableStyleId>
              </a:tblPr>
              <a:tblGrid>
                <a:gridCol w="2094753">
                  <a:extLst>
                    <a:ext uri="{9D8B030D-6E8A-4147-A177-3AD203B41FA5}">
                      <a16:colId xmlns:a16="http://schemas.microsoft.com/office/drawing/2014/main" val="1664126239"/>
                    </a:ext>
                  </a:extLst>
                </a:gridCol>
                <a:gridCol w="2094753">
                  <a:extLst>
                    <a:ext uri="{9D8B030D-6E8A-4147-A177-3AD203B41FA5}">
                      <a16:colId xmlns:a16="http://schemas.microsoft.com/office/drawing/2014/main" val="3042565391"/>
                    </a:ext>
                  </a:extLst>
                </a:gridCol>
              </a:tblGrid>
              <a:tr h="370840">
                <a:tc>
                  <a:txBody>
                    <a:bodyPr/>
                    <a:lstStyle/>
                    <a:p>
                      <a:r>
                        <a:rPr lang="en-US" sz="1600" b="1" dirty="0">
                          <a:solidFill>
                            <a:sysClr val="windowText" lastClr="000000"/>
                          </a:solidFill>
                        </a:rPr>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600" b="1" dirty="0">
                          <a:solidFill>
                            <a:sysClr val="windowText" lastClr="000000"/>
                          </a:solidFill>
                        </a:rPr>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sz="1600" b="0" dirty="0"/>
                        <a:t>[‘interferon alpha’]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[‘cardiomyopathy’, </a:t>
                      </a:r>
                      <a:r>
                        <a:rPr lang="en-US" sz="1600" b="0" dirty="0">
                          <a:solidFill>
                            <a:srgbClr val="FF0000"/>
                          </a:solidFill>
                        </a:rPr>
                        <a:t>‘polymyositis’</a:t>
                      </a:r>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graphicFrame>
        <p:nvGraphicFramePr>
          <p:cNvPr id="5" name="Table 4">
            <a:extLst>
              <a:ext uri="{FF2B5EF4-FFF2-40B4-BE49-F238E27FC236}">
                <a16:creationId xmlns:a16="http://schemas.microsoft.com/office/drawing/2014/main" id="{B0DAD8C6-DF58-B249-8491-3C9B75D016A7}"/>
              </a:ext>
            </a:extLst>
          </p:cNvPr>
          <p:cNvGraphicFramePr>
            <a:graphicFrameLocks noGrp="1"/>
          </p:cNvGraphicFramePr>
          <p:nvPr>
            <p:extLst>
              <p:ext uri="{D42A27DB-BD31-4B8C-83A1-F6EECF244321}">
                <p14:modId xmlns:p14="http://schemas.microsoft.com/office/powerpoint/2010/main" val="1584520913"/>
              </p:ext>
            </p:extLst>
          </p:nvPr>
        </p:nvGraphicFramePr>
        <p:xfrm>
          <a:off x="6783294" y="3867364"/>
          <a:ext cx="4189506" cy="1483360"/>
        </p:xfrm>
        <a:graphic>
          <a:graphicData uri="http://schemas.openxmlformats.org/drawingml/2006/table">
            <a:tbl>
              <a:tblPr firstRow="1" bandRow="1">
                <a:tableStyleId>{5C22544A-7EE6-4342-B048-85BDC9FD1C3A}</a:tableStyleId>
              </a:tblPr>
              <a:tblGrid>
                <a:gridCol w="2094753">
                  <a:extLst>
                    <a:ext uri="{9D8B030D-6E8A-4147-A177-3AD203B41FA5}">
                      <a16:colId xmlns:a16="http://schemas.microsoft.com/office/drawing/2014/main" val="1664126239"/>
                    </a:ext>
                  </a:extLst>
                </a:gridCol>
                <a:gridCol w="2094753">
                  <a:extLst>
                    <a:ext uri="{9D8B030D-6E8A-4147-A177-3AD203B41FA5}">
                      <a16:colId xmlns:a16="http://schemas.microsoft.com/office/drawing/2014/main" val="3042565391"/>
                    </a:ext>
                  </a:extLst>
                </a:gridCol>
              </a:tblGrid>
              <a:tr h="370840">
                <a:tc>
                  <a:txBody>
                    <a:bodyPr/>
                    <a:lstStyle/>
                    <a:p>
                      <a:r>
                        <a:rPr lang="en-US" sz="1600" b="1" dirty="0">
                          <a:solidFill>
                            <a:sysClr val="windowText" lastClr="000000"/>
                          </a:solidFill>
                        </a:rPr>
                        <a:t>Drug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600" b="1" dirty="0">
                          <a:solidFill>
                            <a:sysClr val="windowText" lastClr="000000"/>
                          </a:solidFill>
                        </a:rPr>
                        <a:t>ADR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51106426"/>
                  </a:ext>
                </a:extLst>
              </a:tr>
              <a:tr h="370840">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6883772"/>
                  </a:ext>
                </a:extLst>
              </a:tr>
              <a:tr h="370840">
                <a:tc>
                  <a:txBody>
                    <a:bodyPr/>
                    <a:lstStyle/>
                    <a:p>
                      <a:r>
                        <a:rPr lang="en-US" sz="1600" b="0" dirty="0"/>
                        <a:t>[‘interferon alpha’]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[‘cardiomyopathy’]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289983"/>
                  </a:ext>
                </a:extLst>
              </a:tr>
              <a:tr h="370840">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616309"/>
                  </a:ext>
                </a:extLst>
              </a:tr>
            </a:tbl>
          </a:graphicData>
        </a:graphic>
      </p:graphicFrame>
      <p:sp>
        <p:nvSpPr>
          <p:cNvPr id="6" name="TextBox 5">
            <a:extLst>
              <a:ext uri="{FF2B5EF4-FFF2-40B4-BE49-F238E27FC236}">
                <a16:creationId xmlns:a16="http://schemas.microsoft.com/office/drawing/2014/main" id="{2484A95A-9C0F-6C45-A57A-6D92D7E3671A}"/>
              </a:ext>
            </a:extLst>
          </p:cNvPr>
          <p:cNvSpPr txBox="1"/>
          <p:nvPr/>
        </p:nvSpPr>
        <p:spPr>
          <a:xfrm>
            <a:off x="2941719" y="3387905"/>
            <a:ext cx="2271456" cy="338554"/>
          </a:xfrm>
          <a:prstGeom prst="rect">
            <a:avLst/>
          </a:prstGeom>
          <a:noFill/>
        </p:spPr>
        <p:txBody>
          <a:bodyPr wrap="none" rtlCol="0">
            <a:spAutoFit/>
          </a:bodyPr>
          <a:lstStyle/>
          <a:p>
            <a:r>
              <a:rPr lang="en-US" sz="1600" b="1" u="sng" dirty="0"/>
              <a:t>Final system predictions</a:t>
            </a:r>
          </a:p>
        </p:txBody>
      </p:sp>
      <p:sp>
        <p:nvSpPr>
          <p:cNvPr id="7" name="TextBox 6">
            <a:extLst>
              <a:ext uri="{FF2B5EF4-FFF2-40B4-BE49-F238E27FC236}">
                <a16:creationId xmlns:a16="http://schemas.microsoft.com/office/drawing/2014/main" id="{297A9956-0781-0B45-BEA5-F0938AE13D26}"/>
              </a:ext>
            </a:extLst>
          </p:cNvPr>
          <p:cNvSpPr txBox="1"/>
          <p:nvPr/>
        </p:nvSpPr>
        <p:spPr>
          <a:xfrm>
            <a:off x="8191064" y="3410453"/>
            <a:ext cx="1241109" cy="338554"/>
          </a:xfrm>
          <a:prstGeom prst="rect">
            <a:avLst/>
          </a:prstGeom>
          <a:noFill/>
        </p:spPr>
        <p:txBody>
          <a:bodyPr wrap="none" rtlCol="0">
            <a:spAutoFit/>
          </a:bodyPr>
          <a:lstStyle/>
          <a:p>
            <a:r>
              <a:rPr lang="en-US" sz="1600" b="1" u="sng" dirty="0"/>
              <a:t>Test dataset</a:t>
            </a:r>
          </a:p>
        </p:txBody>
      </p:sp>
      <p:sp>
        <p:nvSpPr>
          <p:cNvPr id="8" name="TextBox 7">
            <a:extLst>
              <a:ext uri="{FF2B5EF4-FFF2-40B4-BE49-F238E27FC236}">
                <a16:creationId xmlns:a16="http://schemas.microsoft.com/office/drawing/2014/main" id="{B751F682-51A3-EC46-9C96-F19D03D66F56}"/>
              </a:ext>
            </a:extLst>
          </p:cNvPr>
          <p:cNvSpPr txBox="1"/>
          <p:nvPr/>
        </p:nvSpPr>
        <p:spPr>
          <a:xfrm>
            <a:off x="1420428" y="3042924"/>
            <a:ext cx="8011745" cy="369332"/>
          </a:xfrm>
          <a:prstGeom prst="rect">
            <a:avLst/>
          </a:prstGeom>
          <a:noFill/>
        </p:spPr>
        <p:txBody>
          <a:bodyPr wrap="none" rtlCol="0">
            <a:spAutoFit/>
          </a:bodyPr>
          <a:lstStyle/>
          <a:p>
            <a:r>
              <a:rPr lang="en-US" b="1" dirty="0"/>
              <a:t>Text: </a:t>
            </a:r>
            <a:r>
              <a:rPr lang="en-US" i="1" dirty="0"/>
              <a:t>“</a:t>
            </a:r>
            <a:r>
              <a:rPr lang="en-US" b="1" i="1" dirty="0"/>
              <a:t>interferon alpha</a:t>
            </a:r>
            <a:r>
              <a:rPr lang="en-US" i="1" dirty="0"/>
              <a:t> induced </a:t>
            </a:r>
            <a:r>
              <a:rPr lang="en-US" i="1" dirty="0">
                <a:solidFill>
                  <a:srgbClr val="FF0000"/>
                </a:solidFill>
              </a:rPr>
              <a:t>polymyositis</a:t>
            </a:r>
            <a:r>
              <a:rPr lang="en-US" i="1" dirty="0"/>
              <a:t> and </a:t>
            </a:r>
            <a:r>
              <a:rPr lang="en-US" b="1" i="1" dirty="0"/>
              <a:t>cardiomyopathy</a:t>
            </a:r>
            <a:r>
              <a:rPr lang="en-US" i="1" dirty="0"/>
              <a:t> is diagnosed …”</a:t>
            </a:r>
          </a:p>
        </p:txBody>
      </p:sp>
    </p:spTree>
    <p:extLst>
      <p:ext uri="{BB962C8B-B14F-4D97-AF65-F5344CB8AC3E}">
        <p14:creationId xmlns:p14="http://schemas.microsoft.com/office/powerpoint/2010/main" val="3511952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1654-3456-A144-B028-4ED63AAF4DD3}"/>
              </a:ext>
            </a:extLst>
          </p:cNvPr>
          <p:cNvSpPr>
            <a:spLocks noGrp="1"/>
          </p:cNvSpPr>
          <p:nvPr>
            <p:ph type="title"/>
          </p:nvPr>
        </p:nvSpPr>
        <p:spPr>
          <a:xfrm>
            <a:off x="1371600" y="685800"/>
            <a:ext cx="9601200" cy="1376082"/>
          </a:xfrm>
        </p:spPr>
        <p:txBody>
          <a:bodyPr/>
          <a:lstStyle/>
          <a:p>
            <a:r>
              <a:rPr lang="en-US" b="1" dirty="0"/>
              <a:t>Future improvements</a:t>
            </a:r>
            <a:br>
              <a:rPr lang="en-US" dirty="0"/>
            </a:br>
            <a:r>
              <a:rPr lang="en-US" sz="3000" dirty="0"/>
              <a:t>Additional methods to improving performance</a:t>
            </a:r>
          </a:p>
        </p:txBody>
      </p:sp>
      <p:sp>
        <p:nvSpPr>
          <p:cNvPr id="3" name="Content Placeholder 2">
            <a:extLst>
              <a:ext uri="{FF2B5EF4-FFF2-40B4-BE49-F238E27FC236}">
                <a16:creationId xmlns:a16="http://schemas.microsoft.com/office/drawing/2014/main" id="{73C070EC-35FF-1645-ADA3-EC6F49BD58B2}"/>
              </a:ext>
            </a:extLst>
          </p:cNvPr>
          <p:cNvSpPr>
            <a:spLocks noGrp="1"/>
          </p:cNvSpPr>
          <p:nvPr>
            <p:ph idx="1"/>
          </p:nvPr>
        </p:nvSpPr>
        <p:spPr>
          <a:xfrm>
            <a:off x="1371600" y="2151530"/>
            <a:ext cx="9601200" cy="3581400"/>
          </a:xfrm>
        </p:spPr>
        <p:txBody>
          <a:bodyPr>
            <a:normAutofit/>
          </a:bodyPr>
          <a:lstStyle/>
          <a:p>
            <a:r>
              <a:rPr lang="en-US" dirty="0"/>
              <a:t>Utilize drug/ADR pairs from additional databases (FAERS, CVP) to extract abstracts from scientific literature</a:t>
            </a:r>
          </a:p>
          <a:p>
            <a:pPr lvl="1"/>
            <a:r>
              <a:rPr lang="en-US" i="0" dirty="0"/>
              <a:t>Drug, ADR, Text data can be used to supplement LSTM model training</a:t>
            </a:r>
          </a:p>
          <a:p>
            <a:pPr lvl="1"/>
            <a:r>
              <a:rPr lang="en-US" i="0" dirty="0"/>
              <a:t>Text data can be used to supplement word2vec model training, making it more robust in calculating cosine similarity scores</a:t>
            </a:r>
          </a:p>
          <a:p>
            <a:r>
              <a:rPr lang="en-US" dirty="0"/>
              <a:t>Query additional databases to expand drug and ADR names used for reference matching in dependency parsing e.g. acronyms</a:t>
            </a:r>
          </a:p>
          <a:p>
            <a:r>
              <a:rPr lang="en-US" dirty="0"/>
              <a:t>Increase number of training epochs for LSTM model training</a:t>
            </a:r>
          </a:p>
          <a:p>
            <a:endParaRPr lang="en-US" dirty="0"/>
          </a:p>
        </p:txBody>
      </p:sp>
    </p:spTree>
    <p:extLst>
      <p:ext uri="{BB962C8B-B14F-4D97-AF65-F5344CB8AC3E}">
        <p14:creationId xmlns:p14="http://schemas.microsoft.com/office/powerpoint/2010/main" val="819578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E9D3D5-3B96-DF44-A8C3-0AAFDD261877}"/>
              </a:ext>
            </a:extLst>
          </p:cNvPr>
          <p:cNvSpPr/>
          <p:nvPr/>
        </p:nvSpPr>
        <p:spPr>
          <a:xfrm>
            <a:off x="1999129" y="475129"/>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HuggingFace database</a:t>
            </a:r>
          </a:p>
        </p:txBody>
      </p:sp>
      <p:sp>
        <p:nvSpPr>
          <p:cNvPr id="6" name="TextBox 5">
            <a:extLst>
              <a:ext uri="{FF2B5EF4-FFF2-40B4-BE49-F238E27FC236}">
                <a16:creationId xmlns:a16="http://schemas.microsoft.com/office/drawing/2014/main" id="{5AB3CFCA-2494-574E-B6A7-2800E1FC5166}"/>
              </a:ext>
            </a:extLst>
          </p:cNvPr>
          <p:cNvSpPr txBox="1"/>
          <p:nvPr/>
        </p:nvSpPr>
        <p:spPr>
          <a:xfrm>
            <a:off x="1621365" y="1586753"/>
            <a:ext cx="656526" cy="369332"/>
          </a:xfrm>
          <a:prstGeom prst="rect">
            <a:avLst/>
          </a:prstGeom>
          <a:noFill/>
        </p:spPr>
        <p:txBody>
          <a:bodyPr wrap="none" rtlCol="0">
            <a:spAutoFit/>
          </a:bodyPr>
          <a:lstStyle/>
          <a:p>
            <a:r>
              <a:rPr lang="en-US" dirty="0"/>
              <a:t>Train</a:t>
            </a:r>
          </a:p>
        </p:txBody>
      </p:sp>
      <p:sp>
        <p:nvSpPr>
          <p:cNvPr id="7" name="TextBox 6">
            <a:extLst>
              <a:ext uri="{FF2B5EF4-FFF2-40B4-BE49-F238E27FC236}">
                <a16:creationId xmlns:a16="http://schemas.microsoft.com/office/drawing/2014/main" id="{5BB10A2C-70A3-844C-BBD2-F5FCD2EBB07D}"/>
              </a:ext>
            </a:extLst>
          </p:cNvPr>
          <p:cNvSpPr txBox="1"/>
          <p:nvPr/>
        </p:nvSpPr>
        <p:spPr>
          <a:xfrm>
            <a:off x="2319422" y="1597497"/>
            <a:ext cx="1143390" cy="369332"/>
          </a:xfrm>
          <a:prstGeom prst="rect">
            <a:avLst/>
          </a:prstGeom>
          <a:noFill/>
        </p:spPr>
        <p:txBody>
          <a:bodyPr wrap="none" rtlCol="0">
            <a:spAutoFit/>
          </a:bodyPr>
          <a:lstStyle/>
          <a:p>
            <a:r>
              <a:rPr lang="en-US" dirty="0"/>
              <a:t>Validation</a:t>
            </a:r>
          </a:p>
        </p:txBody>
      </p:sp>
      <p:sp>
        <p:nvSpPr>
          <p:cNvPr id="8" name="TextBox 7">
            <a:extLst>
              <a:ext uri="{FF2B5EF4-FFF2-40B4-BE49-F238E27FC236}">
                <a16:creationId xmlns:a16="http://schemas.microsoft.com/office/drawing/2014/main" id="{627CF63F-014E-0946-A39F-5B7FBA459F74}"/>
              </a:ext>
            </a:extLst>
          </p:cNvPr>
          <p:cNvSpPr txBox="1"/>
          <p:nvPr/>
        </p:nvSpPr>
        <p:spPr>
          <a:xfrm>
            <a:off x="3504343" y="1586753"/>
            <a:ext cx="580031" cy="369332"/>
          </a:xfrm>
          <a:prstGeom prst="rect">
            <a:avLst/>
          </a:prstGeom>
          <a:noFill/>
        </p:spPr>
        <p:txBody>
          <a:bodyPr wrap="none" rtlCol="0">
            <a:spAutoFit/>
          </a:bodyPr>
          <a:lstStyle/>
          <a:p>
            <a:r>
              <a:rPr lang="en-US" dirty="0"/>
              <a:t>Test</a:t>
            </a:r>
          </a:p>
        </p:txBody>
      </p:sp>
      <p:sp>
        <p:nvSpPr>
          <p:cNvPr id="10" name="TextBox 9">
            <a:extLst>
              <a:ext uri="{FF2B5EF4-FFF2-40B4-BE49-F238E27FC236}">
                <a16:creationId xmlns:a16="http://schemas.microsoft.com/office/drawing/2014/main" id="{1E650869-9476-A044-8917-83ABF4759D01}"/>
              </a:ext>
            </a:extLst>
          </p:cNvPr>
          <p:cNvSpPr txBox="1"/>
          <p:nvPr/>
        </p:nvSpPr>
        <p:spPr>
          <a:xfrm>
            <a:off x="3504343" y="1206206"/>
            <a:ext cx="1744004" cy="276999"/>
          </a:xfrm>
          <a:prstGeom prst="rect">
            <a:avLst/>
          </a:prstGeom>
          <a:noFill/>
        </p:spPr>
        <p:txBody>
          <a:bodyPr wrap="none" rtlCol="0">
            <a:spAutoFit/>
          </a:bodyPr>
          <a:lstStyle/>
          <a:p>
            <a:r>
              <a:rPr lang="en-US" sz="1200" b="1" dirty="0"/>
              <a:t>75/15/15 shuffled split</a:t>
            </a:r>
          </a:p>
        </p:txBody>
      </p:sp>
      <p:cxnSp>
        <p:nvCxnSpPr>
          <p:cNvPr id="12" name="Straight Arrow Connector 11">
            <a:extLst>
              <a:ext uri="{FF2B5EF4-FFF2-40B4-BE49-F238E27FC236}">
                <a16:creationId xmlns:a16="http://schemas.microsoft.com/office/drawing/2014/main" id="{8FA33F7A-00AF-B747-AACF-A8378EA36E04}"/>
              </a:ext>
            </a:extLst>
          </p:cNvPr>
          <p:cNvCxnSpPr/>
          <p:nvPr/>
        </p:nvCxnSpPr>
        <p:spPr>
          <a:xfrm flipH="1">
            <a:off x="2070847" y="1206206"/>
            <a:ext cx="466165"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66D2F2A-34F3-B247-AD3F-E865CA56D340}"/>
              </a:ext>
            </a:extLst>
          </p:cNvPr>
          <p:cNvCxnSpPr>
            <a:endCxn id="7" idx="0"/>
          </p:cNvCxnSpPr>
          <p:nvPr/>
        </p:nvCxnSpPr>
        <p:spPr>
          <a:xfrm>
            <a:off x="2891117" y="12062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2FA9BFA-92F2-F141-B825-1C35978E767F}"/>
              </a:ext>
            </a:extLst>
          </p:cNvPr>
          <p:cNvCxnSpPr/>
          <p:nvPr/>
        </p:nvCxnSpPr>
        <p:spPr>
          <a:xfrm>
            <a:off x="3272118" y="1206206"/>
            <a:ext cx="376517"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AA76B3FD-8C91-D448-8EC3-E9FD23710B63}"/>
              </a:ext>
            </a:extLst>
          </p:cNvPr>
          <p:cNvSpPr/>
          <p:nvPr/>
        </p:nvSpPr>
        <p:spPr>
          <a:xfrm>
            <a:off x="7010400" y="892441"/>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19" name="Straight Arrow Connector 18">
            <a:extLst>
              <a:ext uri="{FF2B5EF4-FFF2-40B4-BE49-F238E27FC236}">
                <a16:creationId xmlns:a16="http://schemas.microsoft.com/office/drawing/2014/main" id="{DF9BB64B-3387-C740-82B3-0B2736B8E4DD}"/>
              </a:ext>
            </a:extLst>
          </p:cNvPr>
          <p:cNvCxnSpPr>
            <a:cxnSpLocks/>
          </p:cNvCxnSpPr>
          <p:nvPr/>
        </p:nvCxnSpPr>
        <p:spPr>
          <a:xfrm>
            <a:off x="5620870" y="1111623"/>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AC4A460-CE07-D14D-A487-7E74BD2215AC}"/>
              </a:ext>
            </a:extLst>
          </p:cNvPr>
          <p:cNvCxnSpPr>
            <a:cxnSpLocks/>
          </p:cNvCxnSpPr>
          <p:nvPr/>
        </p:nvCxnSpPr>
        <p:spPr>
          <a:xfrm>
            <a:off x="5629835" y="121517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D053E1-458A-A84E-AB11-8ECB4615618F}"/>
              </a:ext>
            </a:extLst>
          </p:cNvPr>
          <p:cNvCxnSpPr>
            <a:cxnSpLocks/>
          </p:cNvCxnSpPr>
          <p:nvPr/>
        </p:nvCxnSpPr>
        <p:spPr>
          <a:xfrm>
            <a:off x="5629835" y="132677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2217629-1043-BC41-BDC7-C9742B7C0898}"/>
              </a:ext>
            </a:extLst>
          </p:cNvPr>
          <p:cNvSpPr txBox="1"/>
          <p:nvPr/>
        </p:nvSpPr>
        <p:spPr>
          <a:xfrm>
            <a:off x="5738821" y="834624"/>
            <a:ext cx="695319" cy="276999"/>
          </a:xfrm>
          <a:prstGeom prst="rect">
            <a:avLst/>
          </a:prstGeom>
          <a:noFill/>
        </p:spPr>
        <p:txBody>
          <a:bodyPr wrap="none" rtlCol="0">
            <a:spAutoFit/>
          </a:bodyPr>
          <a:lstStyle/>
          <a:p>
            <a:r>
              <a:rPr lang="en-US" sz="1200" b="1" dirty="0"/>
              <a:t>Training</a:t>
            </a:r>
          </a:p>
        </p:txBody>
      </p:sp>
      <p:sp>
        <p:nvSpPr>
          <p:cNvPr id="26" name="TextBox 25">
            <a:extLst>
              <a:ext uri="{FF2B5EF4-FFF2-40B4-BE49-F238E27FC236}">
                <a16:creationId xmlns:a16="http://schemas.microsoft.com/office/drawing/2014/main" id="{188167AA-2DFE-2248-BD2D-E136ACB5E46B}"/>
              </a:ext>
            </a:extLst>
          </p:cNvPr>
          <p:cNvSpPr txBox="1"/>
          <p:nvPr/>
        </p:nvSpPr>
        <p:spPr>
          <a:xfrm>
            <a:off x="9190786" y="834624"/>
            <a:ext cx="744819" cy="276999"/>
          </a:xfrm>
          <a:prstGeom prst="rect">
            <a:avLst/>
          </a:prstGeom>
          <a:noFill/>
        </p:spPr>
        <p:txBody>
          <a:bodyPr wrap="none" rtlCol="0">
            <a:spAutoFit/>
          </a:bodyPr>
          <a:lstStyle/>
          <a:p>
            <a:r>
              <a:rPr lang="en-US" sz="1200" b="1" dirty="0"/>
              <a:t>Evaluate</a:t>
            </a:r>
          </a:p>
        </p:txBody>
      </p:sp>
      <p:sp>
        <p:nvSpPr>
          <p:cNvPr id="27" name="TextBox 26">
            <a:extLst>
              <a:ext uri="{FF2B5EF4-FFF2-40B4-BE49-F238E27FC236}">
                <a16:creationId xmlns:a16="http://schemas.microsoft.com/office/drawing/2014/main" id="{CC662D97-6947-7A48-B987-83BA61D190AF}"/>
              </a:ext>
            </a:extLst>
          </p:cNvPr>
          <p:cNvSpPr txBox="1"/>
          <p:nvPr/>
        </p:nvSpPr>
        <p:spPr>
          <a:xfrm>
            <a:off x="10192871" y="892441"/>
            <a:ext cx="1429870" cy="584775"/>
          </a:xfrm>
          <a:prstGeom prst="rect">
            <a:avLst/>
          </a:prstGeom>
          <a:noFill/>
        </p:spPr>
        <p:txBody>
          <a:bodyPr wrap="square" rtlCol="0">
            <a:spAutoFit/>
          </a:bodyPr>
          <a:lstStyle/>
          <a:p>
            <a:pPr algn="ctr"/>
            <a:r>
              <a:rPr lang="en-US" sz="1600" b="1" dirty="0">
                <a:solidFill>
                  <a:srgbClr val="FF0000"/>
                </a:solidFill>
              </a:rPr>
              <a:t>Base performance</a:t>
            </a:r>
          </a:p>
        </p:txBody>
      </p:sp>
      <p:cxnSp>
        <p:nvCxnSpPr>
          <p:cNvPr id="49" name="Straight Arrow Connector 48">
            <a:extLst>
              <a:ext uri="{FF2B5EF4-FFF2-40B4-BE49-F238E27FC236}">
                <a16:creationId xmlns:a16="http://schemas.microsoft.com/office/drawing/2014/main" id="{7F05DD9F-B448-C749-AFDB-F879B3697296}"/>
              </a:ext>
            </a:extLst>
          </p:cNvPr>
          <p:cNvCxnSpPr/>
          <p:nvPr/>
        </p:nvCxnSpPr>
        <p:spPr>
          <a:xfrm>
            <a:off x="9027459" y="1215170"/>
            <a:ext cx="9861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71937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E9D3D5-3B96-DF44-A8C3-0AAFDD261877}"/>
              </a:ext>
            </a:extLst>
          </p:cNvPr>
          <p:cNvSpPr/>
          <p:nvPr/>
        </p:nvSpPr>
        <p:spPr>
          <a:xfrm>
            <a:off x="1999129" y="475129"/>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HuggingFace database</a:t>
            </a:r>
          </a:p>
        </p:txBody>
      </p:sp>
      <p:sp>
        <p:nvSpPr>
          <p:cNvPr id="6" name="TextBox 5">
            <a:extLst>
              <a:ext uri="{FF2B5EF4-FFF2-40B4-BE49-F238E27FC236}">
                <a16:creationId xmlns:a16="http://schemas.microsoft.com/office/drawing/2014/main" id="{5AB3CFCA-2494-574E-B6A7-2800E1FC5166}"/>
              </a:ext>
            </a:extLst>
          </p:cNvPr>
          <p:cNvSpPr txBox="1"/>
          <p:nvPr/>
        </p:nvSpPr>
        <p:spPr>
          <a:xfrm>
            <a:off x="1621365" y="1586753"/>
            <a:ext cx="656526" cy="369332"/>
          </a:xfrm>
          <a:prstGeom prst="rect">
            <a:avLst/>
          </a:prstGeom>
          <a:noFill/>
        </p:spPr>
        <p:txBody>
          <a:bodyPr wrap="none" rtlCol="0">
            <a:spAutoFit/>
          </a:bodyPr>
          <a:lstStyle/>
          <a:p>
            <a:r>
              <a:rPr lang="en-US" dirty="0"/>
              <a:t>Train</a:t>
            </a:r>
          </a:p>
        </p:txBody>
      </p:sp>
      <p:sp>
        <p:nvSpPr>
          <p:cNvPr id="7" name="TextBox 6">
            <a:extLst>
              <a:ext uri="{FF2B5EF4-FFF2-40B4-BE49-F238E27FC236}">
                <a16:creationId xmlns:a16="http://schemas.microsoft.com/office/drawing/2014/main" id="{5BB10A2C-70A3-844C-BBD2-F5FCD2EBB07D}"/>
              </a:ext>
            </a:extLst>
          </p:cNvPr>
          <p:cNvSpPr txBox="1"/>
          <p:nvPr/>
        </p:nvSpPr>
        <p:spPr>
          <a:xfrm>
            <a:off x="2319422" y="1597497"/>
            <a:ext cx="1143390" cy="369332"/>
          </a:xfrm>
          <a:prstGeom prst="rect">
            <a:avLst/>
          </a:prstGeom>
          <a:noFill/>
        </p:spPr>
        <p:txBody>
          <a:bodyPr wrap="none" rtlCol="0">
            <a:spAutoFit/>
          </a:bodyPr>
          <a:lstStyle/>
          <a:p>
            <a:r>
              <a:rPr lang="en-US" dirty="0"/>
              <a:t>Validation</a:t>
            </a:r>
          </a:p>
        </p:txBody>
      </p:sp>
      <p:sp>
        <p:nvSpPr>
          <p:cNvPr id="8" name="TextBox 7">
            <a:extLst>
              <a:ext uri="{FF2B5EF4-FFF2-40B4-BE49-F238E27FC236}">
                <a16:creationId xmlns:a16="http://schemas.microsoft.com/office/drawing/2014/main" id="{627CF63F-014E-0946-A39F-5B7FBA459F74}"/>
              </a:ext>
            </a:extLst>
          </p:cNvPr>
          <p:cNvSpPr txBox="1"/>
          <p:nvPr/>
        </p:nvSpPr>
        <p:spPr>
          <a:xfrm>
            <a:off x="3504343" y="1586753"/>
            <a:ext cx="580031" cy="369332"/>
          </a:xfrm>
          <a:prstGeom prst="rect">
            <a:avLst/>
          </a:prstGeom>
          <a:noFill/>
        </p:spPr>
        <p:txBody>
          <a:bodyPr wrap="none" rtlCol="0">
            <a:spAutoFit/>
          </a:bodyPr>
          <a:lstStyle/>
          <a:p>
            <a:r>
              <a:rPr lang="en-US" dirty="0"/>
              <a:t>Test</a:t>
            </a:r>
          </a:p>
        </p:txBody>
      </p:sp>
      <p:sp>
        <p:nvSpPr>
          <p:cNvPr id="10" name="TextBox 9">
            <a:extLst>
              <a:ext uri="{FF2B5EF4-FFF2-40B4-BE49-F238E27FC236}">
                <a16:creationId xmlns:a16="http://schemas.microsoft.com/office/drawing/2014/main" id="{1E650869-9476-A044-8917-83ABF4759D01}"/>
              </a:ext>
            </a:extLst>
          </p:cNvPr>
          <p:cNvSpPr txBox="1"/>
          <p:nvPr/>
        </p:nvSpPr>
        <p:spPr>
          <a:xfrm>
            <a:off x="3504343" y="1206206"/>
            <a:ext cx="1744004" cy="276999"/>
          </a:xfrm>
          <a:prstGeom prst="rect">
            <a:avLst/>
          </a:prstGeom>
          <a:noFill/>
        </p:spPr>
        <p:txBody>
          <a:bodyPr wrap="none" rtlCol="0">
            <a:spAutoFit/>
          </a:bodyPr>
          <a:lstStyle/>
          <a:p>
            <a:r>
              <a:rPr lang="en-US" sz="1200" b="1" dirty="0"/>
              <a:t>75/15/15 shuffled split</a:t>
            </a:r>
          </a:p>
        </p:txBody>
      </p:sp>
      <p:cxnSp>
        <p:nvCxnSpPr>
          <p:cNvPr id="12" name="Straight Arrow Connector 11">
            <a:extLst>
              <a:ext uri="{FF2B5EF4-FFF2-40B4-BE49-F238E27FC236}">
                <a16:creationId xmlns:a16="http://schemas.microsoft.com/office/drawing/2014/main" id="{8FA33F7A-00AF-B747-AACF-A8378EA36E04}"/>
              </a:ext>
            </a:extLst>
          </p:cNvPr>
          <p:cNvCxnSpPr/>
          <p:nvPr/>
        </p:nvCxnSpPr>
        <p:spPr>
          <a:xfrm flipH="1">
            <a:off x="2070847" y="1206206"/>
            <a:ext cx="466165"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66D2F2A-34F3-B247-AD3F-E865CA56D340}"/>
              </a:ext>
            </a:extLst>
          </p:cNvPr>
          <p:cNvCxnSpPr>
            <a:endCxn id="7" idx="0"/>
          </p:cNvCxnSpPr>
          <p:nvPr/>
        </p:nvCxnSpPr>
        <p:spPr>
          <a:xfrm>
            <a:off x="2891117" y="12062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2FA9BFA-92F2-F141-B825-1C35978E767F}"/>
              </a:ext>
            </a:extLst>
          </p:cNvPr>
          <p:cNvCxnSpPr/>
          <p:nvPr/>
        </p:nvCxnSpPr>
        <p:spPr>
          <a:xfrm>
            <a:off x="3272118" y="1206206"/>
            <a:ext cx="376517"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AA76B3FD-8C91-D448-8EC3-E9FD23710B63}"/>
              </a:ext>
            </a:extLst>
          </p:cNvPr>
          <p:cNvSpPr/>
          <p:nvPr/>
        </p:nvSpPr>
        <p:spPr>
          <a:xfrm>
            <a:off x="7010400" y="892441"/>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19" name="Straight Arrow Connector 18">
            <a:extLst>
              <a:ext uri="{FF2B5EF4-FFF2-40B4-BE49-F238E27FC236}">
                <a16:creationId xmlns:a16="http://schemas.microsoft.com/office/drawing/2014/main" id="{DF9BB64B-3387-C740-82B3-0B2736B8E4DD}"/>
              </a:ext>
            </a:extLst>
          </p:cNvPr>
          <p:cNvCxnSpPr>
            <a:cxnSpLocks/>
          </p:cNvCxnSpPr>
          <p:nvPr/>
        </p:nvCxnSpPr>
        <p:spPr>
          <a:xfrm>
            <a:off x="5620870" y="1111623"/>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AC4A460-CE07-D14D-A487-7E74BD2215AC}"/>
              </a:ext>
            </a:extLst>
          </p:cNvPr>
          <p:cNvCxnSpPr>
            <a:cxnSpLocks/>
          </p:cNvCxnSpPr>
          <p:nvPr/>
        </p:nvCxnSpPr>
        <p:spPr>
          <a:xfrm>
            <a:off x="5629835" y="121517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D053E1-458A-A84E-AB11-8ECB4615618F}"/>
              </a:ext>
            </a:extLst>
          </p:cNvPr>
          <p:cNvCxnSpPr>
            <a:cxnSpLocks/>
          </p:cNvCxnSpPr>
          <p:nvPr/>
        </p:nvCxnSpPr>
        <p:spPr>
          <a:xfrm>
            <a:off x="5629835" y="132677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2217629-1043-BC41-BDC7-C9742B7C0898}"/>
              </a:ext>
            </a:extLst>
          </p:cNvPr>
          <p:cNvSpPr txBox="1"/>
          <p:nvPr/>
        </p:nvSpPr>
        <p:spPr>
          <a:xfrm>
            <a:off x="5738821" y="834624"/>
            <a:ext cx="695319" cy="276999"/>
          </a:xfrm>
          <a:prstGeom prst="rect">
            <a:avLst/>
          </a:prstGeom>
          <a:noFill/>
        </p:spPr>
        <p:txBody>
          <a:bodyPr wrap="none" rtlCol="0">
            <a:spAutoFit/>
          </a:bodyPr>
          <a:lstStyle/>
          <a:p>
            <a:r>
              <a:rPr lang="en-US" sz="1200" b="1" dirty="0"/>
              <a:t>Training</a:t>
            </a:r>
          </a:p>
        </p:txBody>
      </p:sp>
      <p:sp>
        <p:nvSpPr>
          <p:cNvPr id="26" name="TextBox 25">
            <a:extLst>
              <a:ext uri="{FF2B5EF4-FFF2-40B4-BE49-F238E27FC236}">
                <a16:creationId xmlns:a16="http://schemas.microsoft.com/office/drawing/2014/main" id="{188167AA-2DFE-2248-BD2D-E136ACB5E46B}"/>
              </a:ext>
            </a:extLst>
          </p:cNvPr>
          <p:cNvSpPr txBox="1"/>
          <p:nvPr/>
        </p:nvSpPr>
        <p:spPr>
          <a:xfrm>
            <a:off x="9190786" y="834624"/>
            <a:ext cx="744819" cy="276999"/>
          </a:xfrm>
          <a:prstGeom prst="rect">
            <a:avLst/>
          </a:prstGeom>
          <a:noFill/>
        </p:spPr>
        <p:txBody>
          <a:bodyPr wrap="none" rtlCol="0">
            <a:spAutoFit/>
          </a:bodyPr>
          <a:lstStyle/>
          <a:p>
            <a:r>
              <a:rPr lang="en-US" sz="1200" b="1" dirty="0">
                <a:solidFill>
                  <a:schemeClr val="bg1">
                    <a:lumMod val="75000"/>
                  </a:schemeClr>
                </a:solidFill>
              </a:rPr>
              <a:t>Evaluate</a:t>
            </a:r>
          </a:p>
        </p:txBody>
      </p:sp>
      <p:sp>
        <p:nvSpPr>
          <p:cNvPr id="27" name="TextBox 26">
            <a:extLst>
              <a:ext uri="{FF2B5EF4-FFF2-40B4-BE49-F238E27FC236}">
                <a16:creationId xmlns:a16="http://schemas.microsoft.com/office/drawing/2014/main" id="{CC662D97-6947-7A48-B987-83BA61D190AF}"/>
              </a:ext>
            </a:extLst>
          </p:cNvPr>
          <p:cNvSpPr txBox="1"/>
          <p:nvPr/>
        </p:nvSpPr>
        <p:spPr>
          <a:xfrm>
            <a:off x="10192871" y="892441"/>
            <a:ext cx="1429870"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performance</a:t>
            </a:r>
          </a:p>
        </p:txBody>
      </p:sp>
      <p:sp>
        <p:nvSpPr>
          <p:cNvPr id="28" name="Rectangle 27">
            <a:extLst>
              <a:ext uri="{FF2B5EF4-FFF2-40B4-BE49-F238E27FC236}">
                <a16:creationId xmlns:a16="http://schemas.microsoft.com/office/drawing/2014/main" id="{271960E0-6A4A-7C41-904B-97764933C6DE}"/>
              </a:ext>
            </a:extLst>
          </p:cNvPr>
          <p:cNvSpPr/>
          <p:nvPr/>
        </p:nvSpPr>
        <p:spPr>
          <a:xfrm>
            <a:off x="3065933" y="2741450"/>
            <a:ext cx="2070845"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 </a:t>
            </a:r>
            <a:r>
              <a:rPr lang="en-US" sz="1400" dirty="0">
                <a:solidFill>
                  <a:sysClr val="windowText" lastClr="000000"/>
                </a:solidFill>
              </a:rPr>
              <a:t>(Word2Vec model)</a:t>
            </a:r>
          </a:p>
        </p:txBody>
      </p:sp>
      <p:cxnSp>
        <p:nvCxnSpPr>
          <p:cNvPr id="38" name="Straight Arrow Connector 37">
            <a:extLst>
              <a:ext uri="{FF2B5EF4-FFF2-40B4-BE49-F238E27FC236}">
                <a16:creationId xmlns:a16="http://schemas.microsoft.com/office/drawing/2014/main" id="{7E5197C4-078B-7645-A32E-148F5D4AD426}"/>
              </a:ext>
            </a:extLst>
          </p:cNvPr>
          <p:cNvCxnSpPr>
            <a:cxnSpLocks/>
          </p:cNvCxnSpPr>
          <p:nvPr/>
        </p:nvCxnSpPr>
        <p:spPr>
          <a:xfrm>
            <a:off x="3656742" y="2134491"/>
            <a:ext cx="0" cy="48950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2E91E465-C4C2-7548-BC07-63B019322169}"/>
              </a:ext>
            </a:extLst>
          </p:cNvPr>
          <p:cNvCxnSpPr>
            <a:cxnSpLocks/>
          </p:cNvCxnSpPr>
          <p:nvPr/>
        </p:nvCxnSpPr>
        <p:spPr>
          <a:xfrm>
            <a:off x="3504343"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014E194B-C27C-504F-AC6F-95EE26BC9C44}"/>
              </a:ext>
            </a:extLst>
          </p:cNvPr>
          <p:cNvCxnSpPr>
            <a:cxnSpLocks/>
          </p:cNvCxnSpPr>
          <p:nvPr/>
        </p:nvCxnSpPr>
        <p:spPr>
          <a:xfrm>
            <a:off x="3325048"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187BFA7C-2D8C-4E4B-9456-9480303DDE56}"/>
              </a:ext>
            </a:extLst>
          </p:cNvPr>
          <p:cNvSpPr txBox="1"/>
          <p:nvPr/>
        </p:nvSpPr>
        <p:spPr>
          <a:xfrm>
            <a:off x="3656742" y="2229080"/>
            <a:ext cx="695319" cy="276999"/>
          </a:xfrm>
          <a:prstGeom prst="rect">
            <a:avLst/>
          </a:prstGeom>
          <a:noFill/>
        </p:spPr>
        <p:txBody>
          <a:bodyPr wrap="none" rtlCol="0">
            <a:spAutoFit/>
          </a:bodyPr>
          <a:lstStyle/>
          <a:p>
            <a:r>
              <a:rPr lang="en-US" sz="1200" b="1" dirty="0"/>
              <a:t>Training</a:t>
            </a:r>
          </a:p>
        </p:txBody>
      </p:sp>
      <p:cxnSp>
        <p:nvCxnSpPr>
          <p:cNvPr id="49" name="Straight Arrow Connector 48">
            <a:extLst>
              <a:ext uri="{FF2B5EF4-FFF2-40B4-BE49-F238E27FC236}">
                <a16:creationId xmlns:a16="http://schemas.microsoft.com/office/drawing/2014/main" id="{7F05DD9F-B448-C749-AFDB-F879B3697296}"/>
              </a:ext>
            </a:extLst>
          </p:cNvPr>
          <p:cNvCxnSpPr/>
          <p:nvPr/>
        </p:nvCxnSpPr>
        <p:spPr>
          <a:xfrm>
            <a:off x="9027459" y="1215170"/>
            <a:ext cx="986117"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9B969A96-70EA-D447-91CE-6ACEE46C516A}"/>
              </a:ext>
            </a:extLst>
          </p:cNvPr>
          <p:cNvCxnSpPr>
            <a:cxnSpLocks/>
          </p:cNvCxnSpPr>
          <p:nvPr/>
        </p:nvCxnSpPr>
        <p:spPr>
          <a:xfrm>
            <a:off x="5248347" y="3048000"/>
            <a:ext cx="41018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9627FF4D-5B92-7643-B71C-74978A94AC68}"/>
              </a:ext>
            </a:extLst>
          </p:cNvPr>
          <p:cNvCxnSpPr/>
          <p:nvPr/>
        </p:nvCxnSpPr>
        <p:spPr>
          <a:xfrm>
            <a:off x="8596288" y="1647756"/>
            <a:ext cx="0" cy="1398494"/>
          </a:xfrm>
          <a:prstGeom prst="line">
            <a:avLst/>
          </a:prstGeom>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6479A030-A078-B449-945E-6630D7C1B566}"/>
              </a:ext>
            </a:extLst>
          </p:cNvPr>
          <p:cNvSpPr txBox="1"/>
          <p:nvPr/>
        </p:nvSpPr>
        <p:spPr>
          <a:xfrm>
            <a:off x="8632147" y="2769251"/>
            <a:ext cx="744819" cy="276999"/>
          </a:xfrm>
          <a:prstGeom prst="rect">
            <a:avLst/>
          </a:prstGeom>
          <a:noFill/>
        </p:spPr>
        <p:txBody>
          <a:bodyPr wrap="none" rtlCol="0">
            <a:spAutoFit/>
          </a:bodyPr>
          <a:lstStyle/>
          <a:p>
            <a:r>
              <a:rPr lang="en-US" sz="1200" b="1" dirty="0"/>
              <a:t>Evaluate</a:t>
            </a:r>
          </a:p>
        </p:txBody>
      </p:sp>
      <p:sp>
        <p:nvSpPr>
          <p:cNvPr id="57" name="TextBox 56">
            <a:extLst>
              <a:ext uri="{FF2B5EF4-FFF2-40B4-BE49-F238E27FC236}">
                <a16:creationId xmlns:a16="http://schemas.microsoft.com/office/drawing/2014/main" id="{F5D76C84-E85C-E344-84EE-7B2BDC35B28D}"/>
              </a:ext>
            </a:extLst>
          </p:cNvPr>
          <p:cNvSpPr txBox="1"/>
          <p:nvPr/>
        </p:nvSpPr>
        <p:spPr>
          <a:xfrm>
            <a:off x="9480551" y="2726061"/>
            <a:ext cx="2245163" cy="584775"/>
          </a:xfrm>
          <a:prstGeom prst="rect">
            <a:avLst/>
          </a:prstGeom>
          <a:noFill/>
        </p:spPr>
        <p:txBody>
          <a:bodyPr wrap="square" rtlCol="0">
            <a:spAutoFit/>
          </a:bodyPr>
          <a:lstStyle/>
          <a:p>
            <a:pPr algn="ctr"/>
            <a:r>
              <a:rPr lang="en-US" sz="1600" b="1" dirty="0">
                <a:solidFill>
                  <a:srgbClr val="FF0000"/>
                </a:solidFill>
              </a:rPr>
              <a:t>Base + Cosine similarity performance</a:t>
            </a:r>
          </a:p>
        </p:txBody>
      </p:sp>
    </p:spTree>
    <p:extLst>
      <p:ext uri="{BB962C8B-B14F-4D97-AF65-F5344CB8AC3E}">
        <p14:creationId xmlns:p14="http://schemas.microsoft.com/office/powerpoint/2010/main" val="1992508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E9D3D5-3B96-DF44-A8C3-0AAFDD261877}"/>
              </a:ext>
            </a:extLst>
          </p:cNvPr>
          <p:cNvSpPr/>
          <p:nvPr/>
        </p:nvSpPr>
        <p:spPr>
          <a:xfrm>
            <a:off x="1999129" y="475129"/>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HuggingFace database</a:t>
            </a:r>
          </a:p>
        </p:txBody>
      </p:sp>
      <p:sp>
        <p:nvSpPr>
          <p:cNvPr id="6" name="TextBox 5">
            <a:extLst>
              <a:ext uri="{FF2B5EF4-FFF2-40B4-BE49-F238E27FC236}">
                <a16:creationId xmlns:a16="http://schemas.microsoft.com/office/drawing/2014/main" id="{5AB3CFCA-2494-574E-B6A7-2800E1FC5166}"/>
              </a:ext>
            </a:extLst>
          </p:cNvPr>
          <p:cNvSpPr txBox="1"/>
          <p:nvPr/>
        </p:nvSpPr>
        <p:spPr>
          <a:xfrm>
            <a:off x="1621365" y="1586753"/>
            <a:ext cx="656526" cy="369332"/>
          </a:xfrm>
          <a:prstGeom prst="rect">
            <a:avLst/>
          </a:prstGeom>
          <a:noFill/>
        </p:spPr>
        <p:txBody>
          <a:bodyPr wrap="none" rtlCol="0">
            <a:spAutoFit/>
          </a:bodyPr>
          <a:lstStyle/>
          <a:p>
            <a:r>
              <a:rPr lang="en-US" dirty="0">
                <a:solidFill>
                  <a:schemeClr val="bg1">
                    <a:lumMod val="75000"/>
                  </a:schemeClr>
                </a:solidFill>
              </a:rPr>
              <a:t>Train</a:t>
            </a:r>
          </a:p>
        </p:txBody>
      </p:sp>
      <p:sp>
        <p:nvSpPr>
          <p:cNvPr id="7" name="TextBox 6">
            <a:extLst>
              <a:ext uri="{FF2B5EF4-FFF2-40B4-BE49-F238E27FC236}">
                <a16:creationId xmlns:a16="http://schemas.microsoft.com/office/drawing/2014/main" id="{5BB10A2C-70A3-844C-BBD2-F5FCD2EBB07D}"/>
              </a:ext>
            </a:extLst>
          </p:cNvPr>
          <p:cNvSpPr txBox="1"/>
          <p:nvPr/>
        </p:nvSpPr>
        <p:spPr>
          <a:xfrm>
            <a:off x="2319422" y="1597497"/>
            <a:ext cx="1143390" cy="369332"/>
          </a:xfrm>
          <a:prstGeom prst="rect">
            <a:avLst/>
          </a:prstGeom>
          <a:noFill/>
        </p:spPr>
        <p:txBody>
          <a:bodyPr wrap="none" rtlCol="0">
            <a:spAutoFit/>
          </a:bodyPr>
          <a:lstStyle/>
          <a:p>
            <a:r>
              <a:rPr lang="en-US" dirty="0">
                <a:solidFill>
                  <a:schemeClr val="bg1">
                    <a:lumMod val="75000"/>
                  </a:schemeClr>
                </a:solidFill>
              </a:rPr>
              <a:t>Validation</a:t>
            </a:r>
          </a:p>
        </p:txBody>
      </p:sp>
      <p:sp>
        <p:nvSpPr>
          <p:cNvPr id="8" name="TextBox 7">
            <a:extLst>
              <a:ext uri="{FF2B5EF4-FFF2-40B4-BE49-F238E27FC236}">
                <a16:creationId xmlns:a16="http://schemas.microsoft.com/office/drawing/2014/main" id="{627CF63F-014E-0946-A39F-5B7FBA459F74}"/>
              </a:ext>
            </a:extLst>
          </p:cNvPr>
          <p:cNvSpPr txBox="1"/>
          <p:nvPr/>
        </p:nvSpPr>
        <p:spPr>
          <a:xfrm>
            <a:off x="3504343" y="1586753"/>
            <a:ext cx="580031" cy="369332"/>
          </a:xfrm>
          <a:prstGeom prst="rect">
            <a:avLst/>
          </a:prstGeom>
          <a:noFill/>
        </p:spPr>
        <p:txBody>
          <a:bodyPr wrap="none" rtlCol="0">
            <a:spAutoFit/>
          </a:bodyPr>
          <a:lstStyle/>
          <a:p>
            <a:r>
              <a:rPr lang="en-US" dirty="0">
                <a:solidFill>
                  <a:schemeClr val="bg1">
                    <a:lumMod val="75000"/>
                  </a:schemeClr>
                </a:solidFill>
              </a:rPr>
              <a:t>Test</a:t>
            </a:r>
          </a:p>
        </p:txBody>
      </p:sp>
      <p:sp>
        <p:nvSpPr>
          <p:cNvPr id="10" name="TextBox 9">
            <a:extLst>
              <a:ext uri="{FF2B5EF4-FFF2-40B4-BE49-F238E27FC236}">
                <a16:creationId xmlns:a16="http://schemas.microsoft.com/office/drawing/2014/main" id="{1E650869-9476-A044-8917-83ABF4759D01}"/>
              </a:ext>
            </a:extLst>
          </p:cNvPr>
          <p:cNvSpPr txBox="1"/>
          <p:nvPr/>
        </p:nvSpPr>
        <p:spPr>
          <a:xfrm>
            <a:off x="3504343" y="1206206"/>
            <a:ext cx="1744004" cy="276999"/>
          </a:xfrm>
          <a:prstGeom prst="rect">
            <a:avLst/>
          </a:prstGeom>
          <a:noFill/>
        </p:spPr>
        <p:txBody>
          <a:bodyPr wrap="none" rtlCol="0">
            <a:spAutoFit/>
          </a:bodyPr>
          <a:lstStyle/>
          <a:p>
            <a:r>
              <a:rPr lang="en-US" sz="1200" b="1" dirty="0">
                <a:solidFill>
                  <a:schemeClr val="bg1">
                    <a:lumMod val="75000"/>
                  </a:schemeClr>
                </a:solidFill>
              </a:rPr>
              <a:t>75/15/15 shuffled split</a:t>
            </a:r>
          </a:p>
        </p:txBody>
      </p:sp>
      <p:cxnSp>
        <p:nvCxnSpPr>
          <p:cNvPr id="12" name="Straight Arrow Connector 11">
            <a:extLst>
              <a:ext uri="{FF2B5EF4-FFF2-40B4-BE49-F238E27FC236}">
                <a16:creationId xmlns:a16="http://schemas.microsoft.com/office/drawing/2014/main" id="{8FA33F7A-00AF-B747-AACF-A8378EA36E04}"/>
              </a:ext>
            </a:extLst>
          </p:cNvPr>
          <p:cNvCxnSpPr/>
          <p:nvPr/>
        </p:nvCxnSpPr>
        <p:spPr>
          <a:xfrm flipH="1">
            <a:off x="2070847" y="1206206"/>
            <a:ext cx="466165" cy="380547"/>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66D2F2A-34F3-B247-AD3F-E865CA56D340}"/>
              </a:ext>
            </a:extLst>
          </p:cNvPr>
          <p:cNvCxnSpPr>
            <a:endCxn id="7" idx="0"/>
          </p:cNvCxnSpPr>
          <p:nvPr/>
        </p:nvCxnSpPr>
        <p:spPr>
          <a:xfrm>
            <a:off x="2891117" y="1206206"/>
            <a:ext cx="0" cy="391291"/>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2FA9BFA-92F2-F141-B825-1C35978E767F}"/>
              </a:ext>
            </a:extLst>
          </p:cNvPr>
          <p:cNvCxnSpPr/>
          <p:nvPr/>
        </p:nvCxnSpPr>
        <p:spPr>
          <a:xfrm>
            <a:off x="3272118" y="1206206"/>
            <a:ext cx="376517" cy="380547"/>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AA76B3FD-8C91-D448-8EC3-E9FD23710B63}"/>
              </a:ext>
            </a:extLst>
          </p:cNvPr>
          <p:cNvSpPr/>
          <p:nvPr/>
        </p:nvSpPr>
        <p:spPr>
          <a:xfrm>
            <a:off x="7010400" y="892441"/>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19" name="Straight Arrow Connector 18">
            <a:extLst>
              <a:ext uri="{FF2B5EF4-FFF2-40B4-BE49-F238E27FC236}">
                <a16:creationId xmlns:a16="http://schemas.microsoft.com/office/drawing/2014/main" id="{DF9BB64B-3387-C740-82B3-0B2736B8E4DD}"/>
              </a:ext>
            </a:extLst>
          </p:cNvPr>
          <p:cNvCxnSpPr>
            <a:cxnSpLocks/>
          </p:cNvCxnSpPr>
          <p:nvPr/>
        </p:nvCxnSpPr>
        <p:spPr>
          <a:xfrm>
            <a:off x="5620870" y="1111623"/>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AC4A460-CE07-D14D-A487-7E74BD2215AC}"/>
              </a:ext>
            </a:extLst>
          </p:cNvPr>
          <p:cNvCxnSpPr>
            <a:cxnSpLocks/>
          </p:cNvCxnSpPr>
          <p:nvPr/>
        </p:nvCxnSpPr>
        <p:spPr>
          <a:xfrm>
            <a:off x="5629835" y="121517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D053E1-458A-A84E-AB11-8ECB4615618F}"/>
              </a:ext>
            </a:extLst>
          </p:cNvPr>
          <p:cNvCxnSpPr>
            <a:cxnSpLocks/>
          </p:cNvCxnSpPr>
          <p:nvPr/>
        </p:nvCxnSpPr>
        <p:spPr>
          <a:xfrm>
            <a:off x="5629835" y="132677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2217629-1043-BC41-BDC7-C9742B7C0898}"/>
              </a:ext>
            </a:extLst>
          </p:cNvPr>
          <p:cNvSpPr txBox="1"/>
          <p:nvPr/>
        </p:nvSpPr>
        <p:spPr>
          <a:xfrm>
            <a:off x="5738821" y="834624"/>
            <a:ext cx="695319" cy="276999"/>
          </a:xfrm>
          <a:prstGeom prst="rect">
            <a:avLst/>
          </a:prstGeom>
          <a:noFill/>
        </p:spPr>
        <p:txBody>
          <a:bodyPr wrap="none" rtlCol="0">
            <a:spAutoFit/>
          </a:bodyPr>
          <a:lstStyle/>
          <a:p>
            <a:r>
              <a:rPr lang="en-US" sz="1200" b="1" dirty="0"/>
              <a:t>Training</a:t>
            </a:r>
          </a:p>
        </p:txBody>
      </p:sp>
      <p:sp>
        <p:nvSpPr>
          <p:cNvPr id="28" name="Rectangle 27">
            <a:extLst>
              <a:ext uri="{FF2B5EF4-FFF2-40B4-BE49-F238E27FC236}">
                <a16:creationId xmlns:a16="http://schemas.microsoft.com/office/drawing/2014/main" id="{271960E0-6A4A-7C41-904B-97764933C6DE}"/>
              </a:ext>
            </a:extLst>
          </p:cNvPr>
          <p:cNvSpPr/>
          <p:nvPr/>
        </p:nvSpPr>
        <p:spPr>
          <a:xfrm>
            <a:off x="3065933" y="2741450"/>
            <a:ext cx="2070845"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Cosine similarity </a:t>
            </a:r>
            <a:r>
              <a:rPr lang="en-US" sz="1400" dirty="0">
                <a:solidFill>
                  <a:schemeClr val="bg1">
                    <a:lumMod val="75000"/>
                  </a:schemeClr>
                </a:solidFill>
              </a:rPr>
              <a:t>(Word2Vec model)</a:t>
            </a:r>
          </a:p>
        </p:txBody>
      </p:sp>
      <p:cxnSp>
        <p:nvCxnSpPr>
          <p:cNvPr id="38" name="Straight Arrow Connector 37">
            <a:extLst>
              <a:ext uri="{FF2B5EF4-FFF2-40B4-BE49-F238E27FC236}">
                <a16:creationId xmlns:a16="http://schemas.microsoft.com/office/drawing/2014/main" id="{7E5197C4-078B-7645-A32E-148F5D4AD426}"/>
              </a:ext>
            </a:extLst>
          </p:cNvPr>
          <p:cNvCxnSpPr>
            <a:cxnSpLocks/>
          </p:cNvCxnSpPr>
          <p:nvPr/>
        </p:nvCxnSpPr>
        <p:spPr>
          <a:xfrm>
            <a:off x="3656742" y="2134491"/>
            <a:ext cx="0" cy="48950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2E91E465-C4C2-7548-BC07-63B019322169}"/>
              </a:ext>
            </a:extLst>
          </p:cNvPr>
          <p:cNvCxnSpPr>
            <a:cxnSpLocks/>
          </p:cNvCxnSpPr>
          <p:nvPr/>
        </p:nvCxnSpPr>
        <p:spPr>
          <a:xfrm>
            <a:off x="3504343"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014E194B-C27C-504F-AC6F-95EE26BC9C44}"/>
              </a:ext>
            </a:extLst>
          </p:cNvPr>
          <p:cNvCxnSpPr>
            <a:cxnSpLocks/>
          </p:cNvCxnSpPr>
          <p:nvPr/>
        </p:nvCxnSpPr>
        <p:spPr>
          <a:xfrm>
            <a:off x="3325048"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187BFA7C-2D8C-4E4B-9456-9480303DDE56}"/>
              </a:ext>
            </a:extLst>
          </p:cNvPr>
          <p:cNvSpPr txBox="1"/>
          <p:nvPr/>
        </p:nvSpPr>
        <p:spPr>
          <a:xfrm>
            <a:off x="3656742" y="2229080"/>
            <a:ext cx="695319" cy="276999"/>
          </a:xfrm>
          <a:prstGeom prst="rect">
            <a:avLst/>
          </a:prstGeom>
          <a:noFill/>
        </p:spPr>
        <p:txBody>
          <a:bodyPr wrap="none" rtlCol="0">
            <a:spAutoFit/>
          </a:bodyPr>
          <a:lstStyle/>
          <a:p>
            <a:r>
              <a:rPr lang="en-US" sz="1200" b="1" dirty="0">
                <a:solidFill>
                  <a:schemeClr val="bg1">
                    <a:lumMod val="75000"/>
                  </a:schemeClr>
                </a:solidFill>
              </a:rPr>
              <a:t>Training</a:t>
            </a:r>
          </a:p>
        </p:txBody>
      </p:sp>
      <p:cxnSp>
        <p:nvCxnSpPr>
          <p:cNvPr id="51" name="Straight Arrow Connector 50">
            <a:extLst>
              <a:ext uri="{FF2B5EF4-FFF2-40B4-BE49-F238E27FC236}">
                <a16:creationId xmlns:a16="http://schemas.microsoft.com/office/drawing/2014/main" id="{9B969A96-70EA-D447-91CE-6ACEE46C516A}"/>
              </a:ext>
            </a:extLst>
          </p:cNvPr>
          <p:cNvCxnSpPr>
            <a:cxnSpLocks/>
          </p:cNvCxnSpPr>
          <p:nvPr/>
        </p:nvCxnSpPr>
        <p:spPr>
          <a:xfrm>
            <a:off x="5248347" y="3048000"/>
            <a:ext cx="4101841"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9627FF4D-5B92-7643-B71C-74978A94AC68}"/>
              </a:ext>
            </a:extLst>
          </p:cNvPr>
          <p:cNvCxnSpPr/>
          <p:nvPr/>
        </p:nvCxnSpPr>
        <p:spPr>
          <a:xfrm>
            <a:off x="8596288" y="1647756"/>
            <a:ext cx="0" cy="1398494"/>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6479A030-A078-B449-945E-6630D7C1B566}"/>
              </a:ext>
            </a:extLst>
          </p:cNvPr>
          <p:cNvSpPr txBox="1"/>
          <p:nvPr/>
        </p:nvSpPr>
        <p:spPr>
          <a:xfrm>
            <a:off x="8632147" y="2769251"/>
            <a:ext cx="744819" cy="276999"/>
          </a:xfrm>
          <a:prstGeom prst="rect">
            <a:avLst/>
          </a:prstGeom>
          <a:noFill/>
        </p:spPr>
        <p:txBody>
          <a:bodyPr wrap="none" rtlCol="0">
            <a:spAutoFit/>
          </a:bodyPr>
          <a:lstStyle/>
          <a:p>
            <a:r>
              <a:rPr lang="en-US" sz="1200" b="1" dirty="0">
                <a:solidFill>
                  <a:schemeClr val="bg1">
                    <a:lumMod val="75000"/>
                  </a:schemeClr>
                </a:solidFill>
              </a:rPr>
              <a:t>Evaluate</a:t>
            </a:r>
          </a:p>
        </p:txBody>
      </p:sp>
      <p:sp>
        <p:nvSpPr>
          <p:cNvPr id="57" name="TextBox 56">
            <a:extLst>
              <a:ext uri="{FF2B5EF4-FFF2-40B4-BE49-F238E27FC236}">
                <a16:creationId xmlns:a16="http://schemas.microsoft.com/office/drawing/2014/main" id="{F5D76C84-E85C-E344-84EE-7B2BDC35B28D}"/>
              </a:ext>
            </a:extLst>
          </p:cNvPr>
          <p:cNvSpPr txBox="1"/>
          <p:nvPr/>
        </p:nvSpPr>
        <p:spPr>
          <a:xfrm>
            <a:off x="9480551" y="2726061"/>
            <a:ext cx="2245163"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 Cosine similarity performance</a:t>
            </a:r>
          </a:p>
        </p:txBody>
      </p:sp>
      <p:sp>
        <p:nvSpPr>
          <p:cNvPr id="58" name="Rectangle 57">
            <a:extLst>
              <a:ext uri="{FF2B5EF4-FFF2-40B4-BE49-F238E27FC236}">
                <a16:creationId xmlns:a16="http://schemas.microsoft.com/office/drawing/2014/main" id="{450943B3-DFB3-BA42-877E-A6379E1BA74A}"/>
              </a:ext>
            </a:extLst>
          </p:cNvPr>
          <p:cNvSpPr/>
          <p:nvPr/>
        </p:nvSpPr>
        <p:spPr>
          <a:xfrm>
            <a:off x="4902813" y="4296364"/>
            <a:ext cx="2386373"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 </a:t>
            </a:r>
            <a:r>
              <a:rPr lang="en-US" sz="1400" dirty="0">
                <a:solidFill>
                  <a:sysClr val="windowText" lastClr="000000"/>
                </a:solidFill>
              </a:rPr>
              <a:t>(regex matching)</a:t>
            </a:r>
          </a:p>
        </p:txBody>
      </p:sp>
      <p:sp>
        <p:nvSpPr>
          <p:cNvPr id="59" name="Rectangle 58">
            <a:extLst>
              <a:ext uri="{FF2B5EF4-FFF2-40B4-BE49-F238E27FC236}">
                <a16:creationId xmlns:a16="http://schemas.microsoft.com/office/drawing/2014/main" id="{6F81326B-D95D-1543-9C74-6CB332747FDC}"/>
              </a:ext>
            </a:extLst>
          </p:cNvPr>
          <p:cNvSpPr/>
          <p:nvPr/>
        </p:nvSpPr>
        <p:spPr>
          <a:xfrm>
            <a:off x="1189793" y="4140600"/>
            <a:ext cx="2362396"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Additional databases </a:t>
            </a:r>
          </a:p>
          <a:p>
            <a:pPr algn="ctr"/>
            <a:r>
              <a:rPr lang="en-US" sz="1400" dirty="0">
                <a:solidFill>
                  <a:sysClr val="windowText" lastClr="000000"/>
                </a:solidFill>
              </a:rPr>
              <a:t>(FAERS, CVP)</a:t>
            </a:r>
          </a:p>
        </p:txBody>
      </p:sp>
      <p:sp>
        <p:nvSpPr>
          <p:cNvPr id="60" name="TextBox 59">
            <a:extLst>
              <a:ext uri="{FF2B5EF4-FFF2-40B4-BE49-F238E27FC236}">
                <a16:creationId xmlns:a16="http://schemas.microsoft.com/office/drawing/2014/main" id="{C39457C6-693A-734E-BDA8-296F33559E0F}"/>
              </a:ext>
            </a:extLst>
          </p:cNvPr>
          <p:cNvSpPr txBox="1"/>
          <p:nvPr/>
        </p:nvSpPr>
        <p:spPr>
          <a:xfrm>
            <a:off x="1501850" y="5368829"/>
            <a:ext cx="755335" cy="369332"/>
          </a:xfrm>
          <a:prstGeom prst="rect">
            <a:avLst/>
          </a:prstGeom>
          <a:noFill/>
        </p:spPr>
        <p:txBody>
          <a:bodyPr wrap="none" rtlCol="0">
            <a:spAutoFit/>
          </a:bodyPr>
          <a:lstStyle/>
          <a:p>
            <a:r>
              <a:rPr lang="en-US" dirty="0"/>
              <a:t>Drugs</a:t>
            </a:r>
          </a:p>
        </p:txBody>
      </p:sp>
      <p:sp>
        <p:nvSpPr>
          <p:cNvPr id="61" name="TextBox 60">
            <a:extLst>
              <a:ext uri="{FF2B5EF4-FFF2-40B4-BE49-F238E27FC236}">
                <a16:creationId xmlns:a16="http://schemas.microsoft.com/office/drawing/2014/main" id="{0A99AF4C-F498-1648-AF06-0972D815BE26}"/>
              </a:ext>
            </a:extLst>
          </p:cNvPr>
          <p:cNvSpPr txBox="1"/>
          <p:nvPr/>
        </p:nvSpPr>
        <p:spPr>
          <a:xfrm>
            <a:off x="2360291" y="5368829"/>
            <a:ext cx="705642" cy="369332"/>
          </a:xfrm>
          <a:prstGeom prst="rect">
            <a:avLst/>
          </a:prstGeom>
          <a:noFill/>
        </p:spPr>
        <p:txBody>
          <a:bodyPr wrap="none" rtlCol="0">
            <a:spAutoFit/>
          </a:bodyPr>
          <a:lstStyle/>
          <a:p>
            <a:r>
              <a:rPr lang="en-US" dirty="0"/>
              <a:t>ADRs</a:t>
            </a:r>
          </a:p>
        </p:txBody>
      </p:sp>
      <p:cxnSp>
        <p:nvCxnSpPr>
          <p:cNvPr id="62" name="Straight Arrow Connector 61">
            <a:extLst>
              <a:ext uri="{FF2B5EF4-FFF2-40B4-BE49-F238E27FC236}">
                <a16:creationId xmlns:a16="http://schemas.microsoft.com/office/drawing/2014/main" id="{818A1917-21C7-044C-90E2-12669A5211D2}"/>
              </a:ext>
            </a:extLst>
          </p:cNvPr>
          <p:cNvCxnSpPr/>
          <p:nvPr/>
        </p:nvCxnSpPr>
        <p:spPr>
          <a:xfrm>
            <a:off x="1905911" y="48785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BA31A70D-35BE-2B49-83B1-37E68F3C1460}"/>
              </a:ext>
            </a:extLst>
          </p:cNvPr>
          <p:cNvCxnSpPr/>
          <p:nvPr/>
        </p:nvCxnSpPr>
        <p:spPr>
          <a:xfrm>
            <a:off x="2711449" y="4878505"/>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F9F661CE-2F30-EC42-BAA7-1A2B588E7B97}"/>
              </a:ext>
            </a:extLst>
          </p:cNvPr>
          <p:cNvSpPr txBox="1"/>
          <p:nvPr/>
        </p:nvSpPr>
        <p:spPr>
          <a:xfrm>
            <a:off x="2711449" y="4843317"/>
            <a:ext cx="1088300" cy="461665"/>
          </a:xfrm>
          <a:prstGeom prst="rect">
            <a:avLst/>
          </a:prstGeom>
          <a:noFill/>
        </p:spPr>
        <p:txBody>
          <a:bodyPr wrap="square" rtlCol="0">
            <a:spAutoFit/>
          </a:bodyPr>
          <a:lstStyle/>
          <a:p>
            <a:r>
              <a:rPr lang="en-US" sz="1200" b="1" dirty="0"/>
              <a:t>Compile from last 10 yrs</a:t>
            </a:r>
          </a:p>
        </p:txBody>
      </p:sp>
      <p:cxnSp>
        <p:nvCxnSpPr>
          <p:cNvPr id="66" name="Straight Arrow Connector 65">
            <a:extLst>
              <a:ext uri="{FF2B5EF4-FFF2-40B4-BE49-F238E27FC236}">
                <a16:creationId xmlns:a16="http://schemas.microsoft.com/office/drawing/2014/main" id="{FAD8F7FB-5BDB-BB48-A84B-9B54E5537E1C}"/>
              </a:ext>
            </a:extLst>
          </p:cNvPr>
          <p:cNvCxnSpPr>
            <a:cxnSpLocks/>
          </p:cNvCxnSpPr>
          <p:nvPr/>
        </p:nvCxnSpPr>
        <p:spPr>
          <a:xfrm>
            <a:off x="7395882" y="4625445"/>
            <a:ext cx="2084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704927B6-A190-DB46-BABE-2E25B463FEE9}"/>
              </a:ext>
            </a:extLst>
          </p:cNvPr>
          <p:cNvCxnSpPr>
            <a:cxnSpLocks/>
          </p:cNvCxnSpPr>
          <p:nvPr/>
        </p:nvCxnSpPr>
        <p:spPr>
          <a:xfrm>
            <a:off x="8237646" y="1667435"/>
            <a:ext cx="0" cy="2958010"/>
          </a:xfrm>
          <a:prstGeom prst="line">
            <a:avLst/>
          </a:prstGeom>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9A95D2A0-4A53-9245-8555-EDC60737FA4B}"/>
              </a:ext>
            </a:extLst>
          </p:cNvPr>
          <p:cNvSpPr txBox="1"/>
          <p:nvPr/>
        </p:nvSpPr>
        <p:spPr>
          <a:xfrm>
            <a:off x="8556063" y="4333130"/>
            <a:ext cx="744819" cy="276999"/>
          </a:xfrm>
          <a:prstGeom prst="rect">
            <a:avLst/>
          </a:prstGeom>
          <a:noFill/>
        </p:spPr>
        <p:txBody>
          <a:bodyPr wrap="none" rtlCol="0">
            <a:spAutoFit/>
          </a:bodyPr>
          <a:lstStyle/>
          <a:p>
            <a:r>
              <a:rPr lang="en-US" sz="1200" b="1" dirty="0"/>
              <a:t>Evaluate</a:t>
            </a:r>
          </a:p>
        </p:txBody>
      </p:sp>
      <p:cxnSp>
        <p:nvCxnSpPr>
          <p:cNvPr id="72" name="Straight Arrow Connector 71">
            <a:extLst>
              <a:ext uri="{FF2B5EF4-FFF2-40B4-BE49-F238E27FC236}">
                <a16:creationId xmlns:a16="http://schemas.microsoft.com/office/drawing/2014/main" id="{23120EE9-46BA-4F4D-BE02-8632D51C2D2C}"/>
              </a:ext>
            </a:extLst>
          </p:cNvPr>
          <p:cNvCxnSpPr>
            <a:cxnSpLocks/>
          </p:cNvCxnSpPr>
          <p:nvPr/>
        </p:nvCxnSpPr>
        <p:spPr>
          <a:xfrm>
            <a:off x="3854823" y="4562438"/>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EF71CB0D-B8B2-7847-B8FB-86E45FE7AF07}"/>
              </a:ext>
            </a:extLst>
          </p:cNvPr>
          <p:cNvCxnSpPr>
            <a:cxnSpLocks/>
          </p:cNvCxnSpPr>
          <p:nvPr/>
        </p:nvCxnSpPr>
        <p:spPr>
          <a:xfrm>
            <a:off x="3863788" y="466598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A9CD059A-2E55-B944-A6D9-77E68A82D2E1}"/>
              </a:ext>
            </a:extLst>
          </p:cNvPr>
          <p:cNvCxnSpPr>
            <a:cxnSpLocks/>
          </p:cNvCxnSpPr>
          <p:nvPr/>
        </p:nvCxnSpPr>
        <p:spPr>
          <a:xfrm>
            <a:off x="3863788" y="477759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D5803B9B-D0EE-A64D-9E54-517EA6FEED4C}"/>
              </a:ext>
            </a:extLst>
          </p:cNvPr>
          <p:cNvSpPr txBox="1"/>
          <p:nvPr/>
        </p:nvSpPr>
        <p:spPr>
          <a:xfrm>
            <a:off x="3856052" y="4285439"/>
            <a:ext cx="929870" cy="276999"/>
          </a:xfrm>
          <a:prstGeom prst="rect">
            <a:avLst/>
          </a:prstGeom>
          <a:noFill/>
        </p:spPr>
        <p:txBody>
          <a:bodyPr wrap="none" rtlCol="0">
            <a:spAutoFit/>
          </a:bodyPr>
          <a:lstStyle/>
          <a:p>
            <a:r>
              <a:rPr lang="en-US" sz="1200" b="1" dirty="0"/>
              <a:t>Incorporate</a:t>
            </a:r>
          </a:p>
        </p:txBody>
      </p:sp>
      <p:sp>
        <p:nvSpPr>
          <p:cNvPr id="76" name="TextBox 75">
            <a:extLst>
              <a:ext uri="{FF2B5EF4-FFF2-40B4-BE49-F238E27FC236}">
                <a16:creationId xmlns:a16="http://schemas.microsoft.com/office/drawing/2014/main" id="{64F7DAE7-CBEA-BE47-9A8D-12E186B02FDA}"/>
              </a:ext>
            </a:extLst>
          </p:cNvPr>
          <p:cNvSpPr txBox="1"/>
          <p:nvPr/>
        </p:nvSpPr>
        <p:spPr>
          <a:xfrm>
            <a:off x="9546283" y="4297680"/>
            <a:ext cx="2245163" cy="584775"/>
          </a:xfrm>
          <a:prstGeom prst="rect">
            <a:avLst/>
          </a:prstGeom>
          <a:noFill/>
        </p:spPr>
        <p:txBody>
          <a:bodyPr wrap="square" rtlCol="0">
            <a:spAutoFit/>
          </a:bodyPr>
          <a:lstStyle/>
          <a:p>
            <a:pPr algn="ctr"/>
            <a:r>
              <a:rPr lang="en-US" sz="1600" b="1" dirty="0">
                <a:solidFill>
                  <a:srgbClr val="FF0000"/>
                </a:solidFill>
              </a:rPr>
              <a:t>Base + Dependency parsing performance</a:t>
            </a:r>
          </a:p>
        </p:txBody>
      </p:sp>
      <p:sp>
        <p:nvSpPr>
          <p:cNvPr id="46" name="TextBox 45">
            <a:extLst>
              <a:ext uri="{FF2B5EF4-FFF2-40B4-BE49-F238E27FC236}">
                <a16:creationId xmlns:a16="http://schemas.microsoft.com/office/drawing/2014/main" id="{F7C2F8A3-85E4-C649-836D-D5520E976A46}"/>
              </a:ext>
            </a:extLst>
          </p:cNvPr>
          <p:cNvSpPr txBox="1"/>
          <p:nvPr/>
        </p:nvSpPr>
        <p:spPr>
          <a:xfrm>
            <a:off x="9190786" y="834624"/>
            <a:ext cx="744819" cy="276999"/>
          </a:xfrm>
          <a:prstGeom prst="rect">
            <a:avLst/>
          </a:prstGeom>
          <a:noFill/>
        </p:spPr>
        <p:txBody>
          <a:bodyPr wrap="none" rtlCol="0">
            <a:spAutoFit/>
          </a:bodyPr>
          <a:lstStyle/>
          <a:p>
            <a:r>
              <a:rPr lang="en-US" sz="1200" b="1" dirty="0">
                <a:solidFill>
                  <a:schemeClr val="bg1">
                    <a:lumMod val="75000"/>
                  </a:schemeClr>
                </a:solidFill>
              </a:rPr>
              <a:t>Evaluate</a:t>
            </a:r>
          </a:p>
        </p:txBody>
      </p:sp>
      <p:sp>
        <p:nvSpPr>
          <p:cNvPr id="47" name="TextBox 46">
            <a:extLst>
              <a:ext uri="{FF2B5EF4-FFF2-40B4-BE49-F238E27FC236}">
                <a16:creationId xmlns:a16="http://schemas.microsoft.com/office/drawing/2014/main" id="{FE47B112-9E54-CF45-9538-EB52ADE3FF81}"/>
              </a:ext>
            </a:extLst>
          </p:cNvPr>
          <p:cNvSpPr txBox="1"/>
          <p:nvPr/>
        </p:nvSpPr>
        <p:spPr>
          <a:xfrm>
            <a:off x="10192871" y="892441"/>
            <a:ext cx="1429870"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performance</a:t>
            </a:r>
          </a:p>
        </p:txBody>
      </p:sp>
      <p:cxnSp>
        <p:nvCxnSpPr>
          <p:cNvPr id="48" name="Straight Arrow Connector 47">
            <a:extLst>
              <a:ext uri="{FF2B5EF4-FFF2-40B4-BE49-F238E27FC236}">
                <a16:creationId xmlns:a16="http://schemas.microsoft.com/office/drawing/2014/main" id="{2FFD07E8-C5E9-384F-872B-F3B4C6218571}"/>
              </a:ext>
            </a:extLst>
          </p:cNvPr>
          <p:cNvCxnSpPr/>
          <p:nvPr/>
        </p:nvCxnSpPr>
        <p:spPr>
          <a:xfrm>
            <a:off x="9027459" y="1215170"/>
            <a:ext cx="986117"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44948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E9D3D5-3B96-DF44-A8C3-0AAFDD261877}"/>
              </a:ext>
            </a:extLst>
          </p:cNvPr>
          <p:cNvSpPr/>
          <p:nvPr/>
        </p:nvSpPr>
        <p:spPr>
          <a:xfrm>
            <a:off x="1999129" y="475129"/>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HuggingFace database</a:t>
            </a:r>
          </a:p>
        </p:txBody>
      </p:sp>
      <p:sp>
        <p:nvSpPr>
          <p:cNvPr id="6" name="TextBox 5">
            <a:extLst>
              <a:ext uri="{FF2B5EF4-FFF2-40B4-BE49-F238E27FC236}">
                <a16:creationId xmlns:a16="http://schemas.microsoft.com/office/drawing/2014/main" id="{5AB3CFCA-2494-574E-B6A7-2800E1FC5166}"/>
              </a:ext>
            </a:extLst>
          </p:cNvPr>
          <p:cNvSpPr txBox="1"/>
          <p:nvPr/>
        </p:nvSpPr>
        <p:spPr>
          <a:xfrm>
            <a:off x="1621365" y="1586753"/>
            <a:ext cx="656526" cy="369332"/>
          </a:xfrm>
          <a:prstGeom prst="rect">
            <a:avLst/>
          </a:prstGeom>
          <a:noFill/>
        </p:spPr>
        <p:txBody>
          <a:bodyPr wrap="none" rtlCol="0">
            <a:spAutoFit/>
          </a:bodyPr>
          <a:lstStyle/>
          <a:p>
            <a:r>
              <a:rPr lang="en-US" dirty="0"/>
              <a:t>Train</a:t>
            </a:r>
          </a:p>
        </p:txBody>
      </p:sp>
      <p:sp>
        <p:nvSpPr>
          <p:cNvPr id="7" name="TextBox 6">
            <a:extLst>
              <a:ext uri="{FF2B5EF4-FFF2-40B4-BE49-F238E27FC236}">
                <a16:creationId xmlns:a16="http://schemas.microsoft.com/office/drawing/2014/main" id="{5BB10A2C-70A3-844C-BBD2-F5FCD2EBB07D}"/>
              </a:ext>
            </a:extLst>
          </p:cNvPr>
          <p:cNvSpPr txBox="1"/>
          <p:nvPr/>
        </p:nvSpPr>
        <p:spPr>
          <a:xfrm>
            <a:off x="2319422" y="1597497"/>
            <a:ext cx="1143390" cy="369332"/>
          </a:xfrm>
          <a:prstGeom prst="rect">
            <a:avLst/>
          </a:prstGeom>
          <a:noFill/>
        </p:spPr>
        <p:txBody>
          <a:bodyPr wrap="none" rtlCol="0">
            <a:spAutoFit/>
          </a:bodyPr>
          <a:lstStyle/>
          <a:p>
            <a:r>
              <a:rPr lang="en-US" dirty="0"/>
              <a:t>Validation</a:t>
            </a:r>
          </a:p>
        </p:txBody>
      </p:sp>
      <p:sp>
        <p:nvSpPr>
          <p:cNvPr id="8" name="TextBox 7">
            <a:extLst>
              <a:ext uri="{FF2B5EF4-FFF2-40B4-BE49-F238E27FC236}">
                <a16:creationId xmlns:a16="http://schemas.microsoft.com/office/drawing/2014/main" id="{627CF63F-014E-0946-A39F-5B7FBA459F74}"/>
              </a:ext>
            </a:extLst>
          </p:cNvPr>
          <p:cNvSpPr txBox="1"/>
          <p:nvPr/>
        </p:nvSpPr>
        <p:spPr>
          <a:xfrm>
            <a:off x="3504343" y="1586753"/>
            <a:ext cx="580031" cy="369332"/>
          </a:xfrm>
          <a:prstGeom prst="rect">
            <a:avLst/>
          </a:prstGeom>
          <a:noFill/>
        </p:spPr>
        <p:txBody>
          <a:bodyPr wrap="none" rtlCol="0">
            <a:spAutoFit/>
          </a:bodyPr>
          <a:lstStyle/>
          <a:p>
            <a:r>
              <a:rPr lang="en-US" dirty="0"/>
              <a:t>Test</a:t>
            </a:r>
          </a:p>
        </p:txBody>
      </p:sp>
      <p:sp>
        <p:nvSpPr>
          <p:cNvPr id="10" name="TextBox 9">
            <a:extLst>
              <a:ext uri="{FF2B5EF4-FFF2-40B4-BE49-F238E27FC236}">
                <a16:creationId xmlns:a16="http://schemas.microsoft.com/office/drawing/2014/main" id="{1E650869-9476-A044-8917-83ABF4759D01}"/>
              </a:ext>
            </a:extLst>
          </p:cNvPr>
          <p:cNvSpPr txBox="1"/>
          <p:nvPr/>
        </p:nvSpPr>
        <p:spPr>
          <a:xfrm>
            <a:off x="3504343" y="1206206"/>
            <a:ext cx="1744004" cy="276999"/>
          </a:xfrm>
          <a:prstGeom prst="rect">
            <a:avLst/>
          </a:prstGeom>
          <a:noFill/>
        </p:spPr>
        <p:txBody>
          <a:bodyPr wrap="none" rtlCol="0">
            <a:spAutoFit/>
          </a:bodyPr>
          <a:lstStyle/>
          <a:p>
            <a:r>
              <a:rPr lang="en-US" sz="1200" b="1" dirty="0"/>
              <a:t>75/15/15 shuffled split</a:t>
            </a:r>
          </a:p>
        </p:txBody>
      </p:sp>
      <p:cxnSp>
        <p:nvCxnSpPr>
          <p:cNvPr id="12" name="Straight Arrow Connector 11">
            <a:extLst>
              <a:ext uri="{FF2B5EF4-FFF2-40B4-BE49-F238E27FC236}">
                <a16:creationId xmlns:a16="http://schemas.microsoft.com/office/drawing/2014/main" id="{8FA33F7A-00AF-B747-AACF-A8378EA36E04}"/>
              </a:ext>
            </a:extLst>
          </p:cNvPr>
          <p:cNvCxnSpPr/>
          <p:nvPr/>
        </p:nvCxnSpPr>
        <p:spPr>
          <a:xfrm flipH="1">
            <a:off x="2070847" y="1206206"/>
            <a:ext cx="466165"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66D2F2A-34F3-B247-AD3F-E865CA56D340}"/>
              </a:ext>
            </a:extLst>
          </p:cNvPr>
          <p:cNvCxnSpPr>
            <a:endCxn id="7" idx="0"/>
          </p:cNvCxnSpPr>
          <p:nvPr/>
        </p:nvCxnSpPr>
        <p:spPr>
          <a:xfrm>
            <a:off x="2891117" y="12062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2FA9BFA-92F2-F141-B825-1C35978E767F}"/>
              </a:ext>
            </a:extLst>
          </p:cNvPr>
          <p:cNvCxnSpPr/>
          <p:nvPr/>
        </p:nvCxnSpPr>
        <p:spPr>
          <a:xfrm>
            <a:off x="3272118" y="1206206"/>
            <a:ext cx="376517"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AA76B3FD-8C91-D448-8EC3-E9FD23710B63}"/>
              </a:ext>
            </a:extLst>
          </p:cNvPr>
          <p:cNvSpPr/>
          <p:nvPr/>
        </p:nvSpPr>
        <p:spPr>
          <a:xfrm>
            <a:off x="7010400" y="892441"/>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19" name="Straight Arrow Connector 18">
            <a:extLst>
              <a:ext uri="{FF2B5EF4-FFF2-40B4-BE49-F238E27FC236}">
                <a16:creationId xmlns:a16="http://schemas.microsoft.com/office/drawing/2014/main" id="{DF9BB64B-3387-C740-82B3-0B2736B8E4DD}"/>
              </a:ext>
            </a:extLst>
          </p:cNvPr>
          <p:cNvCxnSpPr>
            <a:cxnSpLocks/>
          </p:cNvCxnSpPr>
          <p:nvPr/>
        </p:nvCxnSpPr>
        <p:spPr>
          <a:xfrm>
            <a:off x="5620870" y="1111623"/>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AC4A460-CE07-D14D-A487-7E74BD2215AC}"/>
              </a:ext>
            </a:extLst>
          </p:cNvPr>
          <p:cNvCxnSpPr>
            <a:cxnSpLocks/>
          </p:cNvCxnSpPr>
          <p:nvPr/>
        </p:nvCxnSpPr>
        <p:spPr>
          <a:xfrm>
            <a:off x="5629835" y="121517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D053E1-458A-A84E-AB11-8ECB4615618F}"/>
              </a:ext>
            </a:extLst>
          </p:cNvPr>
          <p:cNvCxnSpPr>
            <a:cxnSpLocks/>
          </p:cNvCxnSpPr>
          <p:nvPr/>
        </p:nvCxnSpPr>
        <p:spPr>
          <a:xfrm>
            <a:off x="5629835" y="132677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2217629-1043-BC41-BDC7-C9742B7C0898}"/>
              </a:ext>
            </a:extLst>
          </p:cNvPr>
          <p:cNvSpPr txBox="1"/>
          <p:nvPr/>
        </p:nvSpPr>
        <p:spPr>
          <a:xfrm>
            <a:off x="5738821" y="834624"/>
            <a:ext cx="695319" cy="276999"/>
          </a:xfrm>
          <a:prstGeom prst="rect">
            <a:avLst/>
          </a:prstGeom>
          <a:noFill/>
        </p:spPr>
        <p:txBody>
          <a:bodyPr wrap="none" rtlCol="0">
            <a:spAutoFit/>
          </a:bodyPr>
          <a:lstStyle/>
          <a:p>
            <a:r>
              <a:rPr lang="en-US" sz="1200" b="1" dirty="0"/>
              <a:t>Training</a:t>
            </a:r>
          </a:p>
        </p:txBody>
      </p:sp>
      <p:sp>
        <p:nvSpPr>
          <p:cNvPr id="26" name="TextBox 25">
            <a:extLst>
              <a:ext uri="{FF2B5EF4-FFF2-40B4-BE49-F238E27FC236}">
                <a16:creationId xmlns:a16="http://schemas.microsoft.com/office/drawing/2014/main" id="{188167AA-2DFE-2248-BD2D-E136ACB5E46B}"/>
              </a:ext>
            </a:extLst>
          </p:cNvPr>
          <p:cNvSpPr txBox="1"/>
          <p:nvPr/>
        </p:nvSpPr>
        <p:spPr>
          <a:xfrm>
            <a:off x="9190786" y="834624"/>
            <a:ext cx="744819" cy="276999"/>
          </a:xfrm>
          <a:prstGeom prst="rect">
            <a:avLst/>
          </a:prstGeom>
          <a:noFill/>
        </p:spPr>
        <p:txBody>
          <a:bodyPr wrap="none" rtlCol="0">
            <a:spAutoFit/>
          </a:bodyPr>
          <a:lstStyle/>
          <a:p>
            <a:r>
              <a:rPr lang="en-US" sz="1200" b="1" dirty="0">
                <a:solidFill>
                  <a:schemeClr val="bg1">
                    <a:lumMod val="75000"/>
                  </a:schemeClr>
                </a:solidFill>
              </a:rPr>
              <a:t>Evaluate</a:t>
            </a:r>
          </a:p>
        </p:txBody>
      </p:sp>
      <p:sp>
        <p:nvSpPr>
          <p:cNvPr id="27" name="TextBox 26">
            <a:extLst>
              <a:ext uri="{FF2B5EF4-FFF2-40B4-BE49-F238E27FC236}">
                <a16:creationId xmlns:a16="http://schemas.microsoft.com/office/drawing/2014/main" id="{CC662D97-6947-7A48-B987-83BA61D190AF}"/>
              </a:ext>
            </a:extLst>
          </p:cNvPr>
          <p:cNvSpPr txBox="1"/>
          <p:nvPr/>
        </p:nvSpPr>
        <p:spPr>
          <a:xfrm>
            <a:off x="10192871" y="892441"/>
            <a:ext cx="1429870"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performance</a:t>
            </a:r>
          </a:p>
        </p:txBody>
      </p:sp>
      <p:sp>
        <p:nvSpPr>
          <p:cNvPr id="28" name="Rectangle 27">
            <a:extLst>
              <a:ext uri="{FF2B5EF4-FFF2-40B4-BE49-F238E27FC236}">
                <a16:creationId xmlns:a16="http://schemas.microsoft.com/office/drawing/2014/main" id="{271960E0-6A4A-7C41-904B-97764933C6DE}"/>
              </a:ext>
            </a:extLst>
          </p:cNvPr>
          <p:cNvSpPr/>
          <p:nvPr/>
        </p:nvSpPr>
        <p:spPr>
          <a:xfrm>
            <a:off x="3065933" y="2741450"/>
            <a:ext cx="2070845"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 </a:t>
            </a:r>
            <a:r>
              <a:rPr lang="en-US" sz="1400" dirty="0">
                <a:solidFill>
                  <a:sysClr val="windowText" lastClr="000000"/>
                </a:solidFill>
              </a:rPr>
              <a:t>(Word2Vec model)</a:t>
            </a:r>
          </a:p>
        </p:txBody>
      </p:sp>
      <p:cxnSp>
        <p:nvCxnSpPr>
          <p:cNvPr id="38" name="Straight Arrow Connector 37">
            <a:extLst>
              <a:ext uri="{FF2B5EF4-FFF2-40B4-BE49-F238E27FC236}">
                <a16:creationId xmlns:a16="http://schemas.microsoft.com/office/drawing/2014/main" id="{7E5197C4-078B-7645-A32E-148F5D4AD426}"/>
              </a:ext>
            </a:extLst>
          </p:cNvPr>
          <p:cNvCxnSpPr>
            <a:cxnSpLocks/>
          </p:cNvCxnSpPr>
          <p:nvPr/>
        </p:nvCxnSpPr>
        <p:spPr>
          <a:xfrm>
            <a:off x="3656742" y="2134491"/>
            <a:ext cx="0" cy="48950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2E91E465-C4C2-7548-BC07-63B019322169}"/>
              </a:ext>
            </a:extLst>
          </p:cNvPr>
          <p:cNvCxnSpPr>
            <a:cxnSpLocks/>
          </p:cNvCxnSpPr>
          <p:nvPr/>
        </p:nvCxnSpPr>
        <p:spPr>
          <a:xfrm>
            <a:off x="3504343"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014E194B-C27C-504F-AC6F-95EE26BC9C44}"/>
              </a:ext>
            </a:extLst>
          </p:cNvPr>
          <p:cNvCxnSpPr>
            <a:cxnSpLocks/>
          </p:cNvCxnSpPr>
          <p:nvPr/>
        </p:nvCxnSpPr>
        <p:spPr>
          <a:xfrm>
            <a:off x="3325048"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187BFA7C-2D8C-4E4B-9456-9480303DDE56}"/>
              </a:ext>
            </a:extLst>
          </p:cNvPr>
          <p:cNvSpPr txBox="1"/>
          <p:nvPr/>
        </p:nvSpPr>
        <p:spPr>
          <a:xfrm>
            <a:off x="3656742" y="2229080"/>
            <a:ext cx="695319" cy="276999"/>
          </a:xfrm>
          <a:prstGeom prst="rect">
            <a:avLst/>
          </a:prstGeom>
          <a:noFill/>
        </p:spPr>
        <p:txBody>
          <a:bodyPr wrap="none" rtlCol="0">
            <a:spAutoFit/>
          </a:bodyPr>
          <a:lstStyle/>
          <a:p>
            <a:r>
              <a:rPr lang="en-US" sz="1200" b="1" dirty="0"/>
              <a:t>Training</a:t>
            </a:r>
          </a:p>
        </p:txBody>
      </p:sp>
      <p:cxnSp>
        <p:nvCxnSpPr>
          <p:cNvPr id="49" name="Straight Arrow Connector 48">
            <a:extLst>
              <a:ext uri="{FF2B5EF4-FFF2-40B4-BE49-F238E27FC236}">
                <a16:creationId xmlns:a16="http://schemas.microsoft.com/office/drawing/2014/main" id="{7F05DD9F-B448-C749-AFDB-F879B3697296}"/>
              </a:ext>
            </a:extLst>
          </p:cNvPr>
          <p:cNvCxnSpPr/>
          <p:nvPr/>
        </p:nvCxnSpPr>
        <p:spPr>
          <a:xfrm>
            <a:off x="9027459" y="1215170"/>
            <a:ext cx="986117"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9B969A96-70EA-D447-91CE-6ACEE46C516A}"/>
              </a:ext>
            </a:extLst>
          </p:cNvPr>
          <p:cNvCxnSpPr>
            <a:cxnSpLocks/>
          </p:cNvCxnSpPr>
          <p:nvPr/>
        </p:nvCxnSpPr>
        <p:spPr>
          <a:xfrm>
            <a:off x="5248347" y="3048000"/>
            <a:ext cx="4101841"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9627FF4D-5B92-7643-B71C-74978A94AC68}"/>
              </a:ext>
            </a:extLst>
          </p:cNvPr>
          <p:cNvCxnSpPr/>
          <p:nvPr/>
        </p:nvCxnSpPr>
        <p:spPr>
          <a:xfrm>
            <a:off x="8596288" y="1647756"/>
            <a:ext cx="0" cy="1398494"/>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6479A030-A078-B449-945E-6630D7C1B566}"/>
              </a:ext>
            </a:extLst>
          </p:cNvPr>
          <p:cNvSpPr txBox="1"/>
          <p:nvPr/>
        </p:nvSpPr>
        <p:spPr>
          <a:xfrm>
            <a:off x="8632147" y="2769251"/>
            <a:ext cx="744819" cy="276999"/>
          </a:xfrm>
          <a:prstGeom prst="rect">
            <a:avLst/>
          </a:prstGeom>
          <a:noFill/>
          <a:ln>
            <a:solidFill>
              <a:schemeClr val="bg1">
                <a:lumMod val="75000"/>
              </a:schemeClr>
            </a:solidFill>
          </a:ln>
        </p:spPr>
        <p:txBody>
          <a:bodyPr wrap="none" rtlCol="0">
            <a:spAutoFit/>
          </a:bodyPr>
          <a:lstStyle/>
          <a:p>
            <a:r>
              <a:rPr lang="en-US" sz="1200" b="1" dirty="0">
                <a:solidFill>
                  <a:schemeClr val="bg1">
                    <a:lumMod val="75000"/>
                  </a:schemeClr>
                </a:solidFill>
              </a:rPr>
              <a:t>Evaluate</a:t>
            </a:r>
          </a:p>
        </p:txBody>
      </p:sp>
      <p:sp>
        <p:nvSpPr>
          <p:cNvPr id="57" name="TextBox 56">
            <a:extLst>
              <a:ext uri="{FF2B5EF4-FFF2-40B4-BE49-F238E27FC236}">
                <a16:creationId xmlns:a16="http://schemas.microsoft.com/office/drawing/2014/main" id="{F5D76C84-E85C-E344-84EE-7B2BDC35B28D}"/>
              </a:ext>
            </a:extLst>
          </p:cNvPr>
          <p:cNvSpPr txBox="1"/>
          <p:nvPr/>
        </p:nvSpPr>
        <p:spPr>
          <a:xfrm>
            <a:off x="9480551" y="2726061"/>
            <a:ext cx="2245163"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 Cosine similarity performance</a:t>
            </a:r>
          </a:p>
        </p:txBody>
      </p:sp>
      <p:sp>
        <p:nvSpPr>
          <p:cNvPr id="58" name="Rectangle 57">
            <a:extLst>
              <a:ext uri="{FF2B5EF4-FFF2-40B4-BE49-F238E27FC236}">
                <a16:creationId xmlns:a16="http://schemas.microsoft.com/office/drawing/2014/main" id="{450943B3-DFB3-BA42-877E-A6379E1BA74A}"/>
              </a:ext>
            </a:extLst>
          </p:cNvPr>
          <p:cNvSpPr/>
          <p:nvPr/>
        </p:nvSpPr>
        <p:spPr>
          <a:xfrm>
            <a:off x="4902813" y="4296364"/>
            <a:ext cx="2386373"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 </a:t>
            </a:r>
            <a:r>
              <a:rPr lang="en-US" sz="1400" dirty="0">
                <a:solidFill>
                  <a:sysClr val="windowText" lastClr="000000"/>
                </a:solidFill>
              </a:rPr>
              <a:t>(regex matching)</a:t>
            </a:r>
          </a:p>
        </p:txBody>
      </p:sp>
      <p:sp>
        <p:nvSpPr>
          <p:cNvPr id="59" name="Rectangle 58">
            <a:extLst>
              <a:ext uri="{FF2B5EF4-FFF2-40B4-BE49-F238E27FC236}">
                <a16:creationId xmlns:a16="http://schemas.microsoft.com/office/drawing/2014/main" id="{6F81326B-D95D-1543-9C74-6CB332747FDC}"/>
              </a:ext>
            </a:extLst>
          </p:cNvPr>
          <p:cNvSpPr/>
          <p:nvPr/>
        </p:nvSpPr>
        <p:spPr>
          <a:xfrm>
            <a:off x="1189793" y="4140600"/>
            <a:ext cx="2362396"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Additional databases </a:t>
            </a:r>
          </a:p>
          <a:p>
            <a:pPr algn="ctr"/>
            <a:r>
              <a:rPr lang="en-US" sz="1400" dirty="0">
                <a:solidFill>
                  <a:sysClr val="windowText" lastClr="000000"/>
                </a:solidFill>
              </a:rPr>
              <a:t>(FAERS, CVP)</a:t>
            </a:r>
          </a:p>
        </p:txBody>
      </p:sp>
      <p:sp>
        <p:nvSpPr>
          <p:cNvPr id="60" name="TextBox 59">
            <a:extLst>
              <a:ext uri="{FF2B5EF4-FFF2-40B4-BE49-F238E27FC236}">
                <a16:creationId xmlns:a16="http://schemas.microsoft.com/office/drawing/2014/main" id="{C39457C6-693A-734E-BDA8-296F33559E0F}"/>
              </a:ext>
            </a:extLst>
          </p:cNvPr>
          <p:cNvSpPr txBox="1"/>
          <p:nvPr/>
        </p:nvSpPr>
        <p:spPr>
          <a:xfrm>
            <a:off x="1501850" y="5368829"/>
            <a:ext cx="755335" cy="369332"/>
          </a:xfrm>
          <a:prstGeom prst="rect">
            <a:avLst/>
          </a:prstGeom>
          <a:noFill/>
        </p:spPr>
        <p:txBody>
          <a:bodyPr wrap="none" rtlCol="0">
            <a:spAutoFit/>
          </a:bodyPr>
          <a:lstStyle/>
          <a:p>
            <a:r>
              <a:rPr lang="en-US" dirty="0"/>
              <a:t>Drugs</a:t>
            </a:r>
          </a:p>
        </p:txBody>
      </p:sp>
      <p:sp>
        <p:nvSpPr>
          <p:cNvPr id="61" name="TextBox 60">
            <a:extLst>
              <a:ext uri="{FF2B5EF4-FFF2-40B4-BE49-F238E27FC236}">
                <a16:creationId xmlns:a16="http://schemas.microsoft.com/office/drawing/2014/main" id="{0A99AF4C-F498-1648-AF06-0972D815BE26}"/>
              </a:ext>
            </a:extLst>
          </p:cNvPr>
          <p:cNvSpPr txBox="1"/>
          <p:nvPr/>
        </p:nvSpPr>
        <p:spPr>
          <a:xfrm>
            <a:off x="2360291" y="5368829"/>
            <a:ext cx="705642" cy="369332"/>
          </a:xfrm>
          <a:prstGeom prst="rect">
            <a:avLst/>
          </a:prstGeom>
          <a:noFill/>
        </p:spPr>
        <p:txBody>
          <a:bodyPr wrap="none" rtlCol="0">
            <a:spAutoFit/>
          </a:bodyPr>
          <a:lstStyle/>
          <a:p>
            <a:r>
              <a:rPr lang="en-US" dirty="0"/>
              <a:t>ADRs</a:t>
            </a:r>
          </a:p>
        </p:txBody>
      </p:sp>
      <p:cxnSp>
        <p:nvCxnSpPr>
          <p:cNvPr id="62" name="Straight Arrow Connector 61">
            <a:extLst>
              <a:ext uri="{FF2B5EF4-FFF2-40B4-BE49-F238E27FC236}">
                <a16:creationId xmlns:a16="http://schemas.microsoft.com/office/drawing/2014/main" id="{818A1917-21C7-044C-90E2-12669A5211D2}"/>
              </a:ext>
            </a:extLst>
          </p:cNvPr>
          <p:cNvCxnSpPr/>
          <p:nvPr/>
        </p:nvCxnSpPr>
        <p:spPr>
          <a:xfrm>
            <a:off x="1905911" y="48785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BA31A70D-35BE-2B49-83B1-37E68F3C1460}"/>
              </a:ext>
            </a:extLst>
          </p:cNvPr>
          <p:cNvCxnSpPr/>
          <p:nvPr/>
        </p:nvCxnSpPr>
        <p:spPr>
          <a:xfrm>
            <a:off x="2711449" y="4878505"/>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F9F661CE-2F30-EC42-BAA7-1A2B588E7B97}"/>
              </a:ext>
            </a:extLst>
          </p:cNvPr>
          <p:cNvSpPr txBox="1"/>
          <p:nvPr/>
        </p:nvSpPr>
        <p:spPr>
          <a:xfrm>
            <a:off x="2711449" y="4843317"/>
            <a:ext cx="1088300" cy="461665"/>
          </a:xfrm>
          <a:prstGeom prst="rect">
            <a:avLst/>
          </a:prstGeom>
          <a:noFill/>
        </p:spPr>
        <p:txBody>
          <a:bodyPr wrap="square" rtlCol="0">
            <a:spAutoFit/>
          </a:bodyPr>
          <a:lstStyle/>
          <a:p>
            <a:r>
              <a:rPr lang="en-US" sz="1200" b="1" dirty="0"/>
              <a:t>Compile from last 10 yrs</a:t>
            </a:r>
          </a:p>
        </p:txBody>
      </p:sp>
      <p:cxnSp>
        <p:nvCxnSpPr>
          <p:cNvPr id="66" name="Straight Arrow Connector 65">
            <a:extLst>
              <a:ext uri="{FF2B5EF4-FFF2-40B4-BE49-F238E27FC236}">
                <a16:creationId xmlns:a16="http://schemas.microsoft.com/office/drawing/2014/main" id="{FAD8F7FB-5BDB-BB48-A84B-9B54E5537E1C}"/>
              </a:ext>
            </a:extLst>
          </p:cNvPr>
          <p:cNvCxnSpPr>
            <a:cxnSpLocks/>
          </p:cNvCxnSpPr>
          <p:nvPr/>
        </p:nvCxnSpPr>
        <p:spPr>
          <a:xfrm>
            <a:off x="7395882" y="4625445"/>
            <a:ext cx="2084669" cy="0"/>
          </a:xfrm>
          <a:prstGeom prst="straightConnector1">
            <a:avLst/>
          </a:prstGeom>
          <a:ln>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704927B6-A190-DB46-BABE-2E25B463FEE9}"/>
              </a:ext>
            </a:extLst>
          </p:cNvPr>
          <p:cNvCxnSpPr>
            <a:cxnSpLocks/>
          </p:cNvCxnSpPr>
          <p:nvPr/>
        </p:nvCxnSpPr>
        <p:spPr>
          <a:xfrm>
            <a:off x="8237646" y="1667435"/>
            <a:ext cx="0" cy="295801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9A95D2A0-4A53-9245-8555-EDC60737FA4B}"/>
              </a:ext>
            </a:extLst>
          </p:cNvPr>
          <p:cNvSpPr txBox="1"/>
          <p:nvPr/>
        </p:nvSpPr>
        <p:spPr>
          <a:xfrm>
            <a:off x="8556063" y="4333130"/>
            <a:ext cx="744819" cy="276999"/>
          </a:xfrm>
          <a:prstGeom prst="rect">
            <a:avLst/>
          </a:prstGeom>
          <a:noFill/>
        </p:spPr>
        <p:txBody>
          <a:bodyPr wrap="none" rtlCol="0">
            <a:spAutoFit/>
          </a:bodyPr>
          <a:lstStyle/>
          <a:p>
            <a:r>
              <a:rPr lang="en-US" sz="1200" b="1" dirty="0">
                <a:solidFill>
                  <a:schemeClr val="bg1">
                    <a:lumMod val="75000"/>
                  </a:schemeClr>
                </a:solidFill>
              </a:rPr>
              <a:t>Evaluate</a:t>
            </a:r>
          </a:p>
        </p:txBody>
      </p:sp>
      <p:cxnSp>
        <p:nvCxnSpPr>
          <p:cNvPr id="72" name="Straight Arrow Connector 71">
            <a:extLst>
              <a:ext uri="{FF2B5EF4-FFF2-40B4-BE49-F238E27FC236}">
                <a16:creationId xmlns:a16="http://schemas.microsoft.com/office/drawing/2014/main" id="{23120EE9-46BA-4F4D-BE02-8632D51C2D2C}"/>
              </a:ext>
            </a:extLst>
          </p:cNvPr>
          <p:cNvCxnSpPr>
            <a:cxnSpLocks/>
          </p:cNvCxnSpPr>
          <p:nvPr/>
        </p:nvCxnSpPr>
        <p:spPr>
          <a:xfrm>
            <a:off x="3854823" y="4562438"/>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EF71CB0D-B8B2-7847-B8FB-86E45FE7AF07}"/>
              </a:ext>
            </a:extLst>
          </p:cNvPr>
          <p:cNvCxnSpPr>
            <a:cxnSpLocks/>
          </p:cNvCxnSpPr>
          <p:nvPr/>
        </p:nvCxnSpPr>
        <p:spPr>
          <a:xfrm>
            <a:off x="3863788" y="466598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A9CD059A-2E55-B944-A6D9-77E68A82D2E1}"/>
              </a:ext>
            </a:extLst>
          </p:cNvPr>
          <p:cNvCxnSpPr>
            <a:cxnSpLocks/>
          </p:cNvCxnSpPr>
          <p:nvPr/>
        </p:nvCxnSpPr>
        <p:spPr>
          <a:xfrm>
            <a:off x="3863788" y="477759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D5803B9B-D0EE-A64D-9E54-517EA6FEED4C}"/>
              </a:ext>
            </a:extLst>
          </p:cNvPr>
          <p:cNvSpPr txBox="1"/>
          <p:nvPr/>
        </p:nvSpPr>
        <p:spPr>
          <a:xfrm>
            <a:off x="3856052" y="4285439"/>
            <a:ext cx="929870" cy="276999"/>
          </a:xfrm>
          <a:prstGeom prst="rect">
            <a:avLst/>
          </a:prstGeom>
          <a:noFill/>
        </p:spPr>
        <p:txBody>
          <a:bodyPr wrap="none" rtlCol="0">
            <a:spAutoFit/>
          </a:bodyPr>
          <a:lstStyle/>
          <a:p>
            <a:r>
              <a:rPr lang="en-US" sz="1200" b="1" dirty="0"/>
              <a:t>Incorporate</a:t>
            </a:r>
          </a:p>
        </p:txBody>
      </p:sp>
      <p:sp>
        <p:nvSpPr>
          <p:cNvPr id="76" name="TextBox 75">
            <a:extLst>
              <a:ext uri="{FF2B5EF4-FFF2-40B4-BE49-F238E27FC236}">
                <a16:creationId xmlns:a16="http://schemas.microsoft.com/office/drawing/2014/main" id="{64F7DAE7-CBEA-BE47-9A8D-12E186B02FDA}"/>
              </a:ext>
            </a:extLst>
          </p:cNvPr>
          <p:cNvSpPr txBox="1"/>
          <p:nvPr/>
        </p:nvSpPr>
        <p:spPr>
          <a:xfrm>
            <a:off x="9546283" y="4297680"/>
            <a:ext cx="2245163" cy="584775"/>
          </a:xfrm>
          <a:prstGeom prst="rect">
            <a:avLst/>
          </a:prstGeom>
          <a:noFill/>
        </p:spPr>
        <p:txBody>
          <a:bodyPr wrap="square" rtlCol="0">
            <a:spAutoFit/>
          </a:bodyPr>
          <a:lstStyle/>
          <a:p>
            <a:pPr algn="ctr"/>
            <a:r>
              <a:rPr lang="en-US" sz="1600" b="1" dirty="0">
                <a:solidFill>
                  <a:schemeClr val="accent6">
                    <a:lumMod val="60000"/>
                    <a:lumOff val="40000"/>
                  </a:schemeClr>
                </a:solidFill>
              </a:rPr>
              <a:t>Base + Dependency parsing performance</a:t>
            </a:r>
          </a:p>
        </p:txBody>
      </p:sp>
      <p:sp>
        <p:nvSpPr>
          <p:cNvPr id="82" name="TextBox 81">
            <a:extLst>
              <a:ext uri="{FF2B5EF4-FFF2-40B4-BE49-F238E27FC236}">
                <a16:creationId xmlns:a16="http://schemas.microsoft.com/office/drawing/2014/main" id="{C52BED4B-C26A-3C47-AFB0-84E90FAA1091}"/>
              </a:ext>
            </a:extLst>
          </p:cNvPr>
          <p:cNvSpPr txBox="1"/>
          <p:nvPr/>
        </p:nvSpPr>
        <p:spPr>
          <a:xfrm>
            <a:off x="9520517" y="5447857"/>
            <a:ext cx="2245163" cy="830997"/>
          </a:xfrm>
          <a:prstGeom prst="rect">
            <a:avLst/>
          </a:prstGeom>
          <a:noFill/>
        </p:spPr>
        <p:txBody>
          <a:bodyPr wrap="square" rtlCol="0">
            <a:spAutoFit/>
          </a:bodyPr>
          <a:lstStyle/>
          <a:p>
            <a:pPr algn="ctr"/>
            <a:r>
              <a:rPr lang="en-US" sz="1600" b="1" dirty="0">
                <a:solidFill>
                  <a:srgbClr val="FF0000"/>
                </a:solidFill>
              </a:rPr>
              <a:t>Base + Cosine similarity + Dependency parsing performance</a:t>
            </a:r>
          </a:p>
        </p:txBody>
      </p:sp>
      <p:cxnSp>
        <p:nvCxnSpPr>
          <p:cNvPr id="84" name="Straight Connector 83">
            <a:extLst>
              <a:ext uri="{FF2B5EF4-FFF2-40B4-BE49-F238E27FC236}">
                <a16:creationId xmlns:a16="http://schemas.microsoft.com/office/drawing/2014/main" id="{DA24366F-B4BE-D34F-A163-7041468848E0}"/>
              </a:ext>
            </a:extLst>
          </p:cNvPr>
          <p:cNvCxnSpPr/>
          <p:nvPr/>
        </p:nvCxnSpPr>
        <p:spPr>
          <a:xfrm>
            <a:off x="7799294" y="1647756"/>
            <a:ext cx="0" cy="4215599"/>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9C191FEA-E1A7-1842-902D-C5A1AE8D52D0}"/>
              </a:ext>
            </a:extLst>
          </p:cNvPr>
          <p:cNvCxnSpPr/>
          <p:nvPr/>
        </p:nvCxnSpPr>
        <p:spPr>
          <a:xfrm>
            <a:off x="7817224" y="5863355"/>
            <a:ext cx="15329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08B99629-3D24-2C40-B015-D627EEAE0A4A}"/>
              </a:ext>
            </a:extLst>
          </p:cNvPr>
          <p:cNvSpPr txBox="1"/>
          <p:nvPr/>
        </p:nvSpPr>
        <p:spPr>
          <a:xfrm>
            <a:off x="8553907" y="5586356"/>
            <a:ext cx="744819" cy="276999"/>
          </a:xfrm>
          <a:prstGeom prst="rect">
            <a:avLst/>
          </a:prstGeom>
          <a:noFill/>
        </p:spPr>
        <p:txBody>
          <a:bodyPr wrap="none" rtlCol="0">
            <a:spAutoFit/>
          </a:bodyPr>
          <a:lstStyle/>
          <a:p>
            <a:r>
              <a:rPr lang="en-US" sz="1200" b="1" dirty="0"/>
              <a:t>Evaluate</a:t>
            </a:r>
          </a:p>
        </p:txBody>
      </p:sp>
      <p:cxnSp>
        <p:nvCxnSpPr>
          <p:cNvPr id="3" name="Straight Connector 2">
            <a:extLst>
              <a:ext uri="{FF2B5EF4-FFF2-40B4-BE49-F238E27FC236}">
                <a16:creationId xmlns:a16="http://schemas.microsoft.com/office/drawing/2014/main" id="{E3AB37F7-9C8E-9847-9E1F-C85DD8DEADF4}"/>
              </a:ext>
            </a:extLst>
          </p:cNvPr>
          <p:cNvCxnSpPr/>
          <p:nvPr/>
        </p:nvCxnSpPr>
        <p:spPr>
          <a:xfrm>
            <a:off x="7395882" y="4625445"/>
            <a:ext cx="412377" cy="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E0331C2C-F6CA-CB4F-855F-4B7676E5A388}"/>
              </a:ext>
            </a:extLst>
          </p:cNvPr>
          <p:cNvCxnSpPr>
            <a:cxnSpLocks/>
          </p:cNvCxnSpPr>
          <p:nvPr/>
        </p:nvCxnSpPr>
        <p:spPr>
          <a:xfrm>
            <a:off x="5248347" y="3046250"/>
            <a:ext cx="255094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5284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E9D3D5-3B96-DF44-A8C3-0AAFDD261877}"/>
              </a:ext>
            </a:extLst>
          </p:cNvPr>
          <p:cNvSpPr/>
          <p:nvPr/>
        </p:nvSpPr>
        <p:spPr>
          <a:xfrm>
            <a:off x="1999129" y="475129"/>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HuggingFace database</a:t>
            </a:r>
          </a:p>
        </p:txBody>
      </p:sp>
      <p:sp>
        <p:nvSpPr>
          <p:cNvPr id="6" name="TextBox 5">
            <a:extLst>
              <a:ext uri="{FF2B5EF4-FFF2-40B4-BE49-F238E27FC236}">
                <a16:creationId xmlns:a16="http://schemas.microsoft.com/office/drawing/2014/main" id="{5AB3CFCA-2494-574E-B6A7-2800E1FC5166}"/>
              </a:ext>
            </a:extLst>
          </p:cNvPr>
          <p:cNvSpPr txBox="1"/>
          <p:nvPr/>
        </p:nvSpPr>
        <p:spPr>
          <a:xfrm>
            <a:off x="1621365" y="1586753"/>
            <a:ext cx="656526" cy="369332"/>
          </a:xfrm>
          <a:prstGeom prst="rect">
            <a:avLst/>
          </a:prstGeom>
          <a:noFill/>
        </p:spPr>
        <p:txBody>
          <a:bodyPr wrap="none" rtlCol="0">
            <a:spAutoFit/>
          </a:bodyPr>
          <a:lstStyle/>
          <a:p>
            <a:r>
              <a:rPr lang="en-US" dirty="0"/>
              <a:t>Train</a:t>
            </a:r>
          </a:p>
        </p:txBody>
      </p:sp>
      <p:sp>
        <p:nvSpPr>
          <p:cNvPr id="7" name="TextBox 6">
            <a:extLst>
              <a:ext uri="{FF2B5EF4-FFF2-40B4-BE49-F238E27FC236}">
                <a16:creationId xmlns:a16="http://schemas.microsoft.com/office/drawing/2014/main" id="{5BB10A2C-70A3-844C-BBD2-F5FCD2EBB07D}"/>
              </a:ext>
            </a:extLst>
          </p:cNvPr>
          <p:cNvSpPr txBox="1"/>
          <p:nvPr/>
        </p:nvSpPr>
        <p:spPr>
          <a:xfrm>
            <a:off x="2319422" y="1597497"/>
            <a:ext cx="1143390" cy="369332"/>
          </a:xfrm>
          <a:prstGeom prst="rect">
            <a:avLst/>
          </a:prstGeom>
          <a:noFill/>
        </p:spPr>
        <p:txBody>
          <a:bodyPr wrap="none" rtlCol="0">
            <a:spAutoFit/>
          </a:bodyPr>
          <a:lstStyle/>
          <a:p>
            <a:r>
              <a:rPr lang="en-US" dirty="0"/>
              <a:t>Validation</a:t>
            </a:r>
          </a:p>
        </p:txBody>
      </p:sp>
      <p:sp>
        <p:nvSpPr>
          <p:cNvPr id="8" name="TextBox 7">
            <a:extLst>
              <a:ext uri="{FF2B5EF4-FFF2-40B4-BE49-F238E27FC236}">
                <a16:creationId xmlns:a16="http://schemas.microsoft.com/office/drawing/2014/main" id="{627CF63F-014E-0946-A39F-5B7FBA459F74}"/>
              </a:ext>
            </a:extLst>
          </p:cNvPr>
          <p:cNvSpPr txBox="1"/>
          <p:nvPr/>
        </p:nvSpPr>
        <p:spPr>
          <a:xfrm>
            <a:off x="3504343" y="1586753"/>
            <a:ext cx="580031" cy="369332"/>
          </a:xfrm>
          <a:prstGeom prst="rect">
            <a:avLst/>
          </a:prstGeom>
          <a:noFill/>
        </p:spPr>
        <p:txBody>
          <a:bodyPr wrap="none" rtlCol="0">
            <a:spAutoFit/>
          </a:bodyPr>
          <a:lstStyle/>
          <a:p>
            <a:r>
              <a:rPr lang="en-US" dirty="0"/>
              <a:t>Test</a:t>
            </a:r>
          </a:p>
        </p:txBody>
      </p:sp>
      <p:sp>
        <p:nvSpPr>
          <p:cNvPr id="10" name="TextBox 9">
            <a:extLst>
              <a:ext uri="{FF2B5EF4-FFF2-40B4-BE49-F238E27FC236}">
                <a16:creationId xmlns:a16="http://schemas.microsoft.com/office/drawing/2014/main" id="{1E650869-9476-A044-8917-83ABF4759D01}"/>
              </a:ext>
            </a:extLst>
          </p:cNvPr>
          <p:cNvSpPr txBox="1"/>
          <p:nvPr/>
        </p:nvSpPr>
        <p:spPr>
          <a:xfrm>
            <a:off x="3504343" y="1206206"/>
            <a:ext cx="1744004" cy="276999"/>
          </a:xfrm>
          <a:prstGeom prst="rect">
            <a:avLst/>
          </a:prstGeom>
          <a:noFill/>
        </p:spPr>
        <p:txBody>
          <a:bodyPr wrap="none" rtlCol="0">
            <a:spAutoFit/>
          </a:bodyPr>
          <a:lstStyle/>
          <a:p>
            <a:r>
              <a:rPr lang="en-US" sz="1200" b="1" dirty="0"/>
              <a:t>75/15/15 shuffled split</a:t>
            </a:r>
          </a:p>
        </p:txBody>
      </p:sp>
      <p:cxnSp>
        <p:nvCxnSpPr>
          <p:cNvPr id="12" name="Straight Arrow Connector 11">
            <a:extLst>
              <a:ext uri="{FF2B5EF4-FFF2-40B4-BE49-F238E27FC236}">
                <a16:creationId xmlns:a16="http://schemas.microsoft.com/office/drawing/2014/main" id="{8FA33F7A-00AF-B747-AACF-A8378EA36E04}"/>
              </a:ext>
            </a:extLst>
          </p:cNvPr>
          <p:cNvCxnSpPr/>
          <p:nvPr/>
        </p:nvCxnSpPr>
        <p:spPr>
          <a:xfrm flipH="1">
            <a:off x="2070847" y="1206206"/>
            <a:ext cx="466165"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66D2F2A-34F3-B247-AD3F-E865CA56D340}"/>
              </a:ext>
            </a:extLst>
          </p:cNvPr>
          <p:cNvCxnSpPr>
            <a:endCxn id="7" idx="0"/>
          </p:cNvCxnSpPr>
          <p:nvPr/>
        </p:nvCxnSpPr>
        <p:spPr>
          <a:xfrm>
            <a:off x="2891117" y="12062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2FA9BFA-92F2-F141-B825-1C35978E767F}"/>
              </a:ext>
            </a:extLst>
          </p:cNvPr>
          <p:cNvCxnSpPr/>
          <p:nvPr/>
        </p:nvCxnSpPr>
        <p:spPr>
          <a:xfrm>
            <a:off x="3272118" y="1206206"/>
            <a:ext cx="376517" cy="380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AA76B3FD-8C91-D448-8EC3-E9FD23710B63}"/>
              </a:ext>
            </a:extLst>
          </p:cNvPr>
          <p:cNvSpPr/>
          <p:nvPr/>
        </p:nvSpPr>
        <p:spPr>
          <a:xfrm>
            <a:off x="7010400" y="892441"/>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19" name="Straight Arrow Connector 18">
            <a:extLst>
              <a:ext uri="{FF2B5EF4-FFF2-40B4-BE49-F238E27FC236}">
                <a16:creationId xmlns:a16="http://schemas.microsoft.com/office/drawing/2014/main" id="{DF9BB64B-3387-C740-82B3-0B2736B8E4DD}"/>
              </a:ext>
            </a:extLst>
          </p:cNvPr>
          <p:cNvCxnSpPr>
            <a:cxnSpLocks/>
          </p:cNvCxnSpPr>
          <p:nvPr/>
        </p:nvCxnSpPr>
        <p:spPr>
          <a:xfrm>
            <a:off x="5620870" y="1111623"/>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AC4A460-CE07-D14D-A487-7E74BD2215AC}"/>
              </a:ext>
            </a:extLst>
          </p:cNvPr>
          <p:cNvCxnSpPr>
            <a:cxnSpLocks/>
          </p:cNvCxnSpPr>
          <p:nvPr/>
        </p:nvCxnSpPr>
        <p:spPr>
          <a:xfrm>
            <a:off x="5629835" y="121517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D053E1-458A-A84E-AB11-8ECB4615618F}"/>
              </a:ext>
            </a:extLst>
          </p:cNvPr>
          <p:cNvCxnSpPr>
            <a:cxnSpLocks/>
          </p:cNvCxnSpPr>
          <p:nvPr/>
        </p:nvCxnSpPr>
        <p:spPr>
          <a:xfrm>
            <a:off x="5629835" y="132677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2217629-1043-BC41-BDC7-C9742B7C0898}"/>
              </a:ext>
            </a:extLst>
          </p:cNvPr>
          <p:cNvSpPr txBox="1"/>
          <p:nvPr/>
        </p:nvSpPr>
        <p:spPr>
          <a:xfrm>
            <a:off x="5738821" y="834624"/>
            <a:ext cx="695319" cy="276999"/>
          </a:xfrm>
          <a:prstGeom prst="rect">
            <a:avLst/>
          </a:prstGeom>
          <a:noFill/>
        </p:spPr>
        <p:txBody>
          <a:bodyPr wrap="none" rtlCol="0">
            <a:spAutoFit/>
          </a:bodyPr>
          <a:lstStyle/>
          <a:p>
            <a:r>
              <a:rPr lang="en-US" sz="1200" b="1" dirty="0"/>
              <a:t>Training</a:t>
            </a:r>
          </a:p>
        </p:txBody>
      </p:sp>
      <p:sp>
        <p:nvSpPr>
          <p:cNvPr id="26" name="TextBox 25">
            <a:extLst>
              <a:ext uri="{FF2B5EF4-FFF2-40B4-BE49-F238E27FC236}">
                <a16:creationId xmlns:a16="http://schemas.microsoft.com/office/drawing/2014/main" id="{188167AA-2DFE-2248-BD2D-E136ACB5E46B}"/>
              </a:ext>
            </a:extLst>
          </p:cNvPr>
          <p:cNvSpPr txBox="1"/>
          <p:nvPr/>
        </p:nvSpPr>
        <p:spPr>
          <a:xfrm>
            <a:off x="9190786" y="834624"/>
            <a:ext cx="744819" cy="276999"/>
          </a:xfrm>
          <a:prstGeom prst="rect">
            <a:avLst/>
          </a:prstGeom>
          <a:noFill/>
        </p:spPr>
        <p:txBody>
          <a:bodyPr wrap="none" rtlCol="0">
            <a:spAutoFit/>
          </a:bodyPr>
          <a:lstStyle/>
          <a:p>
            <a:r>
              <a:rPr lang="en-US" sz="1200" b="1" dirty="0"/>
              <a:t>Evaluate</a:t>
            </a:r>
          </a:p>
        </p:txBody>
      </p:sp>
      <p:sp>
        <p:nvSpPr>
          <p:cNvPr id="27" name="TextBox 26">
            <a:extLst>
              <a:ext uri="{FF2B5EF4-FFF2-40B4-BE49-F238E27FC236}">
                <a16:creationId xmlns:a16="http://schemas.microsoft.com/office/drawing/2014/main" id="{CC662D97-6947-7A48-B987-83BA61D190AF}"/>
              </a:ext>
            </a:extLst>
          </p:cNvPr>
          <p:cNvSpPr txBox="1"/>
          <p:nvPr/>
        </p:nvSpPr>
        <p:spPr>
          <a:xfrm>
            <a:off x="10192871" y="892441"/>
            <a:ext cx="1429870" cy="584775"/>
          </a:xfrm>
          <a:prstGeom prst="rect">
            <a:avLst/>
          </a:prstGeom>
          <a:noFill/>
        </p:spPr>
        <p:txBody>
          <a:bodyPr wrap="square" rtlCol="0">
            <a:spAutoFit/>
          </a:bodyPr>
          <a:lstStyle/>
          <a:p>
            <a:pPr algn="ctr"/>
            <a:r>
              <a:rPr lang="en-US" sz="1600" b="1" dirty="0">
                <a:solidFill>
                  <a:srgbClr val="FF0000"/>
                </a:solidFill>
              </a:rPr>
              <a:t>Base performance</a:t>
            </a:r>
          </a:p>
        </p:txBody>
      </p:sp>
      <p:sp>
        <p:nvSpPr>
          <p:cNvPr id="28" name="Rectangle 27">
            <a:extLst>
              <a:ext uri="{FF2B5EF4-FFF2-40B4-BE49-F238E27FC236}">
                <a16:creationId xmlns:a16="http://schemas.microsoft.com/office/drawing/2014/main" id="{271960E0-6A4A-7C41-904B-97764933C6DE}"/>
              </a:ext>
            </a:extLst>
          </p:cNvPr>
          <p:cNvSpPr/>
          <p:nvPr/>
        </p:nvSpPr>
        <p:spPr>
          <a:xfrm>
            <a:off x="3065933" y="2741450"/>
            <a:ext cx="2070845"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 </a:t>
            </a:r>
            <a:r>
              <a:rPr lang="en-US" sz="1400" dirty="0">
                <a:solidFill>
                  <a:sysClr val="windowText" lastClr="000000"/>
                </a:solidFill>
              </a:rPr>
              <a:t>(Word2Vec model)</a:t>
            </a:r>
          </a:p>
        </p:txBody>
      </p:sp>
      <p:cxnSp>
        <p:nvCxnSpPr>
          <p:cNvPr id="38" name="Straight Arrow Connector 37">
            <a:extLst>
              <a:ext uri="{FF2B5EF4-FFF2-40B4-BE49-F238E27FC236}">
                <a16:creationId xmlns:a16="http://schemas.microsoft.com/office/drawing/2014/main" id="{7E5197C4-078B-7645-A32E-148F5D4AD426}"/>
              </a:ext>
            </a:extLst>
          </p:cNvPr>
          <p:cNvCxnSpPr>
            <a:cxnSpLocks/>
          </p:cNvCxnSpPr>
          <p:nvPr/>
        </p:nvCxnSpPr>
        <p:spPr>
          <a:xfrm>
            <a:off x="3656742" y="2134491"/>
            <a:ext cx="0" cy="48950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2E91E465-C4C2-7548-BC07-63B019322169}"/>
              </a:ext>
            </a:extLst>
          </p:cNvPr>
          <p:cNvCxnSpPr>
            <a:cxnSpLocks/>
          </p:cNvCxnSpPr>
          <p:nvPr/>
        </p:nvCxnSpPr>
        <p:spPr>
          <a:xfrm>
            <a:off x="3504343"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014E194B-C27C-504F-AC6F-95EE26BC9C44}"/>
              </a:ext>
            </a:extLst>
          </p:cNvPr>
          <p:cNvCxnSpPr>
            <a:cxnSpLocks/>
          </p:cNvCxnSpPr>
          <p:nvPr/>
        </p:nvCxnSpPr>
        <p:spPr>
          <a:xfrm>
            <a:off x="3325048" y="2143456"/>
            <a:ext cx="0" cy="4805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187BFA7C-2D8C-4E4B-9456-9480303DDE56}"/>
              </a:ext>
            </a:extLst>
          </p:cNvPr>
          <p:cNvSpPr txBox="1"/>
          <p:nvPr/>
        </p:nvSpPr>
        <p:spPr>
          <a:xfrm>
            <a:off x="3656742" y="2229080"/>
            <a:ext cx="695319" cy="276999"/>
          </a:xfrm>
          <a:prstGeom prst="rect">
            <a:avLst/>
          </a:prstGeom>
          <a:noFill/>
        </p:spPr>
        <p:txBody>
          <a:bodyPr wrap="none" rtlCol="0">
            <a:spAutoFit/>
          </a:bodyPr>
          <a:lstStyle/>
          <a:p>
            <a:r>
              <a:rPr lang="en-US" sz="1200" b="1" dirty="0"/>
              <a:t>Training</a:t>
            </a:r>
          </a:p>
        </p:txBody>
      </p:sp>
      <p:cxnSp>
        <p:nvCxnSpPr>
          <p:cNvPr id="49" name="Straight Arrow Connector 48">
            <a:extLst>
              <a:ext uri="{FF2B5EF4-FFF2-40B4-BE49-F238E27FC236}">
                <a16:creationId xmlns:a16="http://schemas.microsoft.com/office/drawing/2014/main" id="{7F05DD9F-B448-C749-AFDB-F879B3697296}"/>
              </a:ext>
            </a:extLst>
          </p:cNvPr>
          <p:cNvCxnSpPr/>
          <p:nvPr/>
        </p:nvCxnSpPr>
        <p:spPr>
          <a:xfrm>
            <a:off x="9027459" y="1215170"/>
            <a:ext cx="9861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9B969A96-70EA-D447-91CE-6ACEE46C516A}"/>
              </a:ext>
            </a:extLst>
          </p:cNvPr>
          <p:cNvCxnSpPr>
            <a:cxnSpLocks/>
          </p:cNvCxnSpPr>
          <p:nvPr/>
        </p:nvCxnSpPr>
        <p:spPr>
          <a:xfrm>
            <a:off x="5248347" y="3048000"/>
            <a:ext cx="41018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9627FF4D-5B92-7643-B71C-74978A94AC68}"/>
              </a:ext>
            </a:extLst>
          </p:cNvPr>
          <p:cNvCxnSpPr/>
          <p:nvPr/>
        </p:nvCxnSpPr>
        <p:spPr>
          <a:xfrm>
            <a:off x="8596288" y="1647756"/>
            <a:ext cx="0" cy="1398494"/>
          </a:xfrm>
          <a:prstGeom prst="line">
            <a:avLst/>
          </a:prstGeom>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6479A030-A078-B449-945E-6630D7C1B566}"/>
              </a:ext>
            </a:extLst>
          </p:cNvPr>
          <p:cNvSpPr txBox="1"/>
          <p:nvPr/>
        </p:nvSpPr>
        <p:spPr>
          <a:xfrm>
            <a:off x="8632147" y="2769251"/>
            <a:ext cx="744819" cy="276999"/>
          </a:xfrm>
          <a:prstGeom prst="rect">
            <a:avLst/>
          </a:prstGeom>
          <a:noFill/>
        </p:spPr>
        <p:txBody>
          <a:bodyPr wrap="none" rtlCol="0">
            <a:spAutoFit/>
          </a:bodyPr>
          <a:lstStyle/>
          <a:p>
            <a:r>
              <a:rPr lang="en-US" sz="1200" b="1" dirty="0"/>
              <a:t>Evaluate</a:t>
            </a:r>
          </a:p>
        </p:txBody>
      </p:sp>
      <p:sp>
        <p:nvSpPr>
          <p:cNvPr id="57" name="TextBox 56">
            <a:extLst>
              <a:ext uri="{FF2B5EF4-FFF2-40B4-BE49-F238E27FC236}">
                <a16:creationId xmlns:a16="http://schemas.microsoft.com/office/drawing/2014/main" id="{F5D76C84-E85C-E344-84EE-7B2BDC35B28D}"/>
              </a:ext>
            </a:extLst>
          </p:cNvPr>
          <p:cNvSpPr txBox="1"/>
          <p:nvPr/>
        </p:nvSpPr>
        <p:spPr>
          <a:xfrm>
            <a:off x="9480551" y="2726061"/>
            <a:ext cx="2245163" cy="584775"/>
          </a:xfrm>
          <a:prstGeom prst="rect">
            <a:avLst/>
          </a:prstGeom>
          <a:noFill/>
        </p:spPr>
        <p:txBody>
          <a:bodyPr wrap="square" rtlCol="0">
            <a:spAutoFit/>
          </a:bodyPr>
          <a:lstStyle/>
          <a:p>
            <a:pPr algn="ctr"/>
            <a:r>
              <a:rPr lang="en-US" sz="1600" b="1" dirty="0">
                <a:solidFill>
                  <a:srgbClr val="FF0000"/>
                </a:solidFill>
              </a:rPr>
              <a:t>Base + Cosine similarity performance</a:t>
            </a:r>
          </a:p>
        </p:txBody>
      </p:sp>
      <p:sp>
        <p:nvSpPr>
          <p:cNvPr id="58" name="Rectangle 57">
            <a:extLst>
              <a:ext uri="{FF2B5EF4-FFF2-40B4-BE49-F238E27FC236}">
                <a16:creationId xmlns:a16="http://schemas.microsoft.com/office/drawing/2014/main" id="{450943B3-DFB3-BA42-877E-A6379E1BA74A}"/>
              </a:ext>
            </a:extLst>
          </p:cNvPr>
          <p:cNvSpPr/>
          <p:nvPr/>
        </p:nvSpPr>
        <p:spPr>
          <a:xfrm>
            <a:off x="4902813" y="4296364"/>
            <a:ext cx="2386373"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 </a:t>
            </a:r>
            <a:r>
              <a:rPr lang="en-US" sz="1400" dirty="0">
                <a:solidFill>
                  <a:sysClr val="windowText" lastClr="000000"/>
                </a:solidFill>
              </a:rPr>
              <a:t>(regex matching)</a:t>
            </a:r>
          </a:p>
        </p:txBody>
      </p:sp>
      <p:sp>
        <p:nvSpPr>
          <p:cNvPr id="59" name="Rectangle 58">
            <a:extLst>
              <a:ext uri="{FF2B5EF4-FFF2-40B4-BE49-F238E27FC236}">
                <a16:creationId xmlns:a16="http://schemas.microsoft.com/office/drawing/2014/main" id="{6F81326B-D95D-1543-9C74-6CB332747FDC}"/>
              </a:ext>
            </a:extLst>
          </p:cNvPr>
          <p:cNvSpPr/>
          <p:nvPr/>
        </p:nvSpPr>
        <p:spPr>
          <a:xfrm>
            <a:off x="1189793" y="4140600"/>
            <a:ext cx="2362396"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Additional databases </a:t>
            </a:r>
          </a:p>
          <a:p>
            <a:pPr algn="ctr"/>
            <a:r>
              <a:rPr lang="en-US" sz="1400" dirty="0">
                <a:solidFill>
                  <a:sysClr val="windowText" lastClr="000000"/>
                </a:solidFill>
              </a:rPr>
              <a:t>(FAERS, CVP)</a:t>
            </a:r>
          </a:p>
        </p:txBody>
      </p:sp>
      <p:sp>
        <p:nvSpPr>
          <p:cNvPr id="60" name="TextBox 59">
            <a:extLst>
              <a:ext uri="{FF2B5EF4-FFF2-40B4-BE49-F238E27FC236}">
                <a16:creationId xmlns:a16="http://schemas.microsoft.com/office/drawing/2014/main" id="{C39457C6-693A-734E-BDA8-296F33559E0F}"/>
              </a:ext>
            </a:extLst>
          </p:cNvPr>
          <p:cNvSpPr txBox="1"/>
          <p:nvPr/>
        </p:nvSpPr>
        <p:spPr>
          <a:xfrm>
            <a:off x="1501850" y="5368829"/>
            <a:ext cx="755335" cy="369332"/>
          </a:xfrm>
          <a:prstGeom prst="rect">
            <a:avLst/>
          </a:prstGeom>
          <a:noFill/>
        </p:spPr>
        <p:txBody>
          <a:bodyPr wrap="none" rtlCol="0">
            <a:spAutoFit/>
          </a:bodyPr>
          <a:lstStyle/>
          <a:p>
            <a:r>
              <a:rPr lang="en-US" dirty="0"/>
              <a:t>Drugs</a:t>
            </a:r>
          </a:p>
        </p:txBody>
      </p:sp>
      <p:sp>
        <p:nvSpPr>
          <p:cNvPr id="61" name="TextBox 60">
            <a:extLst>
              <a:ext uri="{FF2B5EF4-FFF2-40B4-BE49-F238E27FC236}">
                <a16:creationId xmlns:a16="http://schemas.microsoft.com/office/drawing/2014/main" id="{0A99AF4C-F498-1648-AF06-0972D815BE26}"/>
              </a:ext>
            </a:extLst>
          </p:cNvPr>
          <p:cNvSpPr txBox="1"/>
          <p:nvPr/>
        </p:nvSpPr>
        <p:spPr>
          <a:xfrm>
            <a:off x="2360291" y="5368829"/>
            <a:ext cx="705642" cy="369332"/>
          </a:xfrm>
          <a:prstGeom prst="rect">
            <a:avLst/>
          </a:prstGeom>
          <a:noFill/>
        </p:spPr>
        <p:txBody>
          <a:bodyPr wrap="none" rtlCol="0">
            <a:spAutoFit/>
          </a:bodyPr>
          <a:lstStyle/>
          <a:p>
            <a:r>
              <a:rPr lang="en-US" dirty="0"/>
              <a:t>ADRs</a:t>
            </a:r>
          </a:p>
        </p:txBody>
      </p:sp>
      <p:cxnSp>
        <p:nvCxnSpPr>
          <p:cNvPr id="62" name="Straight Arrow Connector 61">
            <a:extLst>
              <a:ext uri="{FF2B5EF4-FFF2-40B4-BE49-F238E27FC236}">
                <a16:creationId xmlns:a16="http://schemas.microsoft.com/office/drawing/2014/main" id="{818A1917-21C7-044C-90E2-12669A5211D2}"/>
              </a:ext>
            </a:extLst>
          </p:cNvPr>
          <p:cNvCxnSpPr/>
          <p:nvPr/>
        </p:nvCxnSpPr>
        <p:spPr>
          <a:xfrm>
            <a:off x="1905911" y="4878506"/>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BA31A70D-35BE-2B49-83B1-37E68F3C1460}"/>
              </a:ext>
            </a:extLst>
          </p:cNvPr>
          <p:cNvCxnSpPr/>
          <p:nvPr/>
        </p:nvCxnSpPr>
        <p:spPr>
          <a:xfrm>
            <a:off x="2711449" y="4878505"/>
            <a:ext cx="0" cy="391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F9F661CE-2F30-EC42-BAA7-1A2B588E7B97}"/>
              </a:ext>
            </a:extLst>
          </p:cNvPr>
          <p:cNvSpPr txBox="1"/>
          <p:nvPr/>
        </p:nvSpPr>
        <p:spPr>
          <a:xfrm>
            <a:off x="2711449" y="4843317"/>
            <a:ext cx="1088300" cy="461665"/>
          </a:xfrm>
          <a:prstGeom prst="rect">
            <a:avLst/>
          </a:prstGeom>
          <a:noFill/>
        </p:spPr>
        <p:txBody>
          <a:bodyPr wrap="square" rtlCol="0">
            <a:spAutoFit/>
          </a:bodyPr>
          <a:lstStyle/>
          <a:p>
            <a:r>
              <a:rPr lang="en-US" sz="1200" b="1" dirty="0"/>
              <a:t>Compile from last 10 yrs</a:t>
            </a:r>
          </a:p>
        </p:txBody>
      </p:sp>
      <p:cxnSp>
        <p:nvCxnSpPr>
          <p:cNvPr id="66" name="Straight Arrow Connector 65">
            <a:extLst>
              <a:ext uri="{FF2B5EF4-FFF2-40B4-BE49-F238E27FC236}">
                <a16:creationId xmlns:a16="http://schemas.microsoft.com/office/drawing/2014/main" id="{FAD8F7FB-5BDB-BB48-A84B-9B54E5537E1C}"/>
              </a:ext>
            </a:extLst>
          </p:cNvPr>
          <p:cNvCxnSpPr>
            <a:cxnSpLocks/>
          </p:cNvCxnSpPr>
          <p:nvPr/>
        </p:nvCxnSpPr>
        <p:spPr>
          <a:xfrm>
            <a:off x="7395882" y="4625445"/>
            <a:ext cx="2084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704927B6-A190-DB46-BABE-2E25B463FEE9}"/>
              </a:ext>
            </a:extLst>
          </p:cNvPr>
          <p:cNvCxnSpPr>
            <a:cxnSpLocks/>
          </p:cNvCxnSpPr>
          <p:nvPr/>
        </p:nvCxnSpPr>
        <p:spPr>
          <a:xfrm>
            <a:off x="8237646" y="1667435"/>
            <a:ext cx="0" cy="2958010"/>
          </a:xfrm>
          <a:prstGeom prst="line">
            <a:avLst/>
          </a:prstGeom>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9A95D2A0-4A53-9245-8555-EDC60737FA4B}"/>
              </a:ext>
            </a:extLst>
          </p:cNvPr>
          <p:cNvSpPr txBox="1"/>
          <p:nvPr/>
        </p:nvSpPr>
        <p:spPr>
          <a:xfrm>
            <a:off x="8556063" y="4333130"/>
            <a:ext cx="744819" cy="276999"/>
          </a:xfrm>
          <a:prstGeom prst="rect">
            <a:avLst/>
          </a:prstGeom>
          <a:noFill/>
        </p:spPr>
        <p:txBody>
          <a:bodyPr wrap="none" rtlCol="0">
            <a:spAutoFit/>
          </a:bodyPr>
          <a:lstStyle/>
          <a:p>
            <a:r>
              <a:rPr lang="en-US" sz="1200" b="1" dirty="0"/>
              <a:t>Evaluate</a:t>
            </a:r>
          </a:p>
        </p:txBody>
      </p:sp>
      <p:cxnSp>
        <p:nvCxnSpPr>
          <p:cNvPr id="72" name="Straight Arrow Connector 71">
            <a:extLst>
              <a:ext uri="{FF2B5EF4-FFF2-40B4-BE49-F238E27FC236}">
                <a16:creationId xmlns:a16="http://schemas.microsoft.com/office/drawing/2014/main" id="{23120EE9-46BA-4F4D-BE02-8632D51C2D2C}"/>
              </a:ext>
            </a:extLst>
          </p:cNvPr>
          <p:cNvCxnSpPr>
            <a:cxnSpLocks/>
          </p:cNvCxnSpPr>
          <p:nvPr/>
        </p:nvCxnSpPr>
        <p:spPr>
          <a:xfrm>
            <a:off x="3854823" y="4562438"/>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EF71CB0D-B8B2-7847-B8FB-86E45FE7AF07}"/>
              </a:ext>
            </a:extLst>
          </p:cNvPr>
          <p:cNvCxnSpPr>
            <a:cxnSpLocks/>
          </p:cNvCxnSpPr>
          <p:nvPr/>
        </p:nvCxnSpPr>
        <p:spPr>
          <a:xfrm>
            <a:off x="3863788" y="4665985"/>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A9CD059A-2E55-B944-A6D9-77E68A82D2E1}"/>
              </a:ext>
            </a:extLst>
          </p:cNvPr>
          <p:cNvCxnSpPr>
            <a:cxnSpLocks/>
          </p:cNvCxnSpPr>
          <p:nvPr/>
        </p:nvCxnSpPr>
        <p:spPr>
          <a:xfrm>
            <a:off x="3863788" y="4777590"/>
            <a:ext cx="932329" cy="0"/>
          </a:xfrm>
          <a:prstGeom prst="straightConnector1">
            <a:avLst/>
          </a:prstGeom>
          <a:ln>
            <a:solidFill>
              <a:schemeClr val="tx1"/>
            </a:solidFill>
            <a:prstDash val="dash"/>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D5803B9B-D0EE-A64D-9E54-517EA6FEED4C}"/>
              </a:ext>
            </a:extLst>
          </p:cNvPr>
          <p:cNvSpPr txBox="1"/>
          <p:nvPr/>
        </p:nvSpPr>
        <p:spPr>
          <a:xfrm>
            <a:off x="3856052" y="4285439"/>
            <a:ext cx="929870" cy="276999"/>
          </a:xfrm>
          <a:prstGeom prst="rect">
            <a:avLst/>
          </a:prstGeom>
          <a:noFill/>
        </p:spPr>
        <p:txBody>
          <a:bodyPr wrap="none" rtlCol="0">
            <a:spAutoFit/>
          </a:bodyPr>
          <a:lstStyle/>
          <a:p>
            <a:r>
              <a:rPr lang="en-US" sz="1200" b="1" dirty="0"/>
              <a:t>Incorporate</a:t>
            </a:r>
          </a:p>
        </p:txBody>
      </p:sp>
      <p:sp>
        <p:nvSpPr>
          <p:cNvPr id="76" name="TextBox 75">
            <a:extLst>
              <a:ext uri="{FF2B5EF4-FFF2-40B4-BE49-F238E27FC236}">
                <a16:creationId xmlns:a16="http://schemas.microsoft.com/office/drawing/2014/main" id="{64F7DAE7-CBEA-BE47-9A8D-12E186B02FDA}"/>
              </a:ext>
            </a:extLst>
          </p:cNvPr>
          <p:cNvSpPr txBox="1"/>
          <p:nvPr/>
        </p:nvSpPr>
        <p:spPr>
          <a:xfrm>
            <a:off x="9546283" y="4297680"/>
            <a:ext cx="2245163" cy="584775"/>
          </a:xfrm>
          <a:prstGeom prst="rect">
            <a:avLst/>
          </a:prstGeom>
          <a:noFill/>
        </p:spPr>
        <p:txBody>
          <a:bodyPr wrap="square" rtlCol="0">
            <a:spAutoFit/>
          </a:bodyPr>
          <a:lstStyle/>
          <a:p>
            <a:pPr algn="ctr"/>
            <a:r>
              <a:rPr lang="en-US" sz="1600" b="1" dirty="0">
                <a:solidFill>
                  <a:srgbClr val="FF0000"/>
                </a:solidFill>
              </a:rPr>
              <a:t>Base + Dependency parsing performance</a:t>
            </a:r>
          </a:p>
        </p:txBody>
      </p:sp>
      <p:sp>
        <p:nvSpPr>
          <p:cNvPr id="82" name="TextBox 81">
            <a:extLst>
              <a:ext uri="{FF2B5EF4-FFF2-40B4-BE49-F238E27FC236}">
                <a16:creationId xmlns:a16="http://schemas.microsoft.com/office/drawing/2014/main" id="{C52BED4B-C26A-3C47-AFB0-84E90FAA1091}"/>
              </a:ext>
            </a:extLst>
          </p:cNvPr>
          <p:cNvSpPr txBox="1"/>
          <p:nvPr/>
        </p:nvSpPr>
        <p:spPr>
          <a:xfrm>
            <a:off x="9520517" y="5447857"/>
            <a:ext cx="2245163" cy="830997"/>
          </a:xfrm>
          <a:prstGeom prst="rect">
            <a:avLst/>
          </a:prstGeom>
          <a:noFill/>
        </p:spPr>
        <p:txBody>
          <a:bodyPr wrap="square" rtlCol="0">
            <a:spAutoFit/>
          </a:bodyPr>
          <a:lstStyle/>
          <a:p>
            <a:pPr algn="ctr"/>
            <a:r>
              <a:rPr lang="en-US" sz="1600" b="1" dirty="0">
                <a:solidFill>
                  <a:srgbClr val="FF0000"/>
                </a:solidFill>
              </a:rPr>
              <a:t>Base + Cosine similarity + Dependency parsing performance</a:t>
            </a:r>
          </a:p>
        </p:txBody>
      </p:sp>
      <p:cxnSp>
        <p:nvCxnSpPr>
          <p:cNvPr id="84" name="Straight Connector 83">
            <a:extLst>
              <a:ext uri="{FF2B5EF4-FFF2-40B4-BE49-F238E27FC236}">
                <a16:creationId xmlns:a16="http://schemas.microsoft.com/office/drawing/2014/main" id="{DA24366F-B4BE-D34F-A163-7041468848E0}"/>
              </a:ext>
            </a:extLst>
          </p:cNvPr>
          <p:cNvCxnSpPr/>
          <p:nvPr/>
        </p:nvCxnSpPr>
        <p:spPr>
          <a:xfrm>
            <a:off x="7799294" y="1647756"/>
            <a:ext cx="0" cy="4215599"/>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9C191FEA-E1A7-1842-902D-C5A1AE8D52D0}"/>
              </a:ext>
            </a:extLst>
          </p:cNvPr>
          <p:cNvCxnSpPr/>
          <p:nvPr/>
        </p:nvCxnSpPr>
        <p:spPr>
          <a:xfrm>
            <a:off x="7817224" y="5863355"/>
            <a:ext cx="15329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08B99629-3D24-2C40-B015-D627EEAE0A4A}"/>
              </a:ext>
            </a:extLst>
          </p:cNvPr>
          <p:cNvSpPr txBox="1"/>
          <p:nvPr/>
        </p:nvSpPr>
        <p:spPr>
          <a:xfrm>
            <a:off x="8553907" y="5586356"/>
            <a:ext cx="744819" cy="276999"/>
          </a:xfrm>
          <a:prstGeom prst="rect">
            <a:avLst/>
          </a:prstGeom>
          <a:noFill/>
        </p:spPr>
        <p:txBody>
          <a:bodyPr wrap="none" rtlCol="0">
            <a:spAutoFit/>
          </a:bodyPr>
          <a:lstStyle/>
          <a:p>
            <a:r>
              <a:rPr lang="en-US" sz="1200" b="1" dirty="0"/>
              <a:t>Evaluate</a:t>
            </a:r>
          </a:p>
        </p:txBody>
      </p:sp>
    </p:spTree>
    <p:extLst>
      <p:ext uri="{BB962C8B-B14F-4D97-AF65-F5344CB8AC3E}">
        <p14:creationId xmlns:p14="http://schemas.microsoft.com/office/powerpoint/2010/main" val="2579368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DB4D03-9F92-C446-ADF2-407241ADB2CC}"/>
              </a:ext>
            </a:extLst>
          </p:cNvPr>
          <p:cNvSpPr/>
          <p:nvPr/>
        </p:nvSpPr>
        <p:spPr>
          <a:xfrm>
            <a:off x="5141258" y="641195"/>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cxnSp>
        <p:nvCxnSpPr>
          <p:cNvPr id="26" name="Elbow Connector 25">
            <a:extLst>
              <a:ext uri="{FF2B5EF4-FFF2-40B4-BE49-F238E27FC236}">
                <a16:creationId xmlns:a16="http://schemas.microsoft.com/office/drawing/2014/main" id="{867FA861-99DC-B342-A25C-B88005CFAB6D}"/>
              </a:ext>
            </a:extLst>
          </p:cNvPr>
          <p:cNvCxnSpPr>
            <a:cxnSpLocks/>
          </p:cNvCxnSpPr>
          <p:nvPr/>
        </p:nvCxnSpPr>
        <p:spPr>
          <a:xfrm rot="10800000" flipV="1">
            <a:off x="3550023" y="1667433"/>
            <a:ext cx="2734236" cy="2111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F52CCD06-3D1C-8849-AB1F-1136BC29A682}"/>
              </a:ext>
            </a:extLst>
          </p:cNvPr>
          <p:cNvCxnSpPr>
            <a:cxnSpLocks/>
          </p:cNvCxnSpPr>
          <p:nvPr/>
        </p:nvCxnSpPr>
        <p:spPr>
          <a:xfrm>
            <a:off x="6284259" y="1667433"/>
            <a:ext cx="2525807" cy="1931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D83F47B-C612-2848-8529-2209EA70E3EB}"/>
              </a:ext>
            </a:extLst>
          </p:cNvPr>
          <p:cNvCxnSpPr>
            <a:stCxn id="4" idx="2"/>
          </p:cNvCxnSpPr>
          <p:nvPr/>
        </p:nvCxnSpPr>
        <p:spPr>
          <a:xfrm flipH="1">
            <a:off x="6033246" y="1268725"/>
            <a:ext cx="1" cy="398707"/>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C8095EE7-4E54-B748-97CC-3E9568A5BBC4}"/>
              </a:ext>
            </a:extLst>
          </p:cNvPr>
          <p:cNvSpPr txBox="1"/>
          <p:nvPr/>
        </p:nvSpPr>
        <p:spPr>
          <a:xfrm>
            <a:off x="6043090" y="1359654"/>
            <a:ext cx="1818959" cy="307777"/>
          </a:xfrm>
          <a:prstGeom prst="rect">
            <a:avLst/>
          </a:prstGeom>
          <a:noFill/>
        </p:spPr>
        <p:txBody>
          <a:bodyPr wrap="none" rtlCol="0">
            <a:spAutoFit/>
          </a:bodyPr>
          <a:lstStyle/>
          <a:p>
            <a:r>
              <a:rPr lang="en-US" sz="1400" b="1" dirty="0"/>
              <a:t>Make base prediction</a:t>
            </a:r>
          </a:p>
        </p:txBody>
      </p:sp>
    </p:spTree>
    <p:extLst>
      <p:ext uri="{BB962C8B-B14F-4D97-AF65-F5344CB8AC3E}">
        <p14:creationId xmlns:p14="http://schemas.microsoft.com/office/powerpoint/2010/main" val="1196401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DB4D03-9F92-C446-ADF2-407241ADB2CC}"/>
              </a:ext>
            </a:extLst>
          </p:cNvPr>
          <p:cNvSpPr/>
          <p:nvPr/>
        </p:nvSpPr>
        <p:spPr>
          <a:xfrm>
            <a:off x="5141258" y="641195"/>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sp>
        <p:nvSpPr>
          <p:cNvPr id="15" name="Rectangle 14">
            <a:extLst>
              <a:ext uri="{FF2B5EF4-FFF2-40B4-BE49-F238E27FC236}">
                <a16:creationId xmlns:a16="http://schemas.microsoft.com/office/drawing/2014/main" id="{BD06C2C5-70E8-9042-83B7-BF33D8AC2E6E}"/>
              </a:ext>
            </a:extLst>
          </p:cNvPr>
          <p:cNvSpPr/>
          <p:nvPr/>
        </p:nvSpPr>
        <p:spPr>
          <a:xfrm>
            <a:off x="2424952" y="1878559"/>
            <a:ext cx="2250141"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No predictions for either drug, ADR</a:t>
            </a:r>
          </a:p>
        </p:txBody>
      </p:sp>
      <p:sp>
        <p:nvSpPr>
          <p:cNvPr id="17" name="Rectangle 16">
            <a:extLst>
              <a:ext uri="{FF2B5EF4-FFF2-40B4-BE49-F238E27FC236}">
                <a16:creationId xmlns:a16="http://schemas.microsoft.com/office/drawing/2014/main" id="{4B4CE3C2-CE17-6840-8B0E-F606D56797A0}"/>
              </a:ext>
            </a:extLst>
          </p:cNvPr>
          <p:cNvSpPr/>
          <p:nvPr/>
        </p:nvSpPr>
        <p:spPr>
          <a:xfrm>
            <a:off x="7821708" y="1860630"/>
            <a:ext cx="1976716" cy="604665"/>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for both drug, ADR</a:t>
            </a:r>
          </a:p>
        </p:txBody>
      </p:sp>
      <p:cxnSp>
        <p:nvCxnSpPr>
          <p:cNvPr id="26" name="Elbow Connector 25">
            <a:extLst>
              <a:ext uri="{FF2B5EF4-FFF2-40B4-BE49-F238E27FC236}">
                <a16:creationId xmlns:a16="http://schemas.microsoft.com/office/drawing/2014/main" id="{867FA861-99DC-B342-A25C-B88005CFAB6D}"/>
              </a:ext>
            </a:extLst>
          </p:cNvPr>
          <p:cNvCxnSpPr>
            <a:cxnSpLocks/>
            <a:endCxn id="15" idx="0"/>
          </p:cNvCxnSpPr>
          <p:nvPr/>
        </p:nvCxnSpPr>
        <p:spPr>
          <a:xfrm rot="10800000" flipV="1">
            <a:off x="3550023" y="1667433"/>
            <a:ext cx="2734236" cy="2111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F52CCD06-3D1C-8849-AB1F-1136BC29A682}"/>
              </a:ext>
            </a:extLst>
          </p:cNvPr>
          <p:cNvCxnSpPr>
            <a:cxnSpLocks/>
            <a:endCxn id="17" idx="0"/>
          </p:cNvCxnSpPr>
          <p:nvPr/>
        </p:nvCxnSpPr>
        <p:spPr>
          <a:xfrm>
            <a:off x="6284259" y="1667433"/>
            <a:ext cx="2525807" cy="1931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D83F47B-C612-2848-8529-2209EA70E3EB}"/>
              </a:ext>
            </a:extLst>
          </p:cNvPr>
          <p:cNvCxnSpPr>
            <a:stCxn id="4" idx="2"/>
          </p:cNvCxnSpPr>
          <p:nvPr/>
        </p:nvCxnSpPr>
        <p:spPr>
          <a:xfrm flipH="1">
            <a:off x="6033246" y="1268725"/>
            <a:ext cx="1" cy="398707"/>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C8095EE7-4E54-B748-97CC-3E9568A5BBC4}"/>
              </a:ext>
            </a:extLst>
          </p:cNvPr>
          <p:cNvSpPr txBox="1"/>
          <p:nvPr/>
        </p:nvSpPr>
        <p:spPr>
          <a:xfrm>
            <a:off x="6043090" y="1359654"/>
            <a:ext cx="1818959" cy="307777"/>
          </a:xfrm>
          <a:prstGeom prst="rect">
            <a:avLst/>
          </a:prstGeom>
          <a:noFill/>
        </p:spPr>
        <p:txBody>
          <a:bodyPr wrap="none" rtlCol="0">
            <a:spAutoFit/>
          </a:bodyPr>
          <a:lstStyle/>
          <a:p>
            <a:r>
              <a:rPr lang="en-US" sz="1400" b="1" dirty="0"/>
              <a:t>Make base prediction</a:t>
            </a:r>
          </a:p>
        </p:txBody>
      </p:sp>
    </p:spTree>
    <p:extLst>
      <p:ext uri="{BB962C8B-B14F-4D97-AF65-F5344CB8AC3E}">
        <p14:creationId xmlns:p14="http://schemas.microsoft.com/office/powerpoint/2010/main" val="3427247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DB4D03-9F92-C446-ADF2-407241ADB2CC}"/>
              </a:ext>
            </a:extLst>
          </p:cNvPr>
          <p:cNvSpPr/>
          <p:nvPr/>
        </p:nvSpPr>
        <p:spPr>
          <a:xfrm>
            <a:off x="5141258" y="641195"/>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sp>
        <p:nvSpPr>
          <p:cNvPr id="15" name="Rectangle 14">
            <a:extLst>
              <a:ext uri="{FF2B5EF4-FFF2-40B4-BE49-F238E27FC236}">
                <a16:creationId xmlns:a16="http://schemas.microsoft.com/office/drawing/2014/main" id="{BD06C2C5-70E8-9042-83B7-BF33D8AC2E6E}"/>
              </a:ext>
            </a:extLst>
          </p:cNvPr>
          <p:cNvSpPr/>
          <p:nvPr/>
        </p:nvSpPr>
        <p:spPr>
          <a:xfrm>
            <a:off x="2424952" y="1878559"/>
            <a:ext cx="2250141"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No predictions for either drug, ADR</a:t>
            </a:r>
          </a:p>
        </p:txBody>
      </p:sp>
      <p:sp>
        <p:nvSpPr>
          <p:cNvPr id="16" name="Rectangle 15">
            <a:extLst>
              <a:ext uri="{FF2B5EF4-FFF2-40B4-BE49-F238E27FC236}">
                <a16:creationId xmlns:a16="http://schemas.microsoft.com/office/drawing/2014/main" id="{6F879C43-652B-F140-B97F-7B5A76D43946}"/>
              </a:ext>
            </a:extLst>
          </p:cNvPr>
          <p:cNvSpPr/>
          <p:nvPr/>
        </p:nvSpPr>
        <p:spPr>
          <a:xfrm>
            <a:off x="2651310" y="3397912"/>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a:t>
            </a:r>
          </a:p>
        </p:txBody>
      </p:sp>
      <p:sp>
        <p:nvSpPr>
          <p:cNvPr id="17" name="Rectangle 16">
            <a:extLst>
              <a:ext uri="{FF2B5EF4-FFF2-40B4-BE49-F238E27FC236}">
                <a16:creationId xmlns:a16="http://schemas.microsoft.com/office/drawing/2014/main" id="{4B4CE3C2-CE17-6840-8B0E-F606D56797A0}"/>
              </a:ext>
            </a:extLst>
          </p:cNvPr>
          <p:cNvSpPr/>
          <p:nvPr/>
        </p:nvSpPr>
        <p:spPr>
          <a:xfrm>
            <a:off x="7821708" y="1860630"/>
            <a:ext cx="1976716" cy="604665"/>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for both drug, ADR</a:t>
            </a:r>
          </a:p>
        </p:txBody>
      </p:sp>
      <p:cxnSp>
        <p:nvCxnSpPr>
          <p:cNvPr id="26" name="Elbow Connector 25">
            <a:extLst>
              <a:ext uri="{FF2B5EF4-FFF2-40B4-BE49-F238E27FC236}">
                <a16:creationId xmlns:a16="http://schemas.microsoft.com/office/drawing/2014/main" id="{867FA861-99DC-B342-A25C-B88005CFAB6D}"/>
              </a:ext>
            </a:extLst>
          </p:cNvPr>
          <p:cNvCxnSpPr>
            <a:cxnSpLocks/>
            <a:endCxn id="15" idx="0"/>
          </p:cNvCxnSpPr>
          <p:nvPr/>
        </p:nvCxnSpPr>
        <p:spPr>
          <a:xfrm rot="10800000" flipV="1">
            <a:off x="3550023" y="1667433"/>
            <a:ext cx="2734236" cy="2111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F52CCD06-3D1C-8849-AB1F-1136BC29A682}"/>
              </a:ext>
            </a:extLst>
          </p:cNvPr>
          <p:cNvCxnSpPr>
            <a:cxnSpLocks/>
            <a:endCxn id="17" idx="0"/>
          </p:cNvCxnSpPr>
          <p:nvPr/>
        </p:nvCxnSpPr>
        <p:spPr>
          <a:xfrm>
            <a:off x="6284259" y="1667433"/>
            <a:ext cx="2525807" cy="1931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D83F47B-C612-2848-8529-2209EA70E3EB}"/>
              </a:ext>
            </a:extLst>
          </p:cNvPr>
          <p:cNvCxnSpPr>
            <a:stCxn id="4" idx="2"/>
          </p:cNvCxnSpPr>
          <p:nvPr/>
        </p:nvCxnSpPr>
        <p:spPr>
          <a:xfrm flipH="1">
            <a:off x="6033246" y="1268725"/>
            <a:ext cx="1" cy="398707"/>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C8095EE7-4E54-B748-97CC-3E9568A5BBC4}"/>
              </a:ext>
            </a:extLst>
          </p:cNvPr>
          <p:cNvSpPr txBox="1"/>
          <p:nvPr/>
        </p:nvSpPr>
        <p:spPr>
          <a:xfrm>
            <a:off x="6043090" y="1359654"/>
            <a:ext cx="1818959" cy="307777"/>
          </a:xfrm>
          <a:prstGeom prst="rect">
            <a:avLst/>
          </a:prstGeom>
          <a:noFill/>
        </p:spPr>
        <p:txBody>
          <a:bodyPr wrap="none" rtlCol="0">
            <a:spAutoFit/>
          </a:bodyPr>
          <a:lstStyle/>
          <a:p>
            <a:r>
              <a:rPr lang="en-US" sz="1400" b="1" dirty="0"/>
              <a:t>Make base prediction</a:t>
            </a:r>
          </a:p>
        </p:txBody>
      </p:sp>
      <p:cxnSp>
        <p:nvCxnSpPr>
          <p:cNvPr id="36" name="Straight Arrow Connector 35">
            <a:extLst>
              <a:ext uri="{FF2B5EF4-FFF2-40B4-BE49-F238E27FC236}">
                <a16:creationId xmlns:a16="http://schemas.microsoft.com/office/drawing/2014/main" id="{EC1C6DE6-8407-BC44-A89D-3E39100D2802}"/>
              </a:ext>
            </a:extLst>
          </p:cNvPr>
          <p:cNvCxnSpPr>
            <a:cxnSpLocks/>
          </p:cNvCxnSpPr>
          <p:nvPr/>
        </p:nvCxnSpPr>
        <p:spPr>
          <a:xfrm>
            <a:off x="3550022" y="2635624"/>
            <a:ext cx="0" cy="681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1D94B6A-CE35-8646-8A9D-83044B372721}"/>
              </a:ext>
            </a:extLst>
          </p:cNvPr>
          <p:cNvSpPr txBox="1"/>
          <p:nvPr/>
        </p:nvSpPr>
        <p:spPr>
          <a:xfrm>
            <a:off x="3588560" y="2712586"/>
            <a:ext cx="1484341" cy="523220"/>
          </a:xfrm>
          <a:prstGeom prst="rect">
            <a:avLst/>
          </a:prstGeom>
          <a:noFill/>
        </p:spPr>
        <p:txBody>
          <a:bodyPr wrap="square" rtlCol="0">
            <a:spAutoFit/>
          </a:bodyPr>
          <a:lstStyle/>
          <a:p>
            <a:r>
              <a:rPr lang="en-US" sz="1400" b="1" dirty="0"/>
              <a:t>Make additional prediction</a:t>
            </a:r>
          </a:p>
        </p:txBody>
      </p:sp>
      <p:cxnSp>
        <p:nvCxnSpPr>
          <p:cNvPr id="41" name="Elbow Connector 40">
            <a:extLst>
              <a:ext uri="{FF2B5EF4-FFF2-40B4-BE49-F238E27FC236}">
                <a16:creationId xmlns:a16="http://schemas.microsoft.com/office/drawing/2014/main" id="{11BBAC6B-4CB2-F746-8438-D79B94AA0027}"/>
              </a:ext>
            </a:extLst>
          </p:cNvPr>
          <p:cNvCxnSpPr>
            <a:cxnSpLocks/>
          </p:cNvCxnSpPr>
          <p:nvPr/>
        </p:nvCxnSpPr>
        <p:spPr>
          <a:xfrm rot="10800000" flipV="1">
            <a:off x="7534838" y="3916077"/>
            <a:ext cx="1602440" cy="3661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Elbow Connector 41">
            <a:extLst>
              <a:ext uri="{FF2B5EF4-FFF2-40B4-BE49-F238E27FC236}">
                <a16:creationId xmlns:a16="http://schemas.microsoft.com/office/drawing/2014/main" id="{A5D8E6F3-CB08-8B48-9D99-4D201380977B}"/>
              </a:ext>
            </a:extLst>
          </p:cNvPr>
          <p:cNvCxnSpPr>
            <a:cxnSpLocks/>
          </p:cNvCxnSpPr>
          <p:nvPr/>
        </p:nvCxnSpPr>
        <p:spPr>
          <a:xfrm>
            <a:off x="9137278" y="3916078"/>
            <a:ext cx="1169895" cy="3576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B1D2DEC0-97EE-D04B-8937-5166FB310B9F}"/>
              </a:ext>
            </a:extLst>
          </p:cNvPr>
          <p:cNvCxnSpPr/>
          <p:nvPr/>
        </p:nvCxnSpPr>
        <p:spPr>
          <a:xfrm flipH="1">
            <a:off x="8825756" y="3527784"/>
            <a:ext cx="1" cy="398707"/>
          </a:xfrm>
          <a:prstGeom prst="line">
            <a:avLst/>
          </a:prstGeom>
        </p:spPr>
        <p:style>
          <a:lnRef idx="1">
            <a:schemeClr val="dk1"/>
          </a:lnRef>
          <a:fillRef idx="0">
            <a:schemeClr val="dk1"/>
          </a:fillRef>
          <a:effectRef idx="0">
            <a:schemeClr val="dk1"/>
          </a:effectRef>
          <a:fontRef idx="minor">
            <a:schemeClr val="tx1"/>
          </a:fontRef>
        </p:style>
      </p:cxnSp>
      <p:sp>
        <p:nvSpPr>
          <p:cNvPr id="46" name="Rectangle 45">
            <a:extLst>
              <a:ext uri="{FF2B5EF4-FFF2-40B4-BE49-F238E27FC236}">
                <a16:creationId xmlns:a16="http://schemas.microsoft.com/office/drawing/2014/main" id="{EEF9CD6E-55DC-FF47-AF46-89B1A2017FB0}"/>
              </a:ext>
            </a:extLst>
          </p:cNvPr>
          <p:cNvSpPr/>
          <p:nvPr/>
        </p:nvSpPr>
        <p:spPr>
          <a:xfrm>
            <a:off x="7765681" y="3139207"/>
            <a:ext cx="1976714" cy="398707"/>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a:t>
            </a:r>
          </a:p>
        </p:txBody>
      </p:sp>
      <p:cxnSp>
        <p:nvCxnSpPr>
          <p:cNvPr id="47" name="Straight Arrow Connector 46">
            <a:extLst>
              <a:ext uri="{FF2B5EF4-FFF2-40B4-BE49-F238E27FC236}">
                <a16:creationId xmlns:a16="http://schemas.microsoft.com/office/drawing/2014/main" id="{DD511155-9D95-644A-9A7A-FC919E2EB2A2}"/>
              </a:ext>
            </a:extLst>
          </p:cNvPr>
          <p:cNvCxnSpPr>
            <a:cxnSpLocks/>
          </p:cNvCxnSpPr>
          <p:nvPr/>
        </p:nvCxnSpPr>
        <p:spPr>
          <a:xfrm>
            <a:off x="8825756" y="2537012"/>
            <a:ext cx="0" cy="519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E144569C-1DA5-0549-90C0-B7F32E0B2FF0}"/>
              </a:ext>
            </a:extLst>
          </p:cNvPr>
          <p:cNvSpPr txBox="1"/>
          <p:nvPr/>
        </p:nvSpPr>
        <p:spPr>
          <a:xfrm>
            <a:off x="8864293" y="2648559"/>
            <a:ext cx="1484341" cy="307777"/>
          </a:xfrm>
          <a:prstGeom prst="rect">
            <a:avLst/>
          </a:prstGeom>
          <a:noFill/>
        </p:spPr>
        <p:txBody>
          <a:bodyPr wrap="square" rtlCol="0">
            <a:spAutoFit/>
          </a:bodyPr>
          <a:lstStyle/>
          <a:p>
            <a:r>
              <a:rPr lang="en-US" sz="1400" b="1" dirty="0"/>
              <a:t>Generate score</a:t>
            </a:r>
          </a:p>
        </p:txBody>
      </p:sp>
      <p:sp>
        <p:nvSpPr>
          <p:cNvPr id="51" name="TextBox 50">
            <a:extLst>
              <a:ext uri="{FF2B5EF4-FFF2-40B4-BE49-F238E27FC236}">
                <a16:creationId xmlns:a16="http://schemas.microsoft.com/office/drawing/2014/main" id="{D5A88AE6-54EE-764A-BB05-48B875622930}"/>
              </a:ext>
            </a:extLst>
          </p:cNvPr>
          <p:cNvSpPr txBox="1"/>
          <p:nvPr/>
        </p:nvSpPr>
        <p:spPr>
          <a:xfrm>
            <a:off x="8864293" y="3583379"/>
            <a:ext cx="1484341" cy="307777"/>
          </a:xfrm>
          <a:prstGeom prst="rect">
            <a:avLst/>
          </a:prstGeom>
          <a:noFill/>
        </p:spPr>
        <p:txBody>
          <a:bodyPr wrap="square" rtlCol="0">
            <a:spAutoFit/>
          </a:bodyPr>
          <a:lstStyle/>
          <a:p>
            <a:r>
              <a:rPr lang="en-US" sz="1400" b="1" dirty="0"/>
              <a:t>Filter using score</a:t>
            </a:r>
          </a:p>
        </p:txBody>
      </p:sp>
    </p:spTree>
    <p:extLst>
      <p:ext uri="{BB962C8B-B14F-4D97-AF65-F5344CB8AC3E}">
        <p14:creationId xmlns:p14="http://schemas.microsoft.com/office/powerpoint/2010/main" val="2658603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DB4D03-9F92-C446-ADF2-407241ADB2CC}"/>
              </a:ext>
            </a:extLst>
          </p:cNvPr>
          <p:cNvSpPr/>
          <p:nvPr/>
        </p:nvSpPr>
        <p:spPr>
          <a:xfrm>
            <a:off x="5141258" y="641195"/>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sp>
        <p:nvSpPr>
          <p:cNvPr id="15" name="Rectangle 14">
            <a:extLst>
              <a:ext uri="{FF2B5EF4-FFF2-40B4-BE49-F238E27FC236}">
                <a16:creationId xmlns:a16="http://schemas.microsoft.com/office/drawing/2014/main" id="{BD06C2C5-70E8-9042-83B7-BF33D8AC2E6E}"/>
              </a:ext>
            </a:extLst>
          </p:cNvPr>
          <p:cNvSpPr/>
          <p:nvPr/>
        </p:nvSpPr>
        <p:spPr>
          <a:xfrm>
            <a:off x="2424952" y="1878559"/>
            <a:ext cx="2250141"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No predictions for either drug, ADR</a:t>
            </a:r>
          </a:p>
        </p:txBody>
      </p:sp>
      <p:sp>
        <p:nvSpPr>
          <p:cNvPr id="16" name="Rectangle 15">
            <a:extLst>
              <a:ext uri="{FF2B5EF4-FFF2-40B4-BE49-F238E27FC236}">
                <a16:creationId xmlns:a16="http://schemas.microsoft.com/office/drawing/2014/main" id="{6F879C43-652B-F140-B97F-7B5A76D43946}"/>
              </a:ext>
            </a:extLst>
          </p:cNvPr>
          <p:cNvSpPr/>
          <p:nvPr/>
        </p:nvSpPr>
        <p:spPr>
          <a:xfrm>
            <a:off x="2651310" y="3397912"/>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a:t>
            </a:r>
          </a:p>
        </p:txBody>
      </p:sp>
      <p:sp>
        <p:nvSpPr>
          <p:cNvPr id="17" name="Rectangle 16">
            <a:extLst>
              <a:ext uri="{FF2B5EF4-FFF2-40B4-BE49-F238E27FC236}">
                <a16:creationId xmlns:a16="http://schemas.microsoft.com/office/drawing/2014/main" id="{4B4CE3C2-CE17-6840-8B0E-F606D56797A0}"/>
              </a:ext>
            </a:extLst>
          </p:cNvPr>
          <p:cNvSpPr/>
          <p:nvPr/>
        </p:nvSpPr>
        <p:spPr>
          <a:xfrm>
            <a:off x="7821708" y="1860630"/>
            <a:ext cx="1976716" cy="604665"/>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for both drug, ADR</a:t>
            </a:r>
          </a:p>
        </p:txBody>
      </p:sp>
      <p:sp>
        <p:nvSpPr>
          <p:cNvPr id="18" name="Rectangle 17">
            <a:extLst>
              <a:ext uri="{FF2B5EF4-FFF2-40B4-BE49-F238E27FC236}">
                <a16:creationId xmlns:a16="http://schemas.microsoft.com/office/drawing/2014/main" id="{205F8C75-D894-1941-B669-46095C9B1757}"/>
              </a:ext>
            </a:extLst>
          </p:cNvPr>
          <p:cNvSpPr/>
          <p:nvPr/>
        </p:nvSpPr>
        <p:spPr>
          <a:xfrm>
            <a:off x="6642849" y="4282211"/>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All prediction(s) discarded</a:t>
            </a:r>
          </a:p>
        </p:txBody>
      </p:sp>
      <p:sp>
        <p:nvSpPr>
          <p:cNvPr id="19" name="Rectangle 18">
            <a:extLst>
              <a:ext uri="{FF2B5EF4-FFF2-40B4-BE49-F238E27FC236}">
                <a16:creationId xmlns:a16="http://schemas.microsoft.com/office/drawing/2014/main" id="{94A52F45-1879-0144-AD3C-7B658BAFBDD7}"/>
              </a:ext>
            </a:extLst>
          </p:cNvPr>
          <p:cNvSpPr/>
          <p:nvPr/>
        </p:nvSpPr>
        <p:spPr>
          <a:xfrm>
            <a:off x="9415184" y="4273698"/>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retained</a:t>
            </a:r>
          </a:p>
        </p:txBody>
      </p:sp>
      <p:cxnSp>
        <p:nvCxnSpPr>
          <p:cNvPr id="26" name="Elbow Connector 25">
            <a:extLst>
              <a:ext uri="{FF2B5EF4-FFF2-40B4-BE49-F238E27FC236}">
                <a16:creationId xmlns:a16="http://schemas.microsoft.com/office/drawing/2014/main" id="{867FA861-99DC-B342-A25C-B88005CFAB6D}"/>
              </a:ext>
            </a:extLst>
          </p:cNvPr>
          <p:cNvCxnSpPr>
            <a:cxnSpLocks/>
            <a:endCxn id="15" idx="0"/>
          </p:cNvCxnSpPr>
          <p:nvPr/>
        </p:nvCxnSpPr>
        <p:spPr>
          <a:xfrm rot="10800000" flipV="1">
            <a:off x="3550023" y="1667433"/>
            <a:ext cx="2734236" cy="2111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F52CCD06-3D1C-8849-AB1F-1136BC29A682}"/>
              </a:ext>
            </a:extLst>
          </p:cNvPr>
          <p:cNvCxnSpPr>
            <a:cxnSpLocks/>
            <a:endCxn id="17" idx="0"/>
          </p:cNvCxnSpPr>
          <p:nvPr/>
        </p:nvCxnSpPr>
        <p:spPr>
          <a:xfrm>
            <a:off x="6284259" y="1667433"/>
            <a:ext cx="2525807" cy="1931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D83F47B-C612-2848-8529-2209EA70E3EB}"/>
              </a:ext>
            </a:extLst>
          </p:cNvPr>
          <p:cNvCxnSpPr>
            <a:stCxn id="4" idx="2"/>
          </p:cNvCxnSpPr>
          <p:nvPr/>
        </p:nvCxnSpPr>
        <p:spPr>
          <a:xfrm flipH="1">
            <a:off x="6033246" y="1268725"/>
            <a:ext cx="1" cy="398707"/>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C8095EE7-4E54-B748-97CC-3E9568A5BBC4}"/>
              </a:ext>
            </a:extLst>
          </p:cNvPr>
          <p:cNvSpPr txBox="1"/>
          <p:nvPr/>
        </p:nvSpPr>
        <p:spPr>
          <a:xfrm>
            <a:off x="6043090" y="1359654"/>
            <a:ext cx="1818959" cy="307777"/>
          </a:xfrm>
          <a:prstGeom prst="rect">
            <a:avLst/>
          </a:prstGeom>
          <a:noFill/>
        </p:spPr>
        <p:txBody>
          <a:bodyPr wrap="none" rtlCol="0">
            <a:spAutoFit/>
          </a:bodyPr>
          <a:lstStyle/>
          <a:p>
            <a:r>
              <a:rPr lang="en-US" sz="1400" b="1" dirty="0"/>
              <a:t>Make base prediction</a:t>
            </a:r>
          </a:p>
        </p:txBody>
      </p:sp>
      <p:cxnSp>
        <p:nvCxnSpPr>
          <p:cNvPr id="36" name="Straight Arrow Connector 35">
            <a:extLst>
              <a:ext uri="{FF2B5EF4-FFF2-40B4-BE49-F238E27FC236}">
                <a16:creationId xmlns:a16="http://schemas.microsoft.com/office/drawing/2014/main" id="{EC1C6DE6-8407-BC44-A89D-3E39100D2802}"/>
              </a:ext>
            </a:extLst>
          </p:cNvPr>
          <p:cNvCxnSpPr>
            <a:cxnSpLocks/>
          </p:cNvCxnSpPr>
          <p:nvPr/>
        </p:nvCxnSpPr>
        <p:spPr>
          <a:xfrm>
            <a:off x="3550022" y="2635624"/>
            <a:ext cx="0" cy="681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1D94B6A-CE35-8646-8A9D-83044B372721}"/>
              </a:ext>
            </a:extLst>
          </p:cNvPr>
          <p:cNvSpPr txBox="1"/>
          <p:nvPr/>
        </p:nvSpPr>
        <p:spPr>
          <a:xfrm>
            <a:off x="3588560" y="2712586"/>
            <a:ext cx="1484341" cy="523220"/>
          </a:xfrm>
          <a:prstGeom prst="rect">
            <a:avLst/>
          </a:prstGeom>
          <a:noFill/>
        </p:spPr>
        <p:txBody>
          <a:bodyPr wrap="square" rtlCol="0">
            <a:spAutoFit/>
          </a:bodyPr>
          <a:lstStyle/>
          <a:p>
            <a:r>
              <a:rPr lang="en-US" sz="1400" b="1" dirty="0"/>
              <a:t>Make additional prediction</a:t>
            </a:r>
          </a:p>
        </p:txBody>
      </p:sp>
      <p:cxnSp>
        <p:nvCxnSpPr>
          <p:cNvPr id="41" name="Elbow Connector 40">
            <a:extLst>
              <a:ext uri="{FF2B5EF4-FFF2-40B4-BE49-F238E27FC236}">
                <a16:creationId xmlns:a16="http://schemas.microsoft.com/office/drawing/2014/main" id="{11BBAC6B-4CB2-F746-8438-D79B94AA0027}"/>
              </a:ext>
            </a:extLst>
          </p:cNvPr>
          <p:cNvCxnSpPr>
            <a:cxnSpLocks/>
            <a:endCxn id="18" idx="0"/>
          </p:cNvCxnSpPr>
          <p:nvPr/>
        </p:nvCxnSpPr>
        <p:spPr>
          <a:xfrm rot="10800000" flipV="1">
            <a:off x="7534838" y="3916077"/>
            <a:ext cx="1602440" cy="3661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Elbow Connector 41">
            <a:extLst>
              <a:ext uri="{FF2B5EF4-FFF2-40B4-BE49-F238E27FC236}">
                <a16:creationId xmlns:a16="http://schemas.microsoft.com/office/drawing/2014/main" id="{A5D8E6F3-CB08-8B48-9D99-4D201380977B}"/>
              </a:ext>
            </a:extLst>
          </p:cNvPr>
          <p:cNvCxnSpPr>
            <a:cxnSpLocks/>
            <a:endCxn id="19" idx="0"/>
          </p:cNvCxnSpPr>
          <p:nvPr/>
        </p:nvCxnSpPr>
        <p:spPr>
          <a:xfrm>
            <a:off x="9137278" y="3916078"/>
            <a:ext cx="1169895" cy="3576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B1D2DEC0-97EE-D04B-8937-5166FB310B9F}"/>
              </a:ext>
            </a:extLst>
          </p:cNvPr>
          <p:cNvCxnSpPr/>
          <p:nvPr/>
        </p:nvCxnSpPr>
        <p:spPr>
          <a:xfrm flipH="1">
            <a:off x="8825756" y="3527784"/>
            <a:ext cx="1" cy="398707"/>
          </a:xfrm>
          <a:prstGeom prst="line">
            <a:avLst/>
          </a:prstGeom>
        </p:spPr>
        <p:style>
          <a:lnRef idx="1">
            <a:schemeClr val="dk1"/>
          </a:lnRef>
          <a:fillRef idx="0">
            <a:schemeClr val="dk1"/>
          </a:fillRef>
          <a:effectRef idx="0">
            <a:schemeClr val="dk1"/>
          </a:effectRef>
          <a:fontRef idx="minor">
            <a:schemeClr val="tx1"/>
          </a:fontRef>
        </p:style>
      </p:cxnSp>
      <p:sp>
        <p:nvSpPr>
          <p:cNvPr id="46" name="Rectangle 45">
            <a:extLst>
              <a:ext uri="{FF2B5EF4-FFF2-40B4-BE49-F238E27FC236}">
                <a16:creationId xmlns:a16="http://schemas.microsoft.com/office/drawing/2014/main" id="{EEF9CD6E-55DC-FF47-AF46-89B1A2017FB0}"/>
              </a:ext>
            </a:extLst>
          </p:cNvPr>
          <p:cNvSpPr/>
          <p:nvPr/>
        </p:nvSpPr>
        <p:spPr>
          <a:xfrm>
            <a:off x="7765681" y="3139207"/>
            <a:ext cx="1976714" cy="398707"/>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a:t>
            </a:r>
          </a:p>
        </p:txBody>
      </p:sp>
      <p:cxnSp>
        <p:nvCxnSpPr>
          <p:cNvPr id="47" name="Straight Arrow Connector 46">
            <a:extLst>
              <a:ext uri="{FF2B5EF4-FFF2-40B4-BE49-F238E27FC236}">
                <a16:creationId xmlns:a16="http://schemas.microsoft.com/office/drawing/2014/main" id="{DD511155-9D95-644A-9A7A-FC919E2EB2A2}"/>
              </a:ext>
            </a:extLst>
          </p:cNvPr>
          <p:cNvCxnSpPr>
            <a:cxnSpLocks/>
          </p:cNvCxnSpPr>
          <p:nvPr/>
        </p:nvCxnSpPr>
        <p:spPr>
          <a:xfrm>
            <a:off x="8825756" y="2537012"/>
            <a:ext cx="0" cy="519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E144569C-1DA5-0549-90C0-B7F32E0B2FF0}"/>
              </a:ext>
            </a:extLst>
          </p:cNvPr>
          <p:cNvSpPr txBox="1"/>
          <p:nvPr/>
        </p:nvSpPr>
        <p:spPr>
          <a:xfrm>
            <a:off x="8864293" y="2648559"/>
            <a:ext cx="1484341" cy="307777"/>
          </a:xfrm>
          <a:prstGeom prst="rect">
            <a:avLst/>
          </a:prstGeom>
          <a:noFill/>
        </p:spPr>
        <p:txBody>
          <a:bodyPr wrap="square" rtlCol="0">
            <a:spAutoFit/>
          </a:bodyPr>
          <a:lstStyle/>
          <a:p>
            <a:r>
              <a:rPr lang="en-US" sz="1400" b="1" dirty="0"/>
              <a:t>Generate score</a:t>
            </a:r>
          </a:p>
        </p:txBody>
      </p:sp>
      <p:sp>
        <p:nvSpPr>
          <p:cNvPr id="51" name="TextBox 50">
            <a:extLst>
              <a:ext uri="{FF2B5EF4-FFF2-40B4-BE49-F238E27FC236}">
                <a16:creationId xmlns:a16="http://schemas.microsoft.com/office/drawing/2014/main" id="{D5A88AE6-54EE-764A-BB05-48B875622930}"/>
              </a:ext>
            </a:extLst>
          </p:cNvPr>
          <p:cNvSpPr txBox="1"/>
          <p:nvPr/>
        </p:nvSpPr>
        <p:spPr>
          <a:xfrm>
            <a:off x="8864293" y="3583379"/>
            <a:ext cx="1484341" cy="307777"/>
          </a:xfrm>
          <a:prstGeom prst="rect">
            <a:avLst/>
          </a:prstGeom>
          <a:noFill/>
        </p:spPr>
        <p:txBody>
          <a:bodyPr wrap="square" rtlCol="0">
            <a:spAutoFit/>
          </a:bodyPr>
          <a:lstStyle/>
          <a:p>
            <a:r>
              <a:rPr lang="en-US" sz="1400" b="1" dirty="0"/>
              <a:t>Filter using score</a:t>
            </a:r>
          </a:p>
        </p:txBody>
      </p:sp>
    </p:spTree>
    <p:extLst>
      <p:ext uri="{BB962C8B-B14F-4D97-AF65-F5344CB8AC3E}">
        <p14:creationId xmlns:p14="http://schemas.microsoft.com/office/powerpoint/2010/main" val="1679709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DB4D03-9F92-C446-ADF2-407241ADB2CC}"/>
              </a:ext>
            </a:extLst>
          </p:cNvPr>
          <p:cNvSpPr/>
          <p:nvPr/>
        </p:nvSpPr>
        <p:spPr>
          <a:xfrm>
            <a:off x="5141258" y="641195"/>
            <a:ext cx="1783977" cy="62753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LSTM model</a:t>
            </a:r>
          </a:p>
        </p:txBody>
      </p:sp>
      <p:sp>
        <p:nvSpPr>
          <p:cNvPr id="15" name="Rectangle 14">
            <a:extLst>
              <a:ext uri="{FF2B5EF4-FFF2-40B4-BE49-F238E27FC236}">
                <a16:creationId xmlns:a16="http://schemas.microsoft.com/office/drawing/2014/main" id="{BD06C2C5-70E8-9042-83B7-BF33D8AC2E6E}"/>
              </a:ext>
            </a:extLst>
          </p:cNvPr>
          <p:cNvSpPr/>
          <p:nvPr/>
        </p:nvSpPr>
        <p:spPr>
          <a:xfrm>
            <a:off x="2424952" y="1878559"/>
            <a:ext cx="2250141"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No predictions for either drug, ADR</a:t>
            </a:r>
          </a:p>
        </p:txBody>
      </p:sp>
      <p:sp>
        <p:nvSpPr>
          <p:cNvPr id="16" name="Rectangle 15">
            <a:extLst>
              <a:ext uri="{FF2B5EF4-FFF2-40B4-BE49-F238E27FC236}">
                <a16:creationId xmlns:a16="http://schemas.microsoft.com/office/drawing/2014/main" id="{6F879C43-652B-F140-B97F-7B5A76D43946}"/>
              </a:ext>
            </a:extLst>
          </p:cNvPr>
          <p:cNvSpPr/>
          <p:nvPr/>
        </p:nvSpPr>
        <p:spPr>
          <a:xfrm>
            <a:off x="2651310" y="3397912"/>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a:t>
            </a:r>
          </a:p>
        </p:txBody>
      </p:sp>
      <p:sp>
        <p:nvSpPr>
          <p:cNvPr id="17" name="Rectangle 16">
            <a:extLst>
              <a:ext uri="{FF2B5EF4-FFF2-40B4-BE49-F238E27FC236}">
                <a16:creationId xmlns:a16="http://schemas.microsoft.com/office/drawing/2014/main" id="{4B4CE3C2-CE17-6840-8B0E-F606D56797A0}"/>
              </a:ext>
            </a:extLst>
          </p:cNvPr>
          <p:cNvSpPr/>
          <p:nvPr/>
        </p:nvSpPr>
        <p:spPr>
          <a:xfrm>
            <a:off x="7821708" y="1860630"/>
            <a:ext cx="1976716" cy="604665"/>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for both drug, ADR</a:t>
            </a:r>
          </a:p>
        </p:txBody>
      </p:sp>
      <p:sp>
        <p:nvSpPr>
          <p:cNvPr id="18" name="Rectangle 17">
            <a:extLst>
              <a:ext uri="{FF2B5EF4-FFF2-40B4-BE49-F238E27FC236}">
                <a16:creationId xmlns:a16="http://schemas.microsoft.com/office/drawing/2014/main" id="{205F8C75-D894-1941-B669-46095C9B1757}"/>
              </a:ext>
            </a:extLst>
          </p:cNvPr>
          <p:cNvSpPr/>
          <p:nvPr/>
        </p:nvSpPr>
        <p:spPr>
          <a:xfrm>
            <a:off x="6642849" y="4282211"/>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All prediction(s) discarded</a:t>
            </a:r>
          </a:p>
        </p:txBody>
      </p:sp>
      <p:sp>
        <p:nvSpPr>
          <p:cNvPr id="19" name="Rectangle 18">
            <a:extLst>
              <a:ext uri="{FF2B5EF4-FFF2-40B4-BE49-F238E27FC236}">
                <a16:creationId xmlns:a16="http://schemas.microsoft.com/office/drawing/2014/main" id="{94A52F45-1879-0144-AD3C-7B658BAFBDD7}"/>
              </a:ext>
            </a:extLst>
          </p:cNvPr>
          <p:cNvSpPr/>
          <p:nvPr/>
        </p:nvSpPr>
        <p:spPr>
          <a:xfrm>
            <a:off x="9415184" y="4273698"/>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Prediction(s) retained</a:t>
            </a:r>
          </a:p>
        </p:txBody>
      </p:sp>
      <p:sp>
        <p:nvSpPr>
          <p:cNvPr id="20" name="Rectangle 19">
            <a:extLst>
              <a:ext uri="{FF2B5EF4-FFF2-40B4-BE49-F238E27FC236}">
                <a16:creationId xmlns:a16="http://schemas.microsoft.com/office/drawing/2014/main" id="{0DB0DFC3-B58F-794C-B1A5-DCEC8C8DE639}"/>
              </a:ext>
            </a:extLst>
          </p:cNvPr>
          <p:cNvSpPr/>
          <p:nvPr/>
        </p:nvSpPr>
        <p:spPr>
          <a:xfrm>
            <a:off x="6642849" y="5715658"/>
            <a:ext cx="1783977" cy="658453"/>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Dependency parsing</a:t>
            </a:r>
          </a:p>
        </p:txBody>
      </p:sp>
      <p:cxnSp>
        <p:nvCxnSpPr>
          <p:cNvPr id="26" name="Elbow Connector 25">
            <a:extLst>
              <a:ext uri="{FF2B5EF4-FFF2-40B4-BE49-F238E27FC236}">
                <a16:creationId xmlns:a16="http://schemas.microsoft.com/office/drawing/2014/main" id="{867FA861-99DC-B342-A25C-B88005CFAB6D}"/>
              </a:ext>
            </a:extLst>
          </p:cNvPr>
          <p:cNvCxnSpPr>
            <a:cxnSpLocks/>
            <a:endCxn id="15" idx="0"/>
          </p:cNvCxnSpPr>
          <p:nvPr/>
        </p:nvCxnSpPr>
        <p:spPr>
          <a:xfrm rot="10800000" flipV="1">
            <a:off x="3550023" y="1667433"/>
            <a:ext cx="2734236" cy="2111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26">
            <a:extLst>
              <a:ext uri="{FF2B5EF4-FFF2-40B4-BE49-F238E27FC236}">
                <a16:creationId xmlns:a16="http://schemas.microsoft.com/office/drawing/2014/main" id="{F52CCD06-3D1C-8849-AB1F-1136BC29A682}"/>
              </a:ext>
            </a:extLst>
          </p:cNvPr>
          <p:cNvCxnSpPr>
            <a:cxnSpLocks/>
            <a:endCxn id="17" idx="0"/>
          </p:cNvCxnSpPr>
          <p:nvPr/>
        </p:nvCxnSpPr>
        <p:spPr>
          <a:xfrm>
            <a:off x="6284259" y="1667433"/>
            <a:ext cx="2525807" cy="19319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D83F47B-C612-2848-8529-2209EA70E3EB}"/>
              </a:ext>
            </a:extLst>
          </p:cNvPr>
          <p:cNvCxnSpPr>
            <a:stCxn id="4" idx="2"/>
          </p:cNvCxnSpPr>
          <p:nvPr/>
        </p:nvCxnSpPr>
        <p:spPr>
          <a:xfrm flipH="1">
            <a:off x="6033246" y="1268725"/>
            <a:ext cx="1" cy="398707"/>
          </a:xfrm>
          <a:prstGeom prst="line">
            <a:avLst/>
          </a:prstGeom>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C8095EE7-4E54-B748-97CC-3E9568A5BBC4}"/>
              </a:ext>
            </a:extLst>
          </p:cNvPr>
          <p:cNvSpPr txBox="1"/>
          <p:nvPr/>
        </p:nvSpPr>
        <p:spPr>
          <a:xfrm>
            <a:off x="6043090" y="1359654"/>
            <a:ext cx="1818959" cy="307777"/>
          </a:xfrm>
          <a:prstGeom prst="rect">
            <a:avLst/>
          </a:prstGeom>
          <a:noFill/>
        </p:spPr>
        <p:txBody>
          <a:bodyPr wrap="none" rtlCol="0">
            <a:spAutoFit/>
          </a:bodyPr>
          <a:lstStyle/>
          <a:p>
            <a:r>
              <a:rPr lang="en-US" sz="1400" b="1" dirty="0"/>
              <a:t>Make base prediction</a:t>
            </a:r>
          </a:p>
        </p:txBody>
      </p:sp>
      <p:cxnSp>
        <p:nvCxnSpPr>
          <p:cNvPr id="36" name="Straight Arrow Connector 35">
            <a:extLst>
              <a:ext uri="{FF2B5EF4-FFF2-40B4-BE49-F238E27FC236}">
                <a16:creationId xmlns:a16="http://schemas.microsoft.com/office/drawing/2014/main" id="{EC1C6DE6-8407-BC44-A89D-3E39100D2802}"/>
              </a:ext>
            </a:extLst>
          </p:cNvPr>
          <p:cNvCxnSpPr>
            <a:cxnSpLocks/>
          </p:cNvCxnSpPr>
          <p:nvPr/>
        </p:nvCxnSpPr>
        <p:spPr>
          <a:xfrm>
            <a:off x="3550022" y="2635624"/>
            <a:ext cx="0" cy="681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1D94B6A-CE35-8646-8A9D-83044B372721}"/>
              </a:ext>
            </a:extLst>
          </p:cNvPr>
          <p:cNvSpPr txBox="1"/>
          <p:nvPr/>
        </p:nvSpPr>
        <p:spPr>
          <a:xfrm>
            <a:off x="3588560" y="2712586"/>
            <a:ext cx="1484341" cy="523220"/>
          </a:xfrm>
          <a:prstGeom prst="rect">
            <a:avLst/>
          </a:prstGeom>
          <a:noFill/>
        </p:spPr>
        <p:txBody>
          <a:bodyPr wrap="square" rtlCol="0">
            <a:spAutoFit/>
          </a:bodyPr>
          <a:lstStyle/>
          <a:p>
            <a:r>
              <a:rPr lang="en-US" sz="1400" b="1" dirty="0"/>
              <a:t>Make additional prediction</a:t>
            </a:r>
          </a:p>
        </p:txBody>
      </p:sp>
      <p:cxnSp>
        <p:nvCxnSpPr>
          <p:cNvPr id="41" name="Elbow Connector 40">
            <a:extLst>
              <a:ext uri="{FF2B5EF4-FFF2-40B4-BE49-F238E27FC236}">
                <a16:creationId xmlns:a16="http://schemas.microsoft.com/office/drawing/2014/main" id="{11BBAC6B-4CB2-F746-8438-D79B94AA0027}"/>
              </a:ext>
            </a:extLst>
          </p:cNvPr>
          <p:cNvCxnSpPr>
            <a:cxnSpLocks/>
            <a:endCxn id="18" idx="0"/>
          </p:cNvCxnSpPr>
          <p:nvPr/>
        </p:nvCxnSpPr>
        <p:spPr>
          <a:xfrm rot="10800000" flipV="1">
            <a:off x="7534838" y="3916077"/>
            <a:ext cx="1602440" cy="3661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Elbow Connector 41">
            <a:extLst>
              <a:ext uri="{FF2B5EF4-FFF2-40B4-BE49-F238E27FC236}">
                <a16:creationId xmlns:a16="http://schemas.microsoft.com/office/drawing/2014/main" id="{A5D8E6F3-CB08-8B48-9D99-4D201380977B}"/>
              </a:ext>
            </a:extLst>
          </p:cNvPr>
          <p:cNvCxnSpPr>
            <a:cxnSpLocks/>
            <a:endCxn id="19" idx="0"/>
          </p:cNvCxnSpPr>
          <p:nvPr/>
        </p:nvCxnSpPr>
        <p:spPr>
          <a:xfrm>
            <a:off x="9137278" y="3916078"/>
            <a:ext cx="1169895" cy="3576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B1D2DEC0-97EE-D04B-8937-5166FB310B9F}"/>
              </a:ext>
            </a:extLst>
          </p:cNvPr>
          <p:cNvCxnSpPr/>
          <p:nvPr/>
        </p:nvCxnSpPr>
        <p:spPr>
          <a:xfrm flipH="1">
            <a:off x="8825756" y="3527784"/>
            <a:ext cx="1" cy="398707"/>
          </a:xfrm>
          <a:prstGeom prst="line">
            <a:avLst/>
          </a:prstGeom>
        </p:spPr>
        <p:style>
          <a:lnRef idx="1">
            <a:schemeClr val="dk1"/>
          </a:lnRef>
          <a:fillRef idx="0">
            <a:schemeClr val="dk1"/>
          </a:fillRef>
          <a:effectRef idx="0">
            <a:schemeClr val="dk1"/>
          </a:effectRef>
          <a:fontRef idx="minor">
            <a:schemeClr val="tx1"/>
          </a:fontRef>
        </p:style>
      </p:cxnSp>
      <p:sp>
        <p:nvSpPr>
          <p:cNvPr id="46" name="Rectangle 45">
            <a:extLst>
              <a:ext uri="{FF2B5EF4-FFF2-40B4-BE49-F238E27FC236}">
                <a16:creationId xmlns:a16="http://schemas.microsoft.com/office/drawing/2014/main" id="{EEF9CD6E-55DC-FF47-AF46-89B1A2017FB0}"/>
              </a:ext>
            </a:extLst>
          </p:cNvPr>
          <p:cNvSpPr/>
          <p:nvPr/>
        </p:nvSpPr>
        <p:spPr>
          <a:xfrm>
            <a:off x="7765681" y="3139207"/>
            <a:ext cx="1976714" cy="398707"/>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Cosine similarity</a:t>
            </a:r>
          </a:p>
        </p:txBody>
      </p:sp>
      <p:cxnSp>
        <p:nvCxnSpPr>
          <p:cNvPr id="47" name="Straight Arrow Connector 46">
            <a:extLst>
              <a:ext uri="{FF2B5EF4-FFF2-40B4-BE49-F238E27FC236}">
                <a16:creationId xmlns:a16="http://schemas.microsoft.com/office/drawing/2014/main" id="{DD511155-9D95-644A-9A7A-FC919E2EB2A2}"/>
              </a:ext>
            </a:extLst>
          </p:cNvPr>
          <p:cNvCxnSpPr>
            <a:cxnSpLocks/>
          </p:cNvCxnSpPr>
          <p:nvPr/>
        </p:nvCxnSpPr>
        <p:spPr>
          <a:xfrm>
            <a:off x="8825756" y="2537012"/>
            <a:ext cx="0" cy="519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E144569C-1DA5-0549-90C0-B7F32E0B2FF0}"/>
              </a:ext>
            </a:extLst>
          </p:cNvPr>
          <p:cNvSpPr txBox="1"/>
          <p:nvPr/>
        </p:nvSpPr>
        <p:spPr>
          <a:xfrm>
            <a:off x="8864293" y="2648559"/>
            <a:ext cx="1484341" cy="307777"/>
          </a:xfrm>
          <a:prstGeom prst="rect">
            <a:avLst/>
          </a:prstGeom>
          <a:noFill/>
        </p:spPr>
        <p:txBody>
          <a:bodyPr wrap="square" rtlCol="0">
            <a:spAutoFit/>
          </a:bodyPr>
          <a:lstStyle/>
          <a:p>
            <a:r>
              <a:rPr lang="en-US" sz="1400" b="1" dirty="0"/>
              <a:t>Generate score</a:t>
            </a:r>
          </a:p>
        </p:txBody>
      </p:sp>
      <p:sp>
        <p:nvSpPr>
          <p:cNvPr id="51" name="TextBox 50">
            <a:extLst>
              <a:ext uri="{FF2B5EF4-FFF2-40B4-BE49-F238E27FC236}">
                <a16:creationId xmlns:a16="http://schemas.microsoft.com/office/drawing/2014/main" id="{D5A88AE6-54EE-764A-BB05-48B875622930}"/>
              </a:ext>
            </a:extLst>
          </p:cNvPr>
          <p:cNvSpPr txBox="1"/>
          <p:nvPr/>
        </p:nvSpPr>
        <p:spPr>
          <a:xfrm>
            <a:off x="8864293" y="3583379"/>
            <a:ext cx="1484341" cy="307777"/>
          </a:xfrm>
          <a:prstGeom prst="rect">
            <a:avLst/>
          </a:prstGeom>
          <a:noFill/>
        </p:spPr>
        <p:txBody>
          <a:bodyPr wrap="square" rtlCol="0">
            <a:spAutoFit/>
          </a:bodyPr>
          <a:lstStyle/>
          <a:p>
            <a:r>
              <a:rPr lang="en-US" sz="1400" b="1" dirty="0"/>
              <a:t>Filter using score</a:t>
            </a:r>
          </a:p>
        </p:txBody>
      </p:sp>
      <p:cxnSp>
        <p:nvCxnSpPr>
          <p:cNvPr id="52" name="Straight Arrow Connector 51">
            <a:extLst>
              <a:ext uri="{FF2B5EF4-FFF2-40B4-BE49-F238E27FC236}">
                <a16:creationId xmlns:a16="http://schemas.microsoft.com/office/drawing/2014/main" id="{A092A9D3-C7D3-A747-B84B-D0C4A9006400}"/>
              </a:ext>
            </a:extLst>
          </p:cNvPr>
          <p:cNvCxnSpPr>
            <a:cxnSpLocks/>
          </p:cNvCxnSpPr>
          <p:nvPr/>
        </p:nvCxnSpPr>
        <p:spPr>
          <a:xfrm>
            <a:off x="7547162" y="5065059"/>
            <a:ext cx="0" cy="519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A1D737E5-75A3-7349-9506-0553CA7C401F}"/>
              </a:ext>
            </a:extLst>
          </p:cNvPr>
          <p:cNvSpPr txBox="1"/>
          <p:nvPr/>
        </p:nvSpPr>
        <p:spPr>
          <a:xfrm>
            <a:off x="7593887" y="5127115"/>
            <a:ext cx="1484341" cy="523220"/>
          </a:xfrm>
          <a:prstGeom prst="rect">
            <a:avLst/>
          </a:prstGeom>
          <a:noFill/>
        </p:spPr>
        <p:txBody>
          <a:bodyPr wrap="square" rtlCol="0">
            <a:spAutoFit/>
          </a:bodyPr>
          <a:lstStyle/>
          <a:p>
            <a:r>
              <a:rPr lang="en-US" sz="1400" b="1" dirty="0"/>
              <a:t>Make additional prediction</a:t>
            </a:r>
          </a:p>
        </p:txBody>
      </p:sp>
    </p:spTree>
    <p:extLst>
      <p:ext uri="{BB962C8B-B14F-4D97-AF65-F5344CB8AC3E}">
        <p14:creationId xmlns:p14="http://schemas.microsoft.com/office/powerpoint/2010/main" val="321045505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{E4FE079D-D720-284C-B196-2947F312CEAB}tf10001072</Template>
  <TotalTime>235</TotalTime>
  <Words>4123</Words>
  <Application>Microsoft Macintosh PowerPoint</Application>
  <PresentationFormat>Widescreen</PresentationFormat>
  <Paragraphs>481</Paragraphs>
  <Slides>39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Calibri</vt:lpstr>
      <vt:lpstr>Cambria Math</vt:lpstr>
      <vt:lpstr>Franklin Gothic Book</vt:lpstr>
      <vt:lpstr>Crop</vt:lpstr>
      <vt:lpstr>Detecting Adverse drug reactions in text</vt:lpstr>
      <vt:lpstr>Overview</vt:lpstr>
      <vt:lpstr>Introduction Importance of detecting drug, ADR in text</vt:lpstr>
      <vt:lpstr>Methodology overview</vt:lpstr>
      <vt:lpstr>Methodology overview</vt:lpstr>
      <vt:lpstr>Methodology overview</vt:lpstr>
      <vt:lpstr>Methodology overview</vt:lpstr>
      <vt:lpstr>LSTM model training Making base predictions</vt:lpstr>
      <vt:lpstr>LSTM model training Making base predictions</vt:lpstr>
      <vt:lpstr>LSTM model training Making base predictions</vt:lpstr>
      <vt:lpstr>Evaluation: LSTM predictions Baseline prediction performance</vt:lpstr>
      <vt:lpstr>Evaluation: LSTM predictions Baseline prediction performance</vt:lpstr>
      <vt:lpstr>Evaluation: LSTM predictions Baseline prediction performance</vt:lpstr>
      <vt:lpstr>Improving false positives Incorporating cosine similarity</vt:lpstr>
      <vt:lpstr>Evaluation: LSTM + cosine similarity Improvement 1 prediction performance</vt:lpstr>
      <vt:lpstr>Evaluation: LSTM + cosine similarity Improvement 1 prediction performance</vt:lpstr>
      <vt:lpstr>Evaluation: LSTM + cosine similarity Improvement 1 discussion</vt:lpstr>
      <vt:lpstr>Improving true positives Incorporating dependency parsing</vt:lpstr>
      <vt:lpstr>Evaluation: LSTM + dependency parsing Improvement 2 prediction performance</vt:lpstr>
      <vt:lpstr>Evaluation: LSTM + dependency parsing Improvement 2 prediction performance</vt:lpstr>
      <vt:lpstr>Evaluation: LSTM + dependency parsing Improvement 2 discussion</vt:lpstr>
      <vt:lpstr>Final prediction system Incorporating improvements with base model</vt:lpstr>
      <vt:lpstr>Final prediction system Incorporating improvements with base model</vt:lpstr>
      <vt:lpstr>Final prediction system Incorporating improvements with base model</vt:lpstr>
      <vt:lpstr>Final prediction system Incorporating improvements with base model</vt:lpstr>
      <vt:lpstr>Final prediction system Incorporating improvements with base model</vt:lpstr>
      <vt:lpstr>Evaluation: Final prediction system Final prediction performance</vt:lpstr>
      <vt:lpstr>Evaluation: Final prediction system Final prediction discussion</vt:lpstr>
      <vt:lpstr>Future improvements Additional methods to improving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Adverse drug reactions in text</dc:title>
  <dc:creator>Nickson Quak</dc:creator>
  <cp:lastModifiedBy>Amanda Shan Rui Ho</cp:lastModifiedBy>
  <cp:revision>33</cp:revision>
  <dcterms:created xsi:type="dcterms:W3CDTF">2025-11-24T07:30:37Z</dcterms:created>
  <dcterms:modified xsi:type="dcterms:W3CDTF">2025-11-29T10:12:02Z</dcterms:modified>
</cp:coreProperties>
</file>